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ibaba Sans Bold" charset="1" panose="020B0803020203040204"/>
      <p:regular r:id="rId20"/>
    </p:embeddedFont>
    <p:embeddedFont>
      <p:font typeface="Anton" charset="1" panose="00000500000000000000"/>
      <p:regular r:id="rId21"/>
    </p:embeddedFont>
    <p:embeddedFont>
      <p:font typeface="Times New Roman MT Bold" charset="1" panose="02030802070405020303"/>
      <p:regular r:id="rId22"/>
    </p:embeddedFont>
    <p:embeddedFont>
      <p:font typeface="Impact" charset="1" panose="020B0806030902050204"/>
      <p:regular r:id="rId23"/>
    </p:embeddedFont>
    <p:embeddedFont>
      <p:font typeface="TT Norms Bold" charset="1" panose="02000803030000020004"/>
      <p:regular r:id="rId24"/>
    </p:embeddedFont>
    <p:embeddedFont>
      <p:font typeface="Expo Arabic Semi-Bold" charset="1" panose="00000700000000000000"/>
      <p:regular r:id="rId25"/>
    </p:embeddedFont>
    <p:embeddedFont>
      <p:font typeface="Alibaba Sans" charset="1" panose="020B0503020203040204"/>
      <p:regular r:id="rId26"/>
    </p:embeddedFont>
    <p:embeddedFont>
      <p:font typeface="Agrandir Bold" charset="1" panose="00000800000000000000"/>
      <p:regular r:id="rId27"/>
    </p:embeddedFont>
    <p:embeddedFont>
      <p:font typeface="Bricolage Grotesque Semi-Bold" charset="1" panose="020B0605040402000204"/>
      <p:regular r:id="rId28"/>
    </p:embeddedFont>
    <p:embeddedFont>
      <p:font typeface="Poppins Bold" charset="1" panose="00000800000000000000"/>
      <p:regular r:id="rId29"/>
    </p:embeddedFont>
    <p:embeddedFont>
      <p:font typeface="League Spartan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http://www.linkedin.com/in/shimaa-samyy" TargetMode="External" Type="http://schemas.openxmlformats.org/officeDocument/2006/relationships/hyperlink"/><Relationship Id="rId12" Target="../media/image15.png" Type="http://schemas.openxmlformats.org/officeDocument/2006/relationships/image"/><Relationship Id="rId13" Target="mailto:shimaasamy601@gmail.com" TargetMode="External" Type="http://schemas.openxmlformats.org/officeDocument/2006/relationships/hyperlink"/><Relationship Id="rId14" Target="https://github.com/janaa52" TargetMode="External" Type="http://schemas.openxmlformats.org/officeDocument/2006/relationships/hyperlink"/><Relationship Id="rId15" Target="https://www.linkedin.com/in/jana-el-naggar/" TargetMode="External" Type="http://schemas.openxmlformats.org/officeDocument/2006/relationships/hyperlink"/><Relationship Id="rId16" Target="mailto:jananaggar1@gmail.com" TargetMode="External" Type="http://schemas.openxmlformats.org/officeDocument/2006/relationships/hyperlink"/><Relationship Id="rId17" Target="https://github.com/mariamelbeltagy" TargetMode="External" Type="http://schemas.openxmlformats.org/officeDocument/2006/relationships/hyperlink"/><Relationship Id="rId18" Target="https://www.linkedin.com/in/mariam-hesham-hamed" TargetMode="External" Type="http://schemas.openxmlformats.org/officeDocument/2006/relationships/hyperlink"/><Relationship Id="rId19" Target="mailto:mariam.elbeltagy27@gmail.com" TargetMode="External" Type="http://schemas.openxmlformats.org/officeDocument/2006/relationships/hyperlink"/><Relationship Id="rId2" Target="../media/image7.png" Type="http://schemas.openxmlformats.org/officeDocument/2006/relationships/image"/><Relationship Id="rId20" Target="https://github.com/settings/profile" TargetMode="External" Type="http://schemas.openxmlformats.org/officeDocument/2006/relationships/hyperlink"/><Relationship Id="rId21" Target="https://www.linkedin.com/in/mariam-mowafy-5599082a0?utm_source=share_via&amp;utm_content=profile&amp;utm_medium=member_android" TargetMode="External" Type="http://schemas.openxmlformats.org/officeDocument/2006/relationships/hyperlink"/><Relationship Id="rId22" Target="mailto:mowafymariam34@gmail.com" TargetMode="External" Type="http://schemas.openxmlformats.org/officeDocument/2006/relationships/hyperlink"/><Relationship Id="rId23" Target="https://www.linkedin.com/in/fatma-ez-zahraa-ibrahim-0780a62b9/" TargetMode="External" Type="http://schemas.openxmlformats.org/officeDocument/2006/relationships/hyperlink"/><Relationship Id="rId24" Target="mailto:fatmaezzahraa514@gmail.com" TargetMode="External" Type="http://schemas.openxmlformats.org/officeDocument/2006/relationships/hyperlink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https://github.com/shimaasamy2004" TargetMode="External" Type="http://schemas.openxmlformats.org/officeDocument/2006/relationships/hyperlink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9.png" Type="http://schemas.openxmlformats.org/officeDocument/2006/relationships/image"/><Relationship Id="rId20" Target="../media/image32.svg" Type="http://schemas.openxmlformats.org/officeDocument/2006/relationships/image"/><Relationship Id="rId21" Target="../media/image7.png" Type="http://schemas.openxmlformats.org/officeDocument/2006/relationships/image"/><Relationship Id="rId22" Target="../media/image8.svg" Type="http://schemas.openxmlformats.org/officeDocument/2006/relationships/image"/><Relationship Id="rId3" Target="../media/image10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svg" Type="http://schemas.openxmlformats.org/officeDocument/2006/relationships/image"/><Relationship Id="rId15" Target="../media/image56.png" Type="http://schemas.openxmlformats.org/officeDocument/2006/relationships/image"/><Relationship Id="rId16" Target="../media/image57.sv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16.png" Type="http://schemas.openxmlformats.org/officeDocument/2006/relationships/image"/><Relationship Id="rId20" Target="../media/image61.svg" Type="http://schemas.openxmlformats.org/officeDocument/2006/relationships/image"/><Relationship Id="rId21" Target="../media/image62.png" Type="http://schemas.openxmlformats.org/officeDocument/2006/relationships/image"/><Relationship Id="rId22" Target="../media/image63.svg" Type="http://schemas.openxmlformats.org/officeDocument/2006/relationships/image"/><Relationship Id="rId3" Target="../media/image17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82.pn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66.pn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83.pn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66.pn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84.pn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66.pn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91.png" Type="http://schemas.openxmlformats.org/officeDocument/2006/relationships/image"/><Relationship Id="rId9" Target="../media/image9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svg" Type="http://schemas.openxmlformats.org/officeDocument/2006/relationships/image"/><Relationship Id="rId12" Target="../media/image93.png" Type="http://schemas.openxmlformats.org/officeDocument/2006/relationships/image"/><Relationship Id="rId13" Target="../media/image94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2" Target="../media/image98.png" Type="http://schemas.openxmlformats.org/officeDocument/2006/relationships/image"/><Relationship Id="rId3" Target="../media/image99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102.png" Type="http://schemas.openxmlformats.org/officeDocument/2006/relationships/image"/><Relationship Id="rId7" Target="../media/image103.svg" Type="http://schemas.openxmlformats.org/officeDocument/2006/relationships/image"/><Relationship Id="rId8" Target="../media/image104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69350" y="884160"/>
            <a:ext cx="13908419" cy="8402153"/>
            <a:chOff x="0" y="0"/>
            <a:chExt cx="575321" cy="347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42" y="0"/>
              <a:ext cx="558237" cy="347555"/>
            </a:xfrm>
            <a:custGeom>
              <a:avLst/>
              <a:gdLst/>
              <a:ahLst/>
              <a:cxnLst/>
              <a:rect r="r" b="b" t="t" l="l"/>
              <a:pathLst>
                <a:path h="347555" w="558237">
                  <a:moveTo>
                    <a:pt x="214697" y="0"/>
                  </a:moveTo>
                  <a:lnTo>
                    <a:pt x="546740" y="0"/>
                  </a:lnTo>
                  <a:cubicBezTo>
                    <a:pt x="550859" y="0"/>
                    <a:pt x="554663" y="2203"/>
                    <a:pt x="556712" y="5776"/>
                  </a:cubicBezTo>
                  <a:cubicBezTo>
                    <a:pt x="558762" y="9348"/>
                    <a:pt x="558744" y="13744"/>
                    <a:pt x="556665" y="17299"/>
                  </a:cubicBezTo>
                  <a:lnTo>
                    <a:pt x="373693" y="330256"/>
                  </a:lnTo>
                  <a:cubicBezTo>
                    <a:pt x="367430" y="340969"/>
                    <a:pt x="355951" y="347555"/>
                    <a:pt x="343540" y="347555"/>
                  </a:cubicBezTo>
                  <a:lnTo>
                    <a:pt x="11497" y="347555"/>
                  </a:lnTo>
                  <a:cubicBezTo>
                    <a:pt x="7378" y="347555"/>
                    <a:pt x="3574" y="345352"/>
                    <a:pt x="1525" y="341779"/>
                  </a:cubicBezTo>
                  <a:cubicBezTo>
                    <a:pt x="-525" y="338207"/>
                    <a:pt x="-507" y="333811"/>
                    <a:pt x="1572" y="330256"/>
                  </a:cubicBezTo>
                  <a:lnTo>
                    <a:pt x="184544" y="17299"/>
                  </a:lnTo>
                  <a:cubicBezTo>
                    <a:pt x="190808" y="6585"/>
                    <a:pt x="202286" y="0"/>
                    <a:pt x="214697" y="0"/>
                  </a:cubicBezTo>
                  <a:close/>
                </a:path>
              </a:pathLst>
            </a:custGeom>
            <a:solidFill>
              <a:srgbClr val="70334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372121" cy="38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69647" y="1749131"/>
            <a:ext cx="11867953" cy="7818014"/>
          </a:xfrm>
          <a:custGeom>
            <a:avLst/>
            <a:gdLst/>
            <a:ahLst/>
            <a:cxnLst/>
            <a:rect r="r" b="b" t="t" l="l"/>
            <a:pathLst>
              <a:path h="7818014" w="11867953">
                <a:moveTo>
                  <a:pt x="0" y="0"/>
                </a:moveTo>
                <a:lnTo>
                  <a:pt x="11867953" y="0"/>
                </a:lnTo>
                <a:lnTo>
                  <a:pt x="11867953" y="7818014"/>
                </a:lnTo>
                <a:lnTo>
                  <a:pt x="0" y="781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8874" y="5143500"/>
            <a:ext cx="8905126" cy="722117"/>
            <a:chOff x="0" y="0"/>
            <a:chExt cx="2196660" cy="1781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660" cy="178127"/>
            </a:xfrm>
            <a:custGeom>
              <a:avLst/>
              <a:gdLst/>
              <a:ahLst/>
              <a:cxnLst/>
              <a:rect r="r" b="b" t="t" l="l"/>
              <a:pathLst>
                <a:path h="178127" w="2196660">
                  <a:moveTo>
                    <a:pt x="0" y="0"/>
                  </a:moveTo>
                  <a:lnTo>
                    <a:pt x="2196660" y="0"/>
                  </a:lnTo>
                  <a:lnTo>
                    <a:pt x="2196660" y="178127"/>
                  </a:lnTo>
                  <a:lnTo>
                    <a:pt x="0" y="178127"/>
                  </a:lnTo>
                  <a:close/>
                </a:path>
              </a:pathLst>
            </a:custGeom>
            <a:solidFill>
              <a:srgbClr val="7033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6660" cy="21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70132" y="77981"/>
            <a:ext cx="1517136" cy="1392421"/>
          </a:xfrm>
          <a:custGeom>
            <a:avLst/>
            <a:gdLst/>
            <a:ahLst/>
            <a:cxnLst/>
            <a:rect r="r" b="b" t="t" l="l"/>
            <a:pathLst>
              <a:path h="1392421" w="1517136">
                <a:moveTo>
                  <a:pt x="0" y="0"/>
                </a:moveTo>
                <a:lnTo>
                  <a:pt x="1517136" y="0"/>
                </a:lnTo>
                <a:lnTo>
                  <a:pt x="1517136" y="1392421"/>
                </a:lnTo>
                <a:lnTo>
                  <a:pt x="0" y="139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5" r="-1158" b="-57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68120" y="-366019"/>
            <a:ext cx="1619880" cy="1394719"/>
          </a:xfrm>
          <a:custGeom>
            <a:avLst/>
            <a:gdLst/>
            <a:ahLst/>
            <a:cxnLst/>
            <a:rect r="r" b="b" t="t" l="l"/>
            <a:pathLst>
              <a:path h="1394719" w="1619880">
                <a:moveTo>
                  <a:pt x="0" y="0"/>
                </a:moveTo>
                <a:lnTo>
                  <a:pt x="1619880" y="0"/>
                </a:lnTo>
                <a:lnTo>
                  <a:pt x="1619880" y="1394719"/>
                </a:lnTo>
                <a:lnTo>
                  <a:pt x="0" y="139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071" r="0" b="-807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23559" y="9286313"/>
            <a:ext cx="2539445" cy="843093"/>
          </a:xfrm>
          <a:custGeom>
            <a:avLst/>
            <a:gdLst/>
            <a:ahLst/>
            <a:cxnLst/>
            <a:rect r="r" b="b" t="t" l="l"/>
            <a:pathLst>
              <a:path h="843093" w="2539445">
                <a:moveTo>
                  <a:pt x="0" y="0"/>
                </a:moveTo>
                <a:lnTo>
                  <a:pt x="2539445" y="0"/>
                </a:lnTo>
                <a:lnTo>
                  <a:pt x="2539445" y="843093"/>
                </a:lnTo>
                <a:lnTo>
                  <a:pt x="0" y="843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09" r="0" b="-4046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90822" y="890156"/>
            <a:ext cx="5020221" cy="24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b="true" sz="1466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Digital Egypt Pioneers Initiative - DEPI Round 4,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837" y="7593836"/>
            <a:ext cx="1950985" cy="60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749" b="true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TRACK: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Data Analytics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37" y="8583368"/>
            <a:ext cx="2890599" cy="55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 b="true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MAJOR: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595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Micr</a:t>
            </a:r>
            <a:r>
              <a:rPr lang="en-US" b="true" sz="1595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osoft Power BI Specialist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44384" y="7593836"/>
            <a:ext cx="3081723" cy="5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  <a:spcBef>
                <a:spcPct val="0"/>
              </a:spcBef>
            </a:pPr>
            <a:r>
              <a:rPr lang="en-US" b="true" sz="1574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PRESENTED B</a:t>
            </a:r>
            <a:r>
              <a:rPr lang="en-US" b="true" sz="1574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Y: </a:t>
            </a:r>
          </a:p>
          <a:p>
            <a:pPr algn="l">
              <a:lnSpc>
                <a:spcPts val="2204"/>
              </a:lnSpc>
              <a:spcBef>
                <a:spcPct val="0"/>
              </a:spcBef>
            </a:pPr>
            <a:r>
              <a:rPr lang="en-US" b="true" sz="1574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  CLS - CAI4 - DAT2 - S1 Team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54689" y="8719910"/>
            <a:ext cx="2000488" cy="56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PRESENTED</a:t>
            </a:r>
            <a:r>
              <a:rPr lang="en-US" b="true" sz="1700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TO: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DEPI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91293" y="8710385"/>
            <a:ext cx="2278057" cy="52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550" b="true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INSTRUCTOR: </a:t>
            </a:r>
          </a:p>
          <a:p>
            <a:pPr algn="ctr">
              <a:lnSpc>
                <a:spcPts val="2171"/>
              </a:lnSpc>
              <a:spcBef>
                <a:spcPct val="0"/>
              </a:spcBef>
            </a:pPr>
            <a:r>
              <a:rPr lang="en-US" b="true" sz="1550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Mahm</a:t>
            </a:r>
            <a:r>
              <a:rPr lang="en-US" b="true" sz="1550">
                <a:solidFill>
                  <a:srgbClr val="000000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oud Seraj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761073" y="2115888"/>
            <a:ext cx="10724011" cy="30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6"/>
              </a:lnSpc>
            </a:pPr>
            <a:r>
              <a:rPr lang="en-US" sz="8683">
                <a:gradFill>
                  <a:gsLst>
                    <a:gs pos="15000">
                      <a:srgbClr val="121521">
                        <a:alpha val="100000"/>
                      </a:srgbClr>
                    </a:gs>
                    <a:gs pos="40000">
                      <a:srgbClr val="38476B">
                        <a:alpha val="100000"/>
                      </a:srgbClr>
                    </a:gs>
                    <a:gs pos="60000">
                      <a:srgbClr val="B6192E">
                        <a:alpha val="100000"/>
                      </a:srgbClr>
                    </a:gs>
                    <a:gs pos="85000">
                      <a:srgbClr val="FFC1AC">
                        <a:alpha val="100000"/>
                      </a:srgbClr>
                    </a:gs>
                  </a:gsLst>
                  <a:lin ang="18900000"/>
                </a:gradFill>
                <a:latin typeface="Anton"/>
                <a:ea typeface="Anton"/>
                <a:cs typeface="Anton"/>
                <a:sym typeface="Anton"/>
              </a:rPr>
              <a:t>SWIFT HAUL</a:t>
            </a:r>
          </a:p>
          <a:p>
            <a:pPr algn="ctr">
              <a:lnSpc>
                <a:spcPts val="12156"/>
              </a:lnSpc>
              <a:spcBef>
                <a:spcPct val="0"/>
              </a:spcBef>
            </a:pPr>
            <a:r>
              <a:rPr lang="en-US" sz="8683">
                <a:gradFill>
                  <a:gsLst>
                    <a:gs pos="15000">
                      <a:srgbClr val="121521">
                        <a:alpha val="100000"/>
                      </a:srgbClr>
                    </a:gs>
                    <a:gs pos="40000">
                      <a:srgbClr val="38476B">
                        <a:alpha val="100000"/>
                      </a:srgbClr>
                    </a:gs>
                    <a:gs pos="60000">
                      <a:srgbClr val="B6192E">
                        <a:alpha val="100000"/>
                      </a:srgbClr>
                    </a:gs>
                    <a:gs pos="85000">
                      <a:srgbClr val="FFC1AC">
                        <a:alpha val="100000"/>
                      </a:srgbClr>
                    </a:gs>
                  </a:gsLst>
                  <a:lin ang="18900000"/>
                </a:gradFill>
                <a:latin typeface="Anton"/>
                <a:ea typeface="Anton"/>
                <a:cs typeface="Anton"/>
                <a:sym typeface="Anton"/>
              </a:rPr>
              <a:t>LOGISTICS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66653" y="5891254"/>
            <a:ext cx="9532189" cy="39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05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Transforming Raw Da</a:t>
            </a:r>
            <a:r>
              <a:rPr lang="en-US" b="true" sz="205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 to Bridge the Gap: Where Precision Leads to CSAT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38456" y="2389756"/>
            <a:ext cx="705784" cy="814366"/>
          </a:xfrm>
          <a:custGeom>
            <a:avLst/>
            <a:gdLst/>
            <a:ahLst/>
            <a:cxnLst/>
            <a:rect r="r" b="b" t="t" l="l"/>
            <a:pathLst>
              <a:path h="814366" w="705784">
                <a:moveTo>
                  <a:pt x="0" y="0"/>
                </a:moveTo>
                <a:lnTo>
                  <a:pt x="705783" y="0"/>
                </a:lnTo>
                <a:lnTo>
                  <a:pt x="705783" y="814366"/>
                </a:lnTo>
                <a:lnTo>
                  <a:pt x="0" y="814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280" y="493497"/>
            <a:ext cx="688945" cy="761940"/>
          </a:xfrm>
          <a:custGeom>
            <a:avLst/>
            <a:gdLst/>
            <a:ahLst/>
            <a:cxnLst/>
            <a:rect r="r" b="b" t="t" l="l"/>
            <a:pathLst>
              <a:path h="761940" w="688945">
                <a:moveTo>
                  <a:pt x="0" y="0"/>
                </a:moveTo>
                <a:lnTo>
                  <a:pt x="688945" y="0"/>
                </a:lnTo>
                <a:lnTo>
                  <a:pt x="688945" y="761940"/>
                </a:lnTo>
                <a:lnTo>
                  <a:pt x="0" y="761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76239" y="1784985"/>
            <a:ext cx="7918149" cy="79181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033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71441" y="-1832930"/>
            <a:ext cx="4116559" cy="41165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E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53853" y="-435662"/>
            <a:ext cx="1464362" cy="14643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D5B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9312" y="893517"/>
            <a:ext cx="4113987" cy="55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3777">
                <a:solidFill>
                  <a:srgbClr val="703342"/>
                </a:solidFill>
                <a:latin typeface="Impact"/>
                <a:ea typeface="Impact"/>
                <a:cs typeface="Impact"/>
                <a:sym typeface="Impact"/>
              </a:rPr>
              <a:t>WIFT HAUL COMPANY 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328032" y="-1114269"/>
            <a:ext cx="3700119" cy="3700119"/>
          </a:xfrm>
          <a:custGeom>
            <a:avLst/>
            <a:gdLst/>
            <a:ahLst/>
            <a:cxnLst/>
            <a:rect r="r" b="b" t="t" l="l"/>
            <a:pathLst>
              <a:path h="3700119" w="3700119">
                <a:moveTo>
                  <a:pt x="0" y="0"/>
                </a:moveTo>
                <a:lnTo>
                  <a:pt x="3700119" y="0"/>
                </a:lnTo>
                <a:lnTo>
                  <a:pt x="3700119" y="3700119"/>
                </a:lnTo>
                <a:lnTo>
                  <a:pt x="0" y="370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83324" y="2354259"/>
            <a:ext cx="6018996" cy="11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OUR TEAM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665994" y="7719747"/>
            <a:ext cx="3700119" cy="3700119"/>
          </a:xfrm>
          <a:custGeom>
            <a:avLst/>
            <a:gdLst/>
            <a:ahLst/>
            <a:cxnLst/>
            <a:rect r="r" b="b" t="t" l="l"/>
            <a:pathLst>
              <a:path h="3700119" w="3700119">
                <a:moveTo>
                  <a:pt x="0" y="0"/>
                </a:moveTo>
                <a:lnTo>
                  <a:pt x="3700118" y="0"/>
                </a:lnTo>
                <a:lnTo>
                  <a:pt x="3700118" y="3700119"/>
                </a:lnTo>
                <a:lnTo>
                  <a:pt x="0" y="370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>
            <a:hlinkClick r:id="rId8" tooltip="https://github.com/shimaasamy2004"/>
          </p:cNvPr>
          <p:cNvSpPr/>
          <p:nvPr/>
        </p:nvSpPr>
        <p:spPr>
          <a:xfrm flipH="false" flipV="false" rot="0">
            <a:off x="2849732" y="5182720"/>
            <a:ext cx="522354" cy="522354"/>
          </a:xfrm>
          <a:custGeom>
            <a:avLst/>
            <a:gdLst/>
            <a:ahLst/>
            <a:cxnLst/>
            <a:rect r="r" b="b" t="t" l="l"/>
            <a:pathLst>
              <a:path h="522354" w="522354">
                <a:moveTo>
                  <a:pt x="0" y="0"/>
                </a:moveTo>
                <a:lnTo>
                  <a:pt x="522355" y="0"/>
                </a:lnTo>
                <a:lnTo>
                  <a:pt x="522355" y="522355"/>
                </a:lnTo>
                <a:lnTo>
                  <a:pt x="0" y="522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>
            <a:hlinkClick r:id="rId11" tooltip="http://www.linkedin.com/in/shimaa-samyy"/>
          </p:cNvPr>
          <p:cNvSpPr/>
          <p:nvPr/>
        </p:nvSpPr>
        <p:spPr>
          <a:xfrm flipH="false" flipV="false" rot="0">
            <a:off x="3602643" y="5245482"/>
            <a:ext cx="511085" cy="435816"/>
          </a:xfrm>
          <a:custGeom>
            <a:avLst/>
            <a:gdLst/>
            <a:ahLst/>
            <a:cxnLst/>
            <a:rect r="r" b="b" t="t" l="l"/>
            <a:pathLst>
              <a:path h="435816" w="511085">
                <a:moveTo>
                  <a:pt x="0" y="0"/>
                </a:moveTo>
                <a:lnTo>
                  <a:pt x="511086" y="0"/>
                </a:lnTo>
                <a:lnTo>
                  <a:pt x="511086" y="435816"/>
                </a:lnTo>
                <a:lnTo>
                  <a:pt x="0" y="435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>
            <a:hlinkClick r:id="rId13" tooltip="mailto:shimaasamy601@gmail.com"/>
          </p:cNvPr>
          <p:cNvSpPr/>
          <p:nvPr/>
        </p:nvSpPr>
        <p:spPr>
          <a:xfrm flipH="false" flipV="false" rot="0">
            <a:off x="4344285" y="5264974"/>
            <a:ext cx="558202" cy="396831"/>
          </a:xfrm>
          <a:custGeom>
            <a:avLst/>
            <a:gdLst/>
            <a:ahLst/>
            <a:cxnLst/>
            <a:rect r="r" b="b" t="t" l="l"/>
            <a:pathLst>
              <a:path h="396831" w="558202">
                <a:moveTo>
                  <a:pt x="0" y="0"/>
                </a:moveTo>
                <a:lnTo>
                  <a:pt x="558203" y="0"/>
                </a:lnTo>
                <a:lnTo>
                  <a:pt x="558203" y="396832"/>
                </a:lnTo>
                <a:lnTo>
                  <a:pt x="0" y="3968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1910" y="4546351"/>
            <a:ext cx="323080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5"/>
              </a:lnSpc>
              <a:spcBef>
                <a:spcPct val="0"/>
              </a:spcBef>
            </a:pPr>
            <a:r>
              <a:rPr lang="en-US" b="true" sz="1500" spc="-5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Chemical Engineer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6220" y="4076217"/>
            <a:ext cx="3142182" cy="45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3484" spc="-12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Shimaa Samy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13197" y="4546351"/>
            <a:ext cx="323080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5"/>
              </a:lnSpc>
              <a:spcBef>
                <a:spcPct val="0"/>
              </a:spcBef>
            </a:pPr>
            <a:r>
              <a:rPr lang="en-US" b="true" sz="1500" spc="-5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Ai Engineer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57508" y="4076217"/>
            <a:ext cx="3142182" cy="45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3484" spc="-12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Jana Elnaggar </a:t>
            </a:r>
          </a:p>
        </p:txBody>
      </p:sp>
      <p:sp>
        <p:nvSpPr>
          <p:cNvPr name="Freeform 23" id="23">
            <a:hlinkClick r:id="rId14" tooltip="https://github.com/janaa52"/>
          </p:cNvPr>
          <p:cNvSpPr/>
          <p:nvPr/>
        </p:nvSpPr>
        <p:spPr>
          <a:xfrm flipH="false" flipV="false" rot="0">
            <a:off x="6347710" y="5158944"/>
            <a:ext cx="522354" cy="522354"/>
          </a:xfrm>
          <a:custGeom>
            <a:avLst/>
            <a:gdLst/>
            <a:ahLst/>
            <a:cxnLst/>
            <a:rect r="r" b="b" t="t" l="l"/>
            <a:pathLst>
              <a:path h="522354" w="522354">
                <a:moveTo>
                  <a:pt x="0" y="0"/>
                </a:moveTo>
                <a:lnTo>
                  <a:pt x="522354" y="0"/>
                </a:lnTo>
                <a:lnTo>
                  <a:pt x="522354" y="522354"/>
                </a:lnTo>
                <a:lnTo>
                  <a:pt x="0" y="522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>
            <a:hlinkClick r:id="rId15" tooltip="https://www.linkedin.com/in/jana-el-naggar/"/>
          </p:cNvPr>
          <p:cNvSpPr/>
          <p:nvPr/>
        </p:nvSpPr>
        <p:spPr>
          <a:xfrm flipH="false" flipV="false" rot="0">
            <a:off x="7100621" y="5221705"/>
            <a:ext cx="511085" cy="435816"/>
          </a:xfrm>
          <a:custGeom>
            <a:avLst/>
            <a:gdLst/>
            <a:ahLst/>
            <a:cxnLst/>
            <a:rect r="r" b="b" t="t" l="l"/>
            <a:pathLst>
              <a:path h="435816" w="511085">
                <a:moveTo>
                  <a:pt x="0" y="0"/>
                </a:moveTo>
                <a:lnTo>
                  <a:pt x="511085" y="0"/>
                </a:lnTo>
                <a:lnTo>
                  <a:pt x="511085" y="435817"/>
                </a:lnTo>
                <a:lnTo>
                  <a:pt x="0" y="435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>
            <a:hlinkClick r:id="rId16" tooltip="mailto:jananaggar1@gmail.com"/>
          </p:cNvPr>
          <p:cNvSpPr/>
          <p:nvPr/>
        </p:nvSpPr>
        <p:spPr>
          <a:xfrm flipH="false" flipV="false" rot="0">
            <a:off x="7842263" y="5241198"/>
            <a:ext cx="558202" cy="396831"/>
          </a:xfrm>
          <a:custGeom>
            <a:avLst/>
            <a:gdLst/>
            <a:ahLst/>
            <a:cxnLst/>
            <a:rect r="r" b="b" t="t" l="l"/>
            <a:pathLst>
              <a:path h="396831" w="558202">
                <a:moveTo>
                  <a:pt x="0" y="0"/>
                </a:moveTo>
                <a:lnTo>
                  <a:pt x="558202" y="0"/>
                </a:lnTo>
                <a:lnTo>
                  <a:pt x="558202" y="396831"/>
                </a:lnTo>
                <a:lnTo>
                  <a:pt x="0" y="396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>
            <a:hlinkClick r:id="rId17" tooltip="https://github.com/mariamelbeltagy"/>
          </p:cNvPr>
          <p:cNvSpPr/>
          <p:nvPr/>
        </p:nvSpPr>
        <p:spPr>
          <a:xfrm flipH="false" flipV="false" rot="0">
            <a:off x="10305465" y="5178436"/>
            <a:ext cx="522354" cy="522354"/>
          </a:xfrm>
          <a:custGeom>
            <a:avLst/>
            <a:gdLst/>
            <a:ahLst/>
            <a:cxnLst/>
            <a:rect r="r" b="b" t="t" l="l"/>
            <a:pathLst>
              <a:path h="522354" w="522354">
                <a:moveTo>
                  <a:pt x="0" y="0"/>
                </a:moveTo>
                <a:lnTo>
                  <a:pt x="522355" y="0"/>
                </a:lnTo>
                <a:lnTo>
                  <a:pt x="522355" y="522355"/>
                </a:lnTo>
                <a:lnTo>
                  <a:pt x="0" y="522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>
            <a:hlinkClick r:id="rId18" tooltip="https://www.linkedin.com/in/mariam-hesham-hamed"/>
          </p:cNvPr>
          <p:cNvSpPr/>
          <p:nvPr/>
        </p:nvSpPr>
        <p:spPr>
          <a:xfrm flipH="false" flipV="false" rot="0">
            <a:off x="11058376" y="5241198"/>
            <a:ext cx="511085" cy="435816"/>
          </a:xfrm>
          <a:custGeom>
            <a:avLst/>
            <a:gdLst/>
            <a:ahLst/>
            <a:cxnLst/>
            <a:rect r="r" b="b" t="t" l="l"/>
            <a:pathLst>
              <a:path h="435816" w="511085">
                <a:moveTo>
                  <a:pt x="0" y="0"/>
                </a:moveTo>
                <a:lnTo>
                  <a:pt x="511086" y="0"/>
                </a:lnTo>
                <a:lnTo>
                  <a:pt x="511086" y="435816"/>
                </a:lnTo>
                <a:lnTo>
                  <a:pt x="0" y="435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>
            <a:hlinkClick r:id="rId19" tooltip="mailto:mariam.elbeltagy27@gmail.com"/>
          </p:cNvPr>
          <p:cNvSpPr/>
          <p:nvPr/>
        </p:nvSpPr>
        <p:spPr>
          <a:xfrm flipH="false" flipV="false" rot="0">
            <a:off x="11800018" y="5260691"/>
            <a:ext cx="558202" cy="396831"/>
          </a:xfrm>
          <a:custGeom>
            <a:avLst/>
            <a:gdLst/>
            <a:ahLst/>
            <a:cxnLst/>
            <a:rect r="r" b="b" t="t" l="l"/>
            <a:pathLst>
              <a:path h="396831" w="558202">
                <a:moveTo>
                  <a:pt x="0" y="0"/>
                </a:moveTo>
                <a:lnTo>
                  <a:pt x="558203" y="0"/>
                </a:lnTo>
                <a:lnTo>
                  <a:pt x="558203" y="396831"/>
                </a:lnTo>
                <a:lnTo>
                  <a:pt x="0" y="396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>
            <a:hlinkClick r:id="rId20" tooltip="https://github.com/settings/profile"/>
          </p:cNvPr>
          <p:cNvSpPr/>
          <p:nvPr/>
        </p:nvSpPr>
        <p:spPr>
          <a:xfrm flipH="false" flipV="false" rot="0">
            <a:off x="14176965" y="5197929"/>
            <a:ext cx="522354" cy="522354"/>
          </a:xfrm>
          <a:custGeom>
            <a:avLst/>
            <a:gdLst/>
            <a:ahLst/>
            <a:cxnLst/>
            <a:rect r="r" b="b" t="t" l="l"/>
            <a:pathLst>
              <a:path h="522354" w="522354">
                <a:moveTo>
                  <a:pt x="0" y="0"/>
                </a:moveTo>
                <a:lnTo>
                  <a:pt x="522354" y="0"/>
                </a:lnTo>
                <a:lnTo>
                  <a:pt x="522354" y="522354"/>
                </a:lnTo>
                <a:lnTo>
                  <a:pt x="0" y="522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>
            <a:hlinkClick r:id="rId21" tooltip="https://www.linkedin.com/in/mariam-mowafy-5599082a0?utm_source=share_via&amp;utm_content=profile&amp;utm_medium=member_android"/>
          </p:cNvPr>
          <p:cNvSpPr/>
          <p:nvPr/>
        </p:nvSpPr>
        <p:spPr>
          <a:xfrm flipH="false" flipV="false" rot="0">
            <a:off x="14929876" y="5260691"/>
            <a:ext cx="511085" cy="435816"/>
          </a:xfrm>
          <a:custGeom>
            <a:avLst/>
            <a:gdLst/>
            <a:ahLst/>
            <a:cxnLst/>
            <a:rect r="r" b="b" t="t" l="l"/>
            <a:pathLst>
              <a:path h="435816" w="511085">
                <a:moveTo>
                  <a:pt x="0" y="0"/>
                </a:moveTo>
                <a:lnTo>
                  <a:pt x="511085" y="0"/>
                </a:lnTo>
                <a:lnTo>
                  <a:pt x="511085" y="435816"/>
                </a:lnTo>
                <a:lnTo>
                  <a:pt x="0" y="435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>
            <a:hlinkClick r:id="rId22" tooltip="mailto:mowafymariam34@gmail.com"/>
          </p:cNvPr>
          <p:cNvSpPr/>
          <p:nvPr/>
        </p:nvSpPr>
        <p:spPr>
          <a:xfrm flipH="false" flipV="false" rot="0">
            <a:off x="15671518" y="5280183"/>
            <a:ext cx="558202" cy="396831"/>
          </a:xfrm>
          <a:custGeom>
            <a:avLst/>
            <a:gdLst/>
            <a:ahLst/>
            <a:cxnLst/>
            <a:rect r="r" b="b" t="t" l="l"/>
            <a:pathLst>
              <a:path h="396831" w="558202">
                <a:moveTo>
                  <a:pt x="0" y="0"/>
                </a:moveTo>
                <a:lnTo>
                  <a:pt x="558202" y="0"/>
                </a:lnTo>
                <a:lnTo>
                  <a:pt x="558202" y="396831"/>
                </a:lnTo>
                <a:lnTo>
                  <a:pt x="0" y="396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745109" y="4546351"/>
            <a:ext cx="323080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5"/>
              </a:lnSpc>
              <a:spcBef>
                <a:spcPct val="0"/>
              </a:spcBef>
            </a:pPr>
            <a:r>
              <a:rPr lang="en-US" b="true" sz="1500" spc="-5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Financial  Analyst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42828" y="4076217"/>
            <a:ext cx="3540878" cy="45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3484" spc="-12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Mariam Hesham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21331" y="4076217"/>
            <a:ext cx="3142182" cy="45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3484" spc="-12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Mariam Mowafy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00327" y="6481841"/>
            <a:ext cx="3142182" cy="45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3484" spc="-12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Fatma Elzahraa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142116" y="7637493"/>
            <a:ext cx="522354" cy="522354"/>
          </a:xfrm>
          <a:custGeom>
            <a:avLst/>
            <a:gdLst/>
            <a:ahLst/>
            <a:cxnLst/>
            <a:rect r="r" b="b" t="t" l="l"/>
            <a:pathLst>
              <a:path h="522354" w="522354">
                <a:moveTo>
                  <a:pt x="0" y="0"/>
                </a:moveTo>
                <a:lnTo>
                  <a:pt x="522354" y="0"/>
                </a:lnTo>
                <a:lnTo>
                  <a:pt x="522354" y="522355"/>
                </a:lnTo>
                <a:lnTo>
                  <a:pt x="0" y="522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>
            <a:hlinkClick r:id="rId23" tooltip="https://www.linkedin.com/in/fatma-ez-zahraa-ibrahim-0780a62b9/"/>
          </p:cNvPr>
          <p:cNvSpPr/>
          <p:nvPr/>
        </p:nvSpPr>
        <p:spPr>
          <a:xfrm flipH="false" flipV="false" rot="0">
            <a:off x="8895027" y="7700255"/>
            <a:ext cx="511085" cy="435816"/>
          </a:xfrm>
          <a:custGeom>
            <a:avLst/>
            <a:gdLst/>
            <a:ahLst/>
            <a:cxnLst/>
            <a:rect r="r" b="b" t="t" l="l"/>
            <a:pathLst>
              <a:path h="435816" w="511085">
                <a:moveTo>
                  <a:pt x="0" y="0"/>
                </a:moveTo>
                <a:lnTo>
                  <a:pt x="511085" y="0"/>
                </a:lnTo>
                <a:lnTo>
                  <a:pt x="511085" y="435816"/>
                </a:lnTo>
                <a:lnTo>
                  <a:pt x="0" y="435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>
            <a:hlinkClick r:id="rId24" tooltip="mailto:fatmaezzahraa514@gmail.com"/>
          </p:cNvPr>
          <p:cNvSpPr/>
          <p:nvPr/>
        </p:nvSpPr>
        <p:spPr>
          <a:xfrm flipH="false" flipV="false" rot="0">
            <a:off x="9636669" y="7719747"/>
            <a:ext cx="558202" cy="396831"/>
          </a:xfrm>
          <a:custGeom>
            <a:avLst/>
            <a:gdLst/>
            <a:ahLst/>
            <a:cxnLst/>
            <a:rect r="r" b="b" t="t" l="l"/>
            <a:pathLst>
              <a:path h="396831" w="558202">
                <a:moveTo>
                  <a:pt x="0" y="0"/>
                </a:moveTo>
                <a:lnTo>
                  <a:pt x="558202" y="0"/>
                </a:lnTo>
                <a:lnTo>
                  <a:pt x="558202" y="396831"/>
                </a:lnTo>
                <a:lnTo>
                  <a:pt x="0" y="396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611706" y="6951974"/>
            <a:ext cx="323080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5"/>
              </a:lnSpc>
              <a:spcBef>
                <a:spcPct val="0"/>
              </a:spcBef>
            </a:pPr>
            <a:r>
              <a:rPr lang="en-US" b="true" sz="1500" spc="-5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Financial  Analyst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532710" y="4546351"/>
            <a:ext cx="323080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5"/>
              </a:lnSpc>
              <a:spcBef>
                <a:spcPct val="0"/>
              </a:spcBef>
            </a:pPr>
            <a:r>
              <a:rPr lang="en-US" b="true" sz="1500" spc="-5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Financial  Analyst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8032" y="-715746"/>
            <a:ext cx="3700119" cy="3700119"/>
          </a:xfrm>
          <a:custGeom>
            <a:avLst/>
            <a:gdLst/>
            <a:ahLst/>
            <a:cxnLst/>
            <a:rect r="r" b="b" t="t" l="l"/>
            <a:pathLst>
              <a:path h="3700119" w="3700119">
                <a:moveTo>
                  <a:pt x="0" y="0"/>
                </a:moveTo>
                <a:lnTo>
                  <a:pt x="3700119" y="0"/>
                </a:lnTo>
                <a:lnTo>
                  <a:pt x="3700119" y="3700119"/>
                </a:lnTo>
                <a:lnTo>
                  <a:pt x="0" y="370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5486">
            <a:off x="-4835491" y="6569927"/>
            <a:ext cx="13376036" cy="6069376"/>
          </a:xfrm>
          <a:custGeom>
            <a:avLst/>
            <a:gdLst/>
            <a:ahLst/>
            <a:cxnLst/>
            <a:rect r="r" b="b" t="t" l="l"/>
            <a:pathLst>
              <a:path h="6069376" w="13376036">
                <a:moveTo>
                  <a:pt x="0" y="0"/>
                </a:moveTo>
                <a:lnTo>
                  <a:pt x="13376036" y="0"/>
                </a:lnTo>
                <a:lnTo>
                  <a:pt x="13376036" y="6069376"/>
                </a:lnTo>
                <a:lnTo>
                  <a:pt x="0" y="6069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75272">
            <a:off x="11585814" y="1434204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2" y="0"/>
                </a:lnTo>
                <a:lnTo>
                  <a:pt x="13404372" y="6082233"/>
                </a:lnTo>
                <a:lnTo>
                  <a:pt x="0" y="6082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535742" y="523114"/>
            <a:ext cx="9133540" cy="1974085"/>
            <a:chOff x="0" y="0"/>
            <a:chExt cx="12178054" cy="26321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247249" y="0"/>
              <a:ext cx="7930804" cy="2329360"/>
              <a:chOff x="0" y="0"/>
              <a:chExt cx="1575999" cy="4628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30158" y="0"/>
                    </a:moveTo>
                    <a:lnTo>
                      <a:pt x="1445842" y="0"/>
                    </a:lnTo>
                    <a:cubicBezTo>
                      <a:pt x="1480362" y="0"/>
                      <a:pt x="1513468" y="13713"/>
                      <a:pt x="1537877" y="38122"/>
                    </a:cubicBezTo>
                    <a:cubicBezTo>
                      <a:pt x="1562286" y="62532"/>
                      <a:pt x="1575999" y="95638"/>
                      <a:pt x="1575999" y="130158"/>
                    </a:cubicBezTo>
                    <a:lnTo>
                      <a:pt x="1575999" y="332730"/>
                    </a:lnTo>
                    <a:cubicBezTo>
                      <a:pt x="1575999" y="367250"/>
                      <a:pt x="1562286" y="400356"/>
                      <a:pt x="1537877" y="424765"/>
                    </a:cubicBezTo>
                    <a:cubicBezTo>
                      <a:pt x="1513468" y="449174"/>
                      <a:pt x="1480362" y="462887"/>
                      <a:pt x="1445842" y="462887"/>
                    </a:cubicBezTo>
                    <a:lnTo>
                      <a:pt x="130158" y="462887"/>
                    </a:lnTo>
                    <a:cubicBezTo>
                      <a:pt x="58274" y="462887"/>
                      <a:pt x="0" y="404614"/>
                      <a:pt x="0" y="332730"/>
                    </a:cubicBezTo>
                    <a:lnTo>
                      <a:pt x="0" y="130158"/>
                    </a:lnTo>
                    <a:cubicBezTo>
                      <a:pt x="0" y="95638"/>
                      <a:pt x="13713" y="62532"/>
                      <a:pt x="38122" y="38122"/>
                    </a:cubicBezTo>
                    <a:cubicBezTo>
                      <a:pt x="62532" y="13713"/>
                      <a:pt x="95638" y="0"/>
                      <a:pt x="130158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496" lIns="50496" bIns="50496" rIns="5049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>
              <a:off x="0" y="1164680"/>
              <a:ext cx="4247249" cy="1442033"/>
            </a:xfrm>
            <a:custGeom>
              <a:avLst/>
              <a:gdLst/>
              <a:ahLst/>
              <a:cxnLst/>
              <a:rect r="r" b="b" t="t" l="l"/>
              <a:pathLst>
                <a:path h="1442033" w="4247249">
                  <a:moveTo>
                    <a:pt x="0" y="1442033"/>
                  </a:moveTo>
                  <a:lnTo>
                    <a:pt x="196459" y="1442033"/>
                  </a:lnTo>
                  <a:cubicBezTo>
                    <a:pt x="304960" y="1442033"/>
                    <a:pt x="392918" y="1354076"/>
                    <a:pt x="392918" y="1245575"/>
                  </a:cubicBezTo>
                  <a:lnTo>
                    <a:pt x="392918" y="304800"/>
                  </a:lnTo>
                  <a:cubicBezTo>
                    <a:pt x="392918" y="136464"/>
                    <a:pt x="529381" y="0"/>
                    <a:pt x="697718" y="0"/>
                  </a:cubicBezTo>
                  <a:lnTo>
                    <a:pt x="4247249" y="0"/>
                  </a:lnTo>
                </a:path>
              </a:pathLst>
            </a:cu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443006" y="235368"/>
              <a:ext cx="2093991" cy="2093991"/>
            </a:xfrm>
            <a:custGeom>
              <a:avLst/>
              <a:gdLst/>
              <a:ahLst/>
              <a:cxnLst/>
              <a:rect r="r" b="b" t="t" l="l"/>
              <a:pathLst>
                <a:path h="2093991" w="2093991">
                  <a:moveTo>
                    <a:pt x="0" y="0"/>
                  </a:moveTo>
                  <a:lnTo>
                    <a:pt x="2093991" y="0"/>
                  </a:lnTo>
                  <a:lnTo>
                    <a:pt x="2093991" y="2093992"/>
                  </a:lnTo>
                  <a:lnTo>
                    <a:pt x="0" y="2093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952945" y="787933"/>
              <a:ext cx="807941" cy="807941"/>
            </a:xfrm>
            <a:custGeom>
              <a:avLst/>
              <a:gdLst/>
              <a:ahLst/>
              <a:cxnLst/>
              <a:rect r="r" b="b" t="t" l="l"/>
              <a:pathLst>
                <a:path h="807941" w="807941">
                  <a:moveTo>
                    <a:pt x="0" y="0"/>
                  </a:moveTo>
                  <a:lnTo>
                    <a:pt x="807942" y="0"/>
                  </a:lnTo>
                  <a:lnTo>
                    <a:pt x="807942" y="807941"/>
                  </a:lnTo>
                  <a:lnTo>
                    <a:pt x="0" y="807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6755382" y="423088"/>
              <a:ext cx="4136937" cy="384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04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755382" y="986488"/>
              <a:ext cx="4136937" cy="325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08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169910" y="899033"/>
              <a:ext cx="5536190" cy="507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b="true" sz="2882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PROJECT OVERVIEW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08371" y="1902673"/>
            <a:ext cx="9080818" cy="1757526"/>
            <a:chOff x="0" y="0"/>
            <a:chExt cx="12107758" cy="2343367"/>
          </a:xfrm>
        </p:grpSpPr>
        <p:sp>
          <p:nvSpPr>
            <p:cNvPr name="Freeform 16" id="16"/>
            <p:cNvSpPr/>
            <p:nvPr/>
          </p:nvSpPr>
          <p:spPr>
            <a:xfrm>
              <a:off x="2231847" y="1197084"/>
              <a:ext cx="2231847" cy="0"/>
            </a:xfrm>
            <a:custGeom>
              <a:avLst/>
              <a:gdLst/>
              <a:ahLst/>
              <a:cxnLst/>
              <a:rect r="r" b="b" t="t" l="l"/>
              <a:pathLst>
                <a:path h="0" w="2231847">
                  <a:moveTo>
                    <a:pt x="0" y="0"/>
                  </a:moveTo>
                  <a:lnTo>
                    <a:pt x="2231848" y="0"/>
                  </a:lnTo>
                </a:path>
              </a:pathLst>
            </a:cu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4129261" y="0"/>
              <a:ext cx="7978496" cy="2343367"/>
              <a:chOff x="0" y="0"/>
              <a:chExt cx="1575999" cy="46288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29380" y="0"/>
                    </a:moveTo>
                    <a:lnTo>
                      <a:pt x="1446620" y="0"/>
                    </a:lnTo>
                    <a:cubicBezTo>
                      <a:pt x="1480933" y="0"/>
                      <a:pt x="1513842" y="13631"/>
                      <a:pt x="1538105" y="37894"/>
                    </a:cubicBezTo>
                    <a:cubicBezTo>
                      <a:pt x="1562368" y="62158"/>
                      <a:pt x="1575999" y="95066"/>
                      <a:pt x="1575999" y="129380"/>
                    </a:cubicBezTo>
                    <a:lnTo>
                      <a:pt x="1575999" y="333508"/>
                    </a:lnTo>
                    <a:cubicBezTo>
                      <a:pt x="1575999" y="404962"/>
                      <a:pt x="1518074" y="462887"/>
                      <a:pt x="1446620" y="462887"/>
                    </a:cubicBezTo>
                    <a:lnTo>
                      <a:pt x="129380" y="462887"/>
                    </a:lnTo>
                    <a:cubicBezTo>
                      <a:pt x="57925" y="462887"/>
                      <a:pt x="0" y="404962"/>
                      <a:pt x="0" y="333508"/>
                    </a:cubicBezTo>
                    <a:lnTo>
                      <a:pt x="0" y="129380"/>
                    </a:lnTo>
                    <a:cubicBezTo>
                      <a:pt x="0" y="57925"/>
                      <a:pt x="57925" y="0"/>
                      <a:pt x="129380" y="0"/>
                    </a:cubicBezTo>
                    <a:close/>
                  </a:path>
                </a:pathLst>
              </a:custGeom>
              <a:solidFill>
                <a:srgbClr val="71001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4326195" y="236784"/>
              <a:ext cx="2106584" cy="2106584"/>
            </a:xfrm>
            <a:custGeom>
              <a:avLst/>
              <a:gdLst/>
              <a:ahLst/>
              <a:cxnLst/>
              <a:rect r="r" b="b" t="t" l="l"/>
              <a:pathLst>
                <a:path h="2106584" w="2106584">
                  <a:moveTo>
                    <a:pt x="0" y="0"/>
                  </a:moveTo>
                  <a:lnTo>
                    <a:pt x="2106584" y="0"/>
                  </a:lnTo>
                  <a:lnTo>
                    <a:pt x="2106584" y="2106583"/>
                  </a:lnTo>
                  <a:lnTo>
                    <a:pt x="0" y="2106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805886" y="692384"/>
              <a:ext cx="958599" cy="958599"/>
            </a:xfrm>
            <a:custGeom>
              <a:avLst/>
              <a:gdLst/>
              <a:ahLst/>
              <a:cxnLst/>
              <a:rect r="r" b="b" t="t" l="l"/>
              <a:pathLst>
                <a:path h="958599" w="958599">
                  <a:moveTo>
                    <a:pt x="0" y="0"/>
                  </a:moveTo>
                  <a:lnTo>
                    <a:pt x="958599" y="0"/>
                  </a:lnTo>
                  <a:lnTo>
                    <a:pt x="958599" y="958599"/>
                  </a:lnTo>
                  <a:lnTo>
                    <a:pt x="0" y="95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106677" y="935065"/>
              <a:ext cx="5536190" cy="507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b="true" sz="2882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ROADMAP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50278" y="3291758"/>
            <a:ext cx="8550407" cy="1757526"/>
            <a:chOff x="0" y="0"/>
            <a:chExt cx="11400542" cy="2343367"/>
          </a:xfrm>
        </p:grpSpPr>
        <p:sp>
          <p:nvSpPr>
            <p:cNvPr name="AutoShape 24" id="24"/>
            <p:cNvSpPr/>
            <p:nvPr/>
          </p:nvSpPr>
          <p:spPr>
            <a:xfrm>
              <a:off x="0" y="1222484"/>
              <a:ext cx="3875013" cy="0"/>
            </a:xfrm>
            <a:prstGeom prst="line">
              <a:avLst/>
            </a:pr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3422046" y="0"/>
              <a:ext cx="7978496" cy="2343367"/>
              <a:chOff x="0" y="0"/>
              <a:chExt cx="1575999" cy="46288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29380" y="0"/>
                    </a:moveTo>
                    <a:lnTo>
                      <a:pt x="1446620" y="0"/>
                    </a:lnTo>
                    <a:cubicBezTo>
                      <a:pt x="1480933" y="0"/>
                      <a:pt x="1513842" y="13631"/>
                      <a:pt x="1538105" y="37894"/>
                    </a:cubicBezTo>
                    <a:cubicBezTo>
                      <a:pt x="1562368" y="62158"/>
                      <a:pt x="1575999" y="95066"/>
                      <a:pt x="1575999" y="129380"/>
                    </a:cubicBezTo>
                    <a:lnTo>
                      <a:pt x="1575999" y="333508"/>
                    </a:lnTo>
                    <a:cubicBezTo>
                      <a:pt x="1575999" y="404962"/>
                      <a:pt x="1518074" y="462887"/>
                      <a:pt x="1446620" y="462887"/>
                    </a:cubicBezTo>
                    <a:lnTo>
                      <a:pt x="129380" y="462887"/>
                    </a:lnTo>
                    <a:cubicBezTo>
                      <a:pt x="57925" y="462887"/>
                      <a:pt x="0" y="404962"/>
                      <a:pt x="0" y="333508"/>
                    </a:cubicBezTo>
                    <a:lnTo>
                      <a:pt x="0" y="129380"/>
                    </a:lnTo>
                    <a:cubicBezTo>
                      <a:pt x="0" y="57925"/>
                      <a:pt x="57925" y="0"/>
                      <a:pt x="129380" y="0"/>
                    </a:cubicBezTo>
                    <a:close/>
                  </a:path>
                </a:pathLst>
              </a:custGeom>
              <a:solidFill>
                <a:srgbClr val="A5356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3618979" y="236784"/>
              <a:ext cx="2106584" cy="2106584"/>
            </a:xfrm>
            <a:custGeom>
              <a:avLst/>
              <a:gdLst/>
              <a:ahLst/>
              <a:cxnLst/>
              <a:rect r="r" b="b" t="t" l="l"/>
              <a:pathLst>
                <a:path h="2106584" w="2106584">
                  <a:moveTo>
                    <a:pt x="0" y="0"/>
                  </a:moveTo>
                  <a:lnTo>
                    <a:pt x="2106584" y="0"/>
                  </a:lnTo>
                  <a:lnTo>
                    <a:pt x="2106584" y="2106583"/>
                  </a:lnTo>
                  <a:lnTo>
                    <a:pt x="0" y="2106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078213" y="765284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191936" y="629039"/>
              <a:ext cx="5536190" cy="949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b="true" sz="2882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DATA &amp; METHODOLOGY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70663" y="4628764"/>
            <a:ext cx="9207399" cy="1757526"/>
            <a:chOff x="0" y="0"/>
            <a:chExt cx="12276533" cy="2343367"/>
          </a:xfrm>
        </p:grpSpPr>
        <p:sp>
          <p:nvSpPr>
            <p:cNvPr name="AutoShape 32" id="32"/>
            <p:cNvSpPr/>
            <p:nvPr/>
          </p:nvSpPr>
          <p:spPr>
            <a:xfrm flipV="true">
              <a:off x="347" y="1171684"/>
              <a:ext cx="4314862" cy="58878"/>
            </a:xfrm>
            <a:prstGeom prst="line">
              <a:avLst/>
            </a:pr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3" id="33"/>
            <p:cNvGrpSpPr/>
            <p:nvPr/>
          </p:nvGrpSpPr>
          <p:grpSpPr>
            <a:xfrm rot="0">
              <a:off x="4298036" y="0"/>
              <a:ext cx="7978496" cy="2343367"/>
              <a:chOff x="0" y="0"/>
              <a:chExt cx="1575999" cy="46288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29380" y="0"/>
                    </a:moveTo>
                    <a:lnTo>
                      <a:pt x="1446620" y="0"/>
                    </a:lnTo>
                    <a:cubicBezTo>
                      <a:pt x="1480933" y="0"/>
                      <a:pt x="1513842" y="13631"/>
                      <a:pt x="1538105" y="37894"/>
                    </a:cubicBezTo>
                    <a:cubicBezTo>
                      <a:pt x="1562368" y="62158"/>
                      <a:pt x="1575999" y="95066"/>
                      <a:pt x="1575999" y="129380"/>
                    </a:cubicBezTo>
                    <a:lnTo>
                      <a:pt x="1575999" y="333508"/>
                    </a:lnTo>
                    <a:cubicBezTo>
                      <a:pt x="1575999" y="404962"/>
                      <a:pt x="1518074" y="462887"/>
                      <a:pt x="1446620" y="462887"/>
                    </a:cubicBezTo>
                    <a:lnTo>
                      <a:pt x="129380" y="462887"/>
                    </a:lnTo>
                    <a:cubicBezTo>
                      <a:pt x="57925" y="462887"/>
                      <a:pt x="0" y="404962"/>
                      <a:pt x="0" y="333508"/>
                    </a:cubicBezTo>
                    <a:lnTo>
                      <a:pt x="0" y="129380"/>
                    </a:lnTo>
                    <a:cubicBezTo>
                      <a:pt x="0" y="57925"/>
                      <a:pt x="57925" y="0"/>
                      <a:pt x="129380" y="0"/>
                    </a:cubicBezTo>
                    <a:close/>
                  </a:path>
                </a:pathLst>
              </a:custGeom>
              <a:solidFill>
                <a:srgbClr val="DB6B8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4494970" y="236784"/>
              <a:ext cx="2106584" cy="2106584"/>
            </a:xfrm>
            <a:custGeom>
              <a:avLst/>
              <a:gdLst/>
              <a:ahLst/>
              <a:cxnLst/>
              <a:rect r="r" b="b" t="t" l="l"/>
              <a:pathLst>
                <a:path h="2106584" w="2106584">
                  <a:moveTo>
                    <a:pt x="0" y="0"/>
                  </a:moveTo>
                  <a:lnTo>
                    <a:pt x="2106583" y="0"/>
                  </a:lnTo>
                  <a:lnTo>
                    <a:pt x="2106583" y="2106583"/>
                  </a:lnTo>
                  <a:lnTo>
                    <a:pt x="0" y="2106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891444" y="624192"/>
              <a:ext cx="1118991" cy="1118991"/>
            </a:xfrm>
            <a:custGeom>
              <a:avLst/>
              <a:gdLst/>
              <a:ahLst/>
              <a:cxnLst/>
              <a:rect r="r" b="b" t="t" l="l"/>
              <a:pathLst>
                <a:path h="1118991" w="1118991">
                  <a:moveTo>
                    <a:pt x="0" y="0"/>
                  </a:moveTo>
                  <a:lnTo>
                    <a:pt x="1118992" y="0"/>
                  </a:lnTo>
                  <a:lnTo>
                    <a:pt x="1118992" y="1118992"/>
                  </a:lnTo>
                  <a:lnTo>
                    <a:pt x="0" y="111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6391715" y="794139"/>
              <a:ext cx="5536190" cy="949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b="true" sz="2882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KEY PERFORMANCE INDICATOR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69431" y="6174277"/>
            <a:ext cx="10230966" cy="1757526"/>
            <a:chOff x="0" y="0"/>
            <a:chExt cx="13641288" cy="2343367"/>
          </a:xfrm>
        </p:grpSpPr>
        <p:sp>
          <p:nvSpPr>
            <p:cNvPr name="AutoShape 40" id="40"/>
            <p:cNvSpPr/>
            <p:nvPr/>
          </p:nvSpPr>
          <p:spPr>
            <a:xfrm>
              <a:off x="0" y="1171684"/>
              <a:ext cx="5662791" cy="0"/>
            </a:xfrm>
            <a:prstGeom prst="line">
              <a:avLst/>
            </a:pr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1" id="41"/>
            <p:cNvGrpSpPr/>
            <p:nvPr/>
          </p:nvGrpSpPr>
          <p:grpSpPr>
            <a:xfrm rot="0">
              <a:off x="5662791" y="0"/>
              <a:ext cx="7978496" cy="2343367"/>
              <a:chOff x="0" y="0"/>
              <a:chExt cx="1575999" cy="46288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29380" y="0"/>
                    </a:moveTo>
                    <a:lnTo>
                      <a:pt x="1446620" y="0"/>
                    </a:lnTo>
                    <a:cubicBezTo>
                      <a:pt x="1480933" y="0"/>
                      <a:pt x="1513842" y="13631"/>
                      <a:pt x="1538105" y="37894"/>
                    </a:cubicBezTo>
                    <a:cubicBezTo>
                      <a:pt x="1562368" y="62158"/>
                      <a:pt x="1575999" y="95066"/>
                      <a:pt x="1575999" y="129380"/>
                    </a:cubicBezTo>
                    <a:lnTo>
                      <a:pt x="1575999" y="333508"/>
                    </a:lnTo>
                    <a:cubicBezTo>
                      <a:pt x="1575999" y="404962"/>
                      <a:pt x="1518074" y="462887"/>
                      <a:pt x="1446620" y="462887"/>
                    </a:cubicBezTo>
                    <a:lnTo>
                      <a:pt x="129380" y="462887"/>
                    </a:lnTo>
                    <a:cubicBezTo>
                      <a:pt x="57925" y="462887"/>
                      <a:pt x="0" y="404962"/>
                      <a:pt x="0" y="333508"/>
                    </a:cubicBezTo>
                    <a:lnTo>
                      <a:pt x="0" y="129380"/>
                    </a:lnTo>
                    <a:cubicBezTo>
                      <a:pt x="0" y="57925"/>
                      <a:pt x="57925" y="0"/>
                      <a:pt x="129380" y="0"/>
                    </a:cubicBezTo>
                    <a:close/>
                  </a:path>
                </a:pathLst>
              </a:custGeom>
              <a:solidFill>
                <a:srgbClr val="DEADA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5859725" y="236784"/>
              <a:ext cx="2106584" cy="2106584"/>
            </a:xfrm>
            <a:custGeom>
              <a:avLst/>
              <a:gdLst/>
              <a:ahLst/>
              <a:cxnLst/>
              <a:rect r="r" b="b" t="t" l="l"/>
              <a:pathLst>
                <a:path h="2106584" w="2106584">
                  <a:moveTo>
                    <a:pt x="0" y="0"/>
                  </a:moveTo>
                  <a:lnTo>
                    <a:pt x="2106583" y="0"/>
                  </a:lnTo>
                  <a:lnTo>
                    <a:pt x="2106583" y="2106583"/>
                  </a:lnTo>
                  <a:lnTo>
                    <a:pt x="0" y="2106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233853" y="714484"/>
              <a:ext cx="1016738" cy="1016738"/>
            </a:xfrm>
            <a:custGeom>
              <a:avLst/>
              <a:gdLst/>
              <a:ahLst/>
              <a:cxnLst/>
              <a:rect r="r" b="b" t="t" l="l"/>
              <a:pathLst>
                <a:path h="1016738" w="1016738">
                  <a:moveTo>
                    <a:pt x="0" y="0"/>
                  </a:moveTo>
                  <a:lnTo>
                    <a:pt x="1016738" y="0"/>
                  </a:lnTo>
                  <a:lnTo>
                    <a:pt x="1016738" y="1016738"/>
                  </a:lnTo>
                  <a:lnTo>
                    <a:pt x="0" y="1016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7747844" y="841484"/>
              <a:ext cx="5536190" cy="949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b="true" sz="2882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DASHBOARD ANALYSIS &amp; INSIGHTS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865" y="2239381"/>
            <a:ext cx="7507002" cy="7507002"/>
            <a:chOff x="0" y="0"/>
            <a:chExt cx="10009336" cy="10009336"/>
          </a:xfrm>
        </p:grpSpPr>
        <p:pic>
          <p:nvPicPr>
            <p:cNvPr name="Picture 48" id="48"/>
            <p:cNvPicPr>
              <a:picLocks noChangeAspect="true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0">
              <a:off x="-1000934" y="-1000934"/>
              <a:ext cx="12011203" cy="12011203"/>
            </a:xfrm>
            <a:prstGeom prst="rect">
              <a:avLst/>
            </a:prstGeom>
          </p:spPr>
        </p:pic>
        <p:sp>
          <p:nvSpPr>
            <p:cNvPr name="Freeform 49" id="49"/>
            <p:cNvSpPr/>
            <p:nvPr/>
          </p:nvSpPr>
          <p:spPr>
            <a:xfrm flipH="false" flipV="false" rot="0">
              <a:off x="1302689" y="1267364"/>
              <a:ext cx="8091194" cy="8091194"/>
            </a:xfrm>
            <a:custGeom>
              <a:avLst/>
              <a:gdLst/>
              <a:ahLst/>
              <a:cxnLst/>
              <a:rect r="r" b="b" t="t" l="l"/>
              <a:pathLst>
                <a:path h="8091194" w="8091194">
                  <a:moveTo>
                    <a:pt x="0" y="0"/>
                  </a:moveTo>
                  <a:lnTo>
                    <a:pt x="8091194" y="0"/>
                  </a:lnTo>
                  <a:lnTo>
                    <a:pt x="8091194" y="8091195"/>
                  </a:lnTo>
                  <a:lnTo>
                    <a:pt x="0" y="8091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2540824" y="3824933"/>
              <a:ext cx="4930516" cy="2171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785"/>
                </a:lnSpc>
              </a:pPr>
              <a:r>
                <a:rPr lang="en-US" sz="9847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Agenda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23889" y="7757459"/>
            <a:ext cx="11910158" cy="1757526"/>
            <a:chOff x="0" y="0"/>
            <a:chExt cx="15880210" cy="2343367"/>
          </a:xfrm>
        </p:grpSpPr>
        <p:sp>
          <p:nvSpPr>
            <p:cNvPr name="AutoShape 52" id="52"/>
            <p:cNvSpPr/>
            <p:nvPr/>
          </p:nvSpPr>
          <p:spPr>
            <a:xfrm>
              <a:off x="0" y="1171684"/>
              <a:ext cx="7901714" cy="0"/>
            </a:xfrm>
            <a:prstGeom prst="line">
              <a:avLst/>
            </a:prstGeom>
            <a:ln cap="flat" w="50800">
              <a:solidFill>
                <a:srgbClr val="70334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3" id="53"/>
            <p:cNvGrpSpPr/>
            <p:nvPr/>
          </p:nvGrpSpPr>
          <p:grpSpPr>
            <a:xfrm rot="0">
              <a:off x="7901714" y="0"/>
              <a:ext cx="7978496" cy="2343367"/>
              <a:chOff x="0" y="0"/>
              <a:chExt cx="1575999" cy="46288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575999" cy="462887"/>
              </a:xfrm>
              <a:custGeom>
                <a:avLst/>
                <a:gdLst/>
                <a:ahLst/>
                <a:cxnLst/>
                <a:rect r="r" b="b" t="t" l="l"/>
                <a:pathLst>
                  <a:path h="462887" w="1575999">
                    <a:moveTo>
                      <a:pt x="129380" y="0"/>
                    </a:moveTo>
                    <a:lnTo>
                      <a:pt x="1446620" y="0"/>
                    </a:lnTo>
                    <a:cubicBezTo>
                      <a:pt x="1480933" y="0"/>
                      <a:pt x="1513842" y="13631"/>
                      <a:pt x="1538105" y="37894"/>
                    </a:cubicBezTo>
                    <a:cubicBezTo>
                      <a:pt x="1562368" y="62158"/>
                      <a:pt x="1575999" y="95066"/>
                      <a:pt x="1575999" y="129380"/>
                    </a:cubicBezTo>
                    <a:lnTo>
                      <a:pt x="1575999" y="333508"/>
                    </a:lnTo>
                    <a:cubicBezTo>
                      <a:pt x="1575999" y="404962"/>
                      <a:pt x="1518074" y="462887"/>
                      <a:pt x="1446620" y="462887"/>
                    </a:cubicBezTo>
                    <a:lnTo>
                      <a:pt x="129380" y="462887"/>
                    </a:lnTo>
                    <a:cubicBezTo>
                      <a:pt x="57925" y="462887"/>
                      <a:pt x="0" y="404962"/>
                      <a:pt x="0" y="333508"/>
                    </a:cubicBezTo>
                    <a:lnTo>
                      <a:pt x="0" y="129380"/>
                    </a:lnTo>
                    <a:cubicBezTo>
                      <a:pt x="0" y="57925"/>
                      <a:pt x="57925" y="0"/>
                      <a:pt x="129380" y="0"/>
                    </a:cubicBezTo>
                    <a:close/>
                  </a:path>
                </a:pathLst>
              </a:custGeom>
              <a:solidFill>
                <a:srgbClr val="AB819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1575999" cy="491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8098648" y="236784"/>
              <a:ext cx="2106584" cy="2106584"/>
            </a:xfrm>
            <a:custGeom>
              <a:avLst/>
              <a:gdLst/>
              <a:ahLst/>
              <a:cxnLst/>
              <a:rect r="r" b="b" t="t" l="l"/>
              <a:pathLst>
                <a:path h="2106584" w="2106584">
                  <a:moveTo>
                    <a:pt x="0" y="0"/>
                  </a:moveTo>
                  <a:lnTo>
                    <a:pt x="2106583" y="0"/>
                  </a:lnTo>
                  <a:lnTo>
                    <a:pt x="2106583" y="2106583"/>
                  </a:lnTo>
                  <a:lnTo>
                    <a:pt x="0" y="2106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8600214" y="765284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9771883" y="1235758"/>
              <a:ext cx="5569482" cy="51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b="true" sz="2900">
                  <a:solidFill>
                    <a:srgbClr val="FEFEFF"/>
                  </a:solidFill>
                  <a:latin typeface="Expo Arabic Semi-Bold"/>
                  <a:ea typeface="Expo Arabic Semi-Bold"/>
                  <a:cs typeface="Expo Arabic Semi-Bold"/>
                  <a:sym typeface="Expo Arabic Semi-Bold"/>
                </a:rPr>
                <a:t>RECOMMENDATIONS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339755" y="493497"/>
            <a:ext cx="688945" cy="761940"/>
          </a:xfrm>
          <a:custGeom>
            <a:avLst/>
            <a:gdLst/>
            <a:ahLst/>
            <a:cxnLst/>
            <a:rect r="r" b="b" t="t" l="l"/>
            <a:pathLst>
              <a:path h="761940" w="688945">
                <a:moveTo>
                  <a:pt x="0" y="0"/>
                </a:moveTo>
                <a:lnTo>
                  <a:pt x="688945" y="0"/>
                </a:lnTo>
                <a:lnTo>
                  <a:pt x="688945" y="761940"/>
                </a:lnTo>
                <a:lnTo>
                  <a:pt x="0" y="76194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909787" y="893517"/>
            <a:ext cx="4113987" cy="55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3777">
                <a:solidFill>
                  <a:srgbClr val="703342"/>
                </a:solidFill>
                <a:latin typeface="Impact"/>
                <a:ea typeface="Impact"/>
                <a:cs typeface="Impact"/>
                <a:sym typeface="Impact"/>
              </a:rPr>
              <a:t>WIFT HAUL COMPANY 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0810" y="7620049"/>
            <a:ext cx="3239701" cy="3239701"/>
          </a:xfrm>
          <a:custGeom>
            <a:avLst/>
            <a:gdLst/>
            <a:ahLst/>
            <a:cxnLst/>
            <a:rect r="r" b="b" t="t" l="l"/>
            <a:pathLst>
              <a:path h="3239701" w="3239701">
                <a:moveTo>
                  <a:pt x="0" y="0"/>
                </a:moveTo>
                <a:lnTo>
                  <a:pt x="3239701" y="0"/>
                </a:lnTo>
                <a:lnTo>
                  <a:pt x="3239701" y="3239701"/>
                </a:lnTo>
                <a:lnTo>
                  <a:pt x="0" y="323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6057" y="4543958"/>
            <a:ext cx="3272154" cy="4893542"/>
            <a:chOff x="0" y="0"/>
            <a:chExt cx="4362871" cy="652472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035793"/>
              <a:ext cx="4362871" cy="5488930"/>
              <a:chOff x="0" y="0"/>
              <a:chExt cx="1007189" cy="126714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7189" cy="1267144"/>
              </a:xfrm>
              <a:custGeom>
                <a:avLst/>
                <a:gdLst/>
                <a:ahLst/>
                <a:cxnLst/>
                <a:rect r="r" b="b" t="t" l="l"/>
                <a:pathLst>
                  <a:path h="1267144" w="1007189">
                    <a:moveTo>
                      <a:pt x="103248" y="0"/>
                    </a:moveTo>
                    <a:lnTo>
                      <a:pt x="903941" y="0"/>
                    </a:lnTo>
                    <a:cubicBezTo>
                      <a:pt x="960963" y="0"/>
                      <a:pt x="1007189" y="46226"/>
                      <a:pt x="1007189" y="103248"/>
                    </a:cubicBezTo>
                    <a:lnTo>
                      <a:pt x="1007189" y="1163896"/>
                    </a:lnTo>
                    <a:cubicBezTo>
                      <a:pt x="1007189" y="1220919"/>
                      <a:pt x="960963" y="1267144"/>
                      <a:pt x="903941" y="1267144"/>
                    </a:cubicBezTo>
                    <a:lnTo>
                      <a:pt x="103248" y="1267144"/>
                    </a:lnTo>
                    <a:cubicBezTo>
                      <a:pt x="46226" y="1267144"/>
                      <a:pt x="0" y="1220919"/>
                      <a:pt x="0" y="1163896"/>
                    </a:cubicBezTo>
                    <a:lnTo>
                      <a:pt x="0" y="103248"/>
                    </a:lnTo>
                    <a:cubicBezTo>
                      <a:pt x="0" y="46226"/>
                      <a:pt x="46226" y="0"/>
                      <a:pt x="103248" y="0"/>
                    </a:cubicBez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23825"/>
                <a:ext cx="1007189" cy="13909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032681" y="0"/>
              <a:ext cx="2297510" cy="229751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D5B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361453" y="701492"/>
              <a:ext cx="1639965" cy="894526"/>
            </a:xfrm>
            <a:custGeom>
              <a:avLst/>
              <a:gdLst/>
              <a:ahLst/>
              <a:cxnLst/>
              <a:rect r="r" b="b" t="t" l="l"/>
              <a:pathLst>
                <a:path h="894526" w="1639965">
                  <a:moveTo>
                    <a:pt x="0" y="0"/>
                  </a:moveTo>
                  <a:lnTo>
                    <a:pt x="1639965" y="0"/>
                  </a:lnTo>
                  <a:lnTo>
                    <a:pt x="1639965" y="894526"/>
                  </a:lnTo>
                  <a:lnTo>
                    <a:pt x="0" y="894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407058" y="3075011"/>
              <a:ext cx="3572860" cy="3085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EFEFE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Shows how orders move from placement to delivery and helps identify demand trends and peak periods for better planning.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2954" y="2579000"/>
              <a:ext cx="3596964" cy="47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Orders Flow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13416" y="4543958"/>
            <a:ext cx="3272154" cy="4964626"/>
            <a:chOff x="0" y="0"/>
            <a:chExt cx="4362871" cy="66195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025297"/>
              <a:ext cx="4362871" cy="5594204"/>
              <a:chOff x="0" y="0"/>
              <a:chExt cx="1007189" cy="12914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07189" cy="1291447"/>
              </a:xfrm>
              <a:custGeom>
                <a:avLst/>
                <a:gdLst/>
                <a:ahLst/>
                <a:cxnLst/>
                <a:rect r="r" b="b" t="t" l="l"/>
                <a:pathLst>
                  <a:path h="1291447" w="1007189">
                    <a:moveTo>
                      <a:pt x="120666" y="0"/>
                    </a:moveTo>
                    <a:lnTo>
                      <a:pt x="886523" y="0"/>
                    </a:lnTo>
                    <a:cubicBezTo>
                      <a:pt x="918525" y="0"/>
                      <a:pt x="949217" y="12713"/>
                      <a:pt x="971846" y="35342"/>
                    </a:cubicBezTo>
                    <a:cubicBezTo>
                      <a:pt x="994476" y="57972"/>
                      <a:pt x="1007189" y="88663"/>
                      <a:pt x="1007189" y="120666"/>
                    </a:cubicBezTo>
                    <a:lnTo>
                      <a:pt x="1007189" y="1170781"/>
                    </a:lnTo>
                    <a:cubicBezTo>
                      <a:pt x="1007189" y="1202784"/>
                      <a:pt x="994476" y="1233476"/>
                      <a:pt x="971846" y="1256105"/>
                    </a:cubicBezTo>
                    <a:cubicBezTo>
                      <a:pt x="949217" y="1278734"/>
                      <a:pt x="918525" y="1291447"/>
                      <a:pt x="886523" y="1291447"/>
                    </a:cubicBezTo>
                    <a:lnTo>
                      <a:pt x="120666" y="1291447"/>
                    </a:lnTo>
                    <a:cubicBezTo>
                      <a:pt x="88663" y="1291447"/>
                      <a:pt x="57972" y="1278734"/>
                      <a:pt x="35342" y="1256105"/>
                    </a:cubicBezTo>
                    <a:cubicBezTo>
                      <a:pt x="12713" y="1233476"/>
                      <a:pt x="0" y="1202784"/>
                      <a:pt x="0" y="1170781"/>
                    </a:cubicBezTo>
                    <a:lnTo>
                      <a:pt x="0" y="120666"/>
                    </a:lnTo>
                    <a:cubicBezTo>
                      <a:pt x="0" y="88663"/>
                      <a:pt x="12713" y="57972"/>
                      <a:pt x="35342" y="35342"/>
                    </a:cubicBezTo>
                    <a:cubicBezTo>
                      <a:pt x="57972" y="12713"/>
                      <a:pt x="88663" y="0"/>
                      <a:pt x="120666" y="0"/>
                    </a:cubicBez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23825"/>
                <a:ext cx="1007189" cy="14152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032343" y="0"/>
              <a:ext cx="2297510" cy="229751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D5B8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369212" y="692982"/>
              <a:ext cx="1729277" cy="959749"/>
            </a:xfrm>
            <a:custGeom>
              <a:avLst/>
              <a:gdLst/>
              <a:ahLst/>
              <a:cxnLst/>
              <a:rect r="r" b="b" t="t" l="l"/>
              <a:pathLst>
                <a:path h="959749" w="1729277">
                  <a:moveTo>
                    <a:pt x="0" y="0"/>
                  </a:moveTo>
                  <a:lnTo>
                    <a:pt x="1729277" y="0"/>
                  </a:lnTo>
                  <a:lnTo>
                    <a:pt x="1729277" y="959748"/>
                  </a:lnTo>
                  <a:lnTo>
                    <a:pt x="0" y="95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380337" y="2633630"/>
              <a:ext cx="3596964" cy="47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Vehicle Usage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84277" y="3254312"/>
              <a:ext cx="3596964" cy="219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EFEFE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Analyzes how vehicles are used and which types handle more orders to optimize fleet performance.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78949" y="4543958"/>
            <a:ext cx="3272154" cy="4964626"/>
            <a:chOff x="0" y="0"/>
            <a:chExt cx="4362871" cy="661950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1046289"/>
              <a:ext cx="4362871" cy="5573212"/>
              <a:chOff x="0" y="0"/>
              <a:chExt cx="1007189" cy="128660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07189" cy="1286601"/>
              </a:xfrm>
              <a:custGeom>
                <a:avLst/>
                <a:gdLst/>
                <a:ahLst/>
                <a:cxnLst/>
                <a:rect r="r" b="b" t="t" l="l"/>
                <a:pathLst>
                  <a:path h="1286601" w="1007189">
                    <a:moveTo>
                      <a:pt x="120666" y="0"/>
                    </a:moveTo>
                    <a:lnTo>
                      <a:pt x="886523" y="0"/>
                    </a:lnTo>
                    <a:cubicBezTo>
                      <a:pt x="918525" y="0"/>
                      <a:pt x="949217" y="12713"/>
                      <a:pt x="971846" y="35342"/>
                    </a:cubicBezTo>
                    <a:cubicBezTo>
                      <a:pt x="994476" y="57972"/>
                      <a:pt x="1007189" y="88663"/>
                      <a:pt x="1007189" y="120666"/>
                    </a:cubicBezTo>
                    <a:lnTo>
                      <a:pt x="1007189" y="1165935"/>
                    </a:lnTo>
                    <a:cubicBezTo>
                      <a:pt x="1007189" y="1197938"/>
                      <a:pt x="994476" y="1228630"/>
                      <a:pt x="971846" y="1251259"/>
                    </a:cubicBezTo>
                    <a:cubicBezTo>
                      <a:pt x="949217" y="1273888"/>
                      <a:pt x="918525" y="1286601"/>
                      <a:pt x="886523" y="1286601"/>
                    </a:cubicBezTo>
                    <a:lnTo>
                      <a:pt x="120666" y="1286601"/>
                    </a:lnTo>
                    <a:cubicBezTo>
                      <a:pt x="88663" y="1286601"/>
                      <a:pt x="57972" y="1273888"/>
                      <a:pt x="35342" y="1251259"/>
                    </a:cubicBezTo>
                    <a:cubicBezTo>
                      <a:pt x="12713" y="1228630"/>
                      <a:pt x="0" y="1197938"/>
                      <a:pt x="0" y="1165935"/>
                    </a:cubicBezTo>
                    <a:lnTo>
                      <a:pt x="0" y="120666"/>
                    </a:lnTo>
                    <a:cubicBezTo>
                      <a:pt x="0" y="88663"/>
                      <a:pt x="12713" y="57972"/>
                      <a:pt x="35342" y="35342"/>
                    </a:cubicBezTo>
                    <a:cubicBezTo>
                      <a:pt x="57972" y="12713"/>
                      <a:pt x="88663" y="0"/>
                      <a:pt x="120666" y="0"/>
                    </a:cubicBez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23825"/>
                <a:ext cx="1007189" cy="14104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32681" y="0"/>
              <a:ext cx="2297510" cy="229751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D5B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641528" y="256521"/>
              <a:ext cx="1032104" cy="1709811"/>
            </a:xfrm>
            <a:custGeom>
              <a:avLst/>
              <a:gdLst/>
              <a:ahLst/>
              <a:cxnLst/>
              <a:rect r="r" b="b" t="t" l="l"/>
              <a:pathLst>
                <a:path h="1709811" w="1032104">
                  <a:moveTo>
                    <a:pt x="0" y="0"/>
                  </a:moveTo>
                  <a:lnTo>
                    <a:pt x="1032103" y="0"/>
                  </a:lnTo>
                  <a:lnTo>
                    <a:pt x="1032103" y="1709811"/>
                  </a:lnTo>
                  <a:lnTo>
                    <a:pt x="0" y="1709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830560" y="2378412"/>
              <a:ext cx="2654038" cy="84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Driver Perform</a:t>
              </a: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ance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2490" y="3292647"/>
              <a:ext cx="3664782" cy="219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EFEFE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Evaluates drivers based on experience, ratings, and delays to improve efficiency and service quality.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21501" y="4543958"/>
            <a:ext cx="3272154" cy="4964626"/>
            <a:chOff x="0" y="0"/>
            <a:chExt cx="4362871" cy="661950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1035793"/>
              <a:ext cx="4362871" cy="5583708"/>
              <a:chOff x="0" y="0"/>
              <a:chExt cx="1007189" cy="128902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07189" cy="1289024"/>
              </a:xfrm>
              <a:custGeom>
                <a:avLst/>
                <a:gdLst/>
                <a:ahLst/>
                <a:cxnLst/>
                <a:rect r="r" b="b" t="t" l="l"/>
                <a:pathLst>
                  <a:path h="1289024" w="1007189">
                    <a:moveTo>
                      <a:pt x="120666" y="0"/>
                    </a:moveTo>
                    <a:lnTo>
                      <a:pt x="886523" y="0"/>
                    </a:lnTo>
                    <a:cubicBezTo>
                      <a:pt x="918525" y="0"/>
                      <a:pt x="949217" y="12713"/>
                      <a:pt x="971846" y="35342"/>
                    </a:cubicBezTo>
                    <a:cubicBezTo>
                      <a:pt x="994476" y="57972"/>
                      <a:pt x="1007189" y="88663"/>
                      <a:pt x="1007189" y="120666"/>
                    </a:cubicBezTo>
                    <a:lnTo>
                      <a:pt x="1007189" y="1168358"/>
                    </a:lnTo>
                    <a:cubicBezTo>
                      <a:pt x="1007189" y="1200361"/>
                      <a:pt x="994476" y="1231053"/>
                      <a:pt x="971846" y="1253682"/>
                    </a:cubicBezTo>
                    <a:cubicBezTo>
                      <a:pt x="949217" y="1276311"/>
                      <a:pt x="918525" y="1289024"/>
                      <a:pt x="886523" y="1289024"/>
                    </a:cubicBezTo>
                    <a:lnTo>
                      <a:pt x="120666" y="1289024"/>
                    </a:lnTo>
                    <a:cubicBezTo>
                      <a:pt x="88663" y="1289024"/>
                      <a:pt x="57972" y="1276311"/>
                      <a:pt x="35342" y="1253682"/>
                    </a:cubicBezTo>
                    <a:cubicBezTo>
                      <a:pt x="12713" y="1231053"/>
                      <a:pt x="0" y="1200361"/>
                      <a:pt x="0" y="1168358"/>
                    </a:cubicBezTo>
                    <a:lnTo>
                      <a:pt x="0" y="120666"/>
                    </a:lnTo>
                    <a:cubicBezTo>
                      <a:pt x="0" y="88663"/>
                      <a:pt x="12713" y="57972"/>
                      <a:pt x="35342" y="35342"/>
                    </a:cubicBezTo>
                    <a:cubicBezTo>
                      <a:pt x="57972" y="12713"/>
                      <a:pt x="88663" y="0"/>
                      <a:pt x="120666" y="0"/>
                    </a:cubicBez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23825"/>
                <a:ext cx="1007189" cy="14128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032343" y="0"/>
              <a:ext cx="2297510" cy="2297510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D5B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1440194" y="308308"/>
              <a:ext cx="1475963" cy="1475963"/>
            </a:xfrm>
            <a:custGeom>
              <a:avLst/>
              <a:gdLst/>
              <a:ahLst/>
              <a:cxnLst/>
              <a:rect r="r" b="b" t="t" l="l"/>
              <a:pathLst>
                <a:path h="1475963" w="1475963">
                  <a:moveTo>
                    <a:pt x="0" y="0"/>
                  </a:moveTo>
                  <a:lnTo>
                    <a:pt x="1475963" y="0"/>
                  </a:lnTo>
                  <a:lnTo>
                    <a:pt x="1475963" y="1475963"/>
                  </a:lnTo>
                  <a:lnTo>
                    <a:pt x="0" y="1475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942761" y="2353007"/>
              <a:ext cx="2490468" cy="84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Hub Eff</a:t>
              </a: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iciency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12489" y="3244699"/>
              <a:ext cx="3731373" cy="2640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EFEFE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Measures how efficiently hubs process orders compared to their capacity, helping reduce overload and improve distribution.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858137" y="159703"/>
            <a:ext cx="78994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Project</a:t>
            </a:r>
            <a:r>
              <a:rPr lang="en-US" sz="9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Overview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3297" y="2013885"/>
            <a:ext cx="178614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Alibaba Sans"/>
                <a:ea typeface="Alibaba Sans"/>
                <a:cs typeface="Alibaba Sans"/>
                <a:sym typeface="Alibaba Sans"/>
              </a:rPr>
              <a:t>Our project addresses inefficiencies in logistics operations and helps identify key factors affecting delivery performance.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libaba Sans"/>
                <a:ea typeface="Alibaba Sans"/>
                <a:cs typeface="Alibaba Sans"/>
                <a:sym typeface="Alibaba Sans"/>
              </a:rPr>
              <a:t>It analyzes orders, drivers, vehicles, and hubs to improve efficiency and enhance customer satisfaction.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631779" y="4543958"/>
            <a:ext cx="4032577" cy="6315793"/>
            <a:chOff x="0" y="0"/>
            <a:chExt cx="5376769" cy="84210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057168" y="4101456"/>
              <a:ext cx="4319601" cy="4319601"/>
            </a:xfrm>
            <a:custGeom>
              <a:avLst/>
              <a:gdLst/>
              <a:ahLst/>
              <a:cxnLst/>
              <a:rect r="r" b="b" t="t" l="l"/>
              <a:pathLst>
                <a:path h="4319601" w="4319601">
                  <a:moveTo>
                    <a:pt x="0" y="0"/>
                  </a:moveTo>
                  <a:lnTo>
                    <a:pt x="4319601" y="0"/>
                  </a:lnTo>
                  <a:lnTo>
                    <a:pt x="4319601" y="4319601"/>
                  </a:lnTo>
                  <a:lnTo>
                    <a:pt x="0" y="4319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7" id="47"/>
            <p:cNvGrpSpPr/>
            <p:nvPr/>
          </p:nvGrpSpPr>
          <p:grpSpPr>
            <a:xfrm rot="0">
              <a:off x="0" y="1035793"/>
              <a:ext cx="4362871" cy="5650566"/>
              <a:chOff x="0" y="0"/>
              <a:chExt cx="1007189" cy="130445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07189" cy="1304459"/>
              </a:xfrm>
              <a:custGeom>
                <a:avLst/>
                <a:gdLst/>
                <a:ahLst/>
                <a:cxnLst/>
                <a:rect r="r" b="b" t="t" l="l"/>
                <a:pathLst>
                  <a:path h="1304459" w="1007189">
                    <a:moveTo>
                      <a:pt x="120666" y="0"/>
                    </a:moveTo>
                    <a:lnTo>
                      <a:pt x="886523" y="0"/>
                    </a:lnTo>
                    <a:cubicBezTo>
                      <a:pt x="918525" y="0"/>
                      <a:pt x="949217" y="12713"/>
                      <a:pt x="971846" y="35342"/>
                    </a:cubicBezTo>
                    <a:cubicBezTo>
                      <a:pt x="994476" y="57972"/>
                      <a:pt x="1007189" y="88663"/>
                      <a:pt x="1007189" y="120666"/>
                    </a:cubicBezTo>
                    <a:lnTo>
                      <a:pt x="1007189" y="1183793"/>
                    </a:lnTo>
                    <a:cubicBezTo>
                      <a:pt x="1007189" y="1250435"/>
                      <a:pt x="953165" y="1304459"/>
                      <a:pt x="886523" y="1304459"/>
                    </a:cubicBezTo>
                    <a:lnTo>
                      <a:pt x="120666" y="1304459"/>
                    </a:lnTo>
                    <a:cubicBezTo>
                      <a:pt x="88663" y="1304459"/>
                      <a:pt x="57972" y="1291746"/>
                      <a:pt x="35342" y="1269116"/>
                    </a:cubicBezTo>
                    <a:cubicBezTo>
                      <a:pt x="12713" y="1246487"/>
                      <a:pt x="0" y="1215795"/>
                      <a:pt x="0" y="1183793"/>
                    </a:cubicBezTo>
                    <a:lnTo>
                      <a:pt x="0" y="120666"/>
                    </a:lnTo>
                    <a:cubicBezTo>
                      <a:pt x="0" y="88663"/>
                      <a:pt x="12713" y="57972"/>
                      <a:pt x="35342" y="35342"/>
                    </a:cubicBezTo>
                    <a:cubicBezTo>
                      <a:pt x="57972" y="12713"/>
                      <a:pt x="88663" y="0"/>
                      <a:pt x="120666" y="0"/>
                    </a:cubicBez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23825"/>
                <a:ext cx="1007189" cy="1428284"/>
              </a:xfrm>
              <a:prstGeom prst="rect">
                <a:avLst/>
              </a:prstGeom>
            </p:spPr>
            <p:txBody>
              <a:bodyPr anchor="ctr" rtlCol="false" tIns="43467" lIns="43467" bIns="43467" rIns="43467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032681" y="0"/>
              <a:ext cx="2297510" cy="2297510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D5B8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3467" lIns="43467" bIns="43467" rIns="43467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1602379" y="371159"/>
              <a:ext cx="1325801" cy="1555192"/>
            </a:xfrm>
            <a:custGeom>
              <a:avLst/>
              <a:gdLst/>
              <a:ahLst/>
              <a:cxnLst/>
              <a:rect r="r" b="b" t="t" l="l"/>
              <a:pathLst>
                <a:path h="1555192" w="1325801">
                  <a:moveTo>
                    <a:pt x="0" y="0"/>
                  </a:moveTo>
                  <a:lnTo>
                    <a:pt x="1325801" y="0"/>
                  </a:lnTo>
                  <a:lnTo>
                    <a:pt x="1325801" y="1555192"/>
                  </a:lnTo>
                  <a:lnTo>
                    <a:pt x="0" y="1555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478850" y="3271651"/>
              <a:ext cx="3572860" cy="2640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EFEFE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Reflects customer experience and is directly affected by delivery time and service quality.</a:t>
              </a:r>
            </a:p>
            <a:p>
              <a:pPr algn="ctr">
                <a:lnSpc>
                  <a:spcPts val="2659"/>
                </a:lnSpc>
              </a:pP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323214" y="2367914"/>
              <a:ext cx="3716443" cy="84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Customer Satisfaction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1726099" y="3612498"/>
            <a:ext cx="1609434" cy="931460"/>
          </a:xfrm>
          <a:custGeom>
            <a:avLst/>
            <a:gdLst/>
            <a:ahLst/>
            <a:cxnLst/>
            <a:rect r="r" b="b" t="t" l="l"/>
            <a:pathLst>
              <a:path h="931460" w="1609434">
                <a:moveTo>
                  <a:pt x="0" y="0"/>
                </a:moveTo>
                <a:lnTo>
                  <a:pt x="1609434" y="0"/>
                </a:lnTo>
                <a:lnTo>
                  <a:pt x="1609434" y="931460"/>
                </a:lnTo>
                <a:lnTo>
                  <a:pt x="0" y="9314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6112710" y="2743501"/>
            <a:ext cx="49633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Our scope </a:t>
            </a:r>
          </a:p>
        </p:txBody>
      </p:sp>
      <p:sp>
        <p:nvSpPr>
          <p:cNvPr name="Freeform 58" id="58"/>
          <p:cNvSpPr/>
          <p:nvPr/>
        </p:nvSpPr>
        <p:spPr>
          <a:xfrm flipH="true" flipV="false" rot="0">
            <a:off x="3574035" y="3612498"/>
            <a:ext cx="1609434" cy="931460"/>
          </a:xfrm>
          <a:custGeom>
            <a:avLst/>
            <a:gdLst/>
            <a:ahLst/>
            <a:cxnLst/>
            <a:rect r="r" b="b" t="t" l="l"/>
            <a:pathLst>
              <a:path h="931460" w="1609434">
                <a:moveTo>
                  <a:pt x="1609433" y="0"/>
                </a:moveTo>
                <a:lnTo>
                  <a:pt x="0" y="0"/>
                </a:lnTo>
                <a:lnTo>
                  <a:pt x="0" y="931460"/>
                </a:lnTo>
                <a:lnTo>
                  <a:pt x="1609433" y="931460"/>
                </a:lnTo>
                <a:lnTo>
                  <a:pt x="160943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1406553" y="-1178190"/>
            <a:ext cx="3239701" cy="3239701"/>
          </a:xfrm>
          <a:custGeom>
            <a:avLst/>
            <a:gdLst/>
            <a:ahLst/>
            <a:cxnLst/>
            <a:rect r="r" b="b" t="t" l="l"/>
            <a:pathLst>
              <a:path h="3239701" w="3239701">
                <a:moveTo>
                  <a:pt x="0" y="0"/>
                </a:moveTo>
                <a:lnTo>
                  <a:pt x="3239700" y="0"/>
                </a:lnTo>
                <a:lnTo>
                  <a:pt x="3239700" y="3239700"/>
                </a:lnTo>
                <a:lnTo>
                  <a:pt x="0" y="3239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-7182356">
            <a:off x="10383592" y="-1541174"/>
            <a:ext cx="13376036" cy="6069376"/>
          </a:xfrm>
          <a:custGeom>
            <a:avLst/>
            <a:gdLst/>
            <a:ahLst/>
            <a:cxnLst/>
            <a:rect r="r" b="b" t="t" l="l"/>
            <a:pathLst>
              <a:path h="6069376" w="13376036">
                <a:moveTo>
                  <a:pt x="0" y="0"/>
                </a:moveTo>
                <a:lnTo>
                  <a:pt x="13376035" y="0"/>
                </a:lnTo>
                <a:lnTo>
                  <a:pt x="13376035" y="6069376"/>
                </a:lnTo>
                <a:lnTo>
                  <a:pt x="0" y="60693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3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75272">
            <a:off x="10848709" y="-338102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1" y="0"/>
                </a:lnTo>
                <a:lnTo>
                  <a:pt x="13404371" y="6082233"/>
                </a:lnTo>
                <a:lnTo>
                  <a:pt x="0" y="6082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6283" y="735955"/>
            <a:ext cx="1228432" cy="1127087"/>
          </a:xfrm>
          <a:custGeom>
            <a:avLst/>
            <a:gdLst/>
            <a:ahLst/>
            <a:cxnLst/>
            <a:rect r="r" b="b" t="t" l="l"/>
            <a:pathLst>
              <a:path h="1127087" w="1228432">
                <a:moveTo>
                  <a:pt x="0" y="0"/>
                </a:moveTo>
                <a:lnTo>
                  <a:pt x="1228432" y="0"/>
                </a:lnTo>
                <a:lnTo>
                  <a:pt x="1228432" y="1127087"/>
                </a:lnTo>
                <a:lnTo>
                  <a:pt x="0" y="112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0499" y="593080"/>
            <a:ext cx="12666667" cy="12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7"/>
              </a:lnSpc>
            </a:pPr>
            <a:r>
              <a:rPr lang="en-US" sz="724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Vision to Execution Roadmap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693668" y="3847195"/>
            <a:ext cx="5623939" cy="5128531"/>
            <a:chOff x="0" y="0"/>
            <a:chExt cx="7498586" cy="6838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063814" y="1739250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5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7" id="7"/>
            <p:cNvGrpSpPr/>
            <p:nvPr/>
          </p:nvGrpSpPr>
          <p:grpSpPr>
            <a:xfrm rot="-10800000">
              <a:off x="2933250" y="1463215"/>
              <a:ext cx="2439713" cy="243971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w="133350" cap="sq">
                <a:solidFill>
                  <a:srgbClr val="FFFCF9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3746101" y="2239841"/>
              <a:ext cx="1016000" cy="963930"/>
            </a:xfrm>
            <a:custGeom>
              <a:avLst/>
              <a:gdLst/>
              <a:ahLst/>
              <a:cxnLst/>
              <a:rect r="r" b="b" t="t" l="l"/>
              <a:pathLst>
                <a:path h="96393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963930"/>
                  </a:lnTo>
                  <a:lnTo>
                    <a:pt x="0" y="963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933250" y="4759032"/>
              <a:ext cx="3823131" cy="937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Exploratory Data Analysis (EDA)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933250" y="5826910"/>
              <a:ext cx="4565336" cy="101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Analyz</a:t>
              </a: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ed trends, delivery patterns, and operational performance indicators.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true" flipV="false" rot="-10800000">
              <a:off x="0" y="0"/>
              <a:ext cx="4078763" cy="5343344"/>
            </a:xfrm>
            <a:custGeom>
              <a:avLst/>
              <a:gdLst/>
              <a:ahLst/>
              <a:cxnLst/>
              <a:rect r="r" b="b" t="t" l="l"/>
              <a:pathLst>
                <a:path h="5343344" w="4078763">
                  <a:moveTo>
                    <a:pt x="4078763" y="0"/>
                  </a:moveTo>
                  <a:lnTo>
                    <a:pt x="0" y="0"/>
                  </a:lnTo>
                  <a:lnTo>
                    <a:pt x="0" y="5343344"/>
                  </a:lnTo>
                  <a:lnTo>
                    <a:pt x="4078763" y="5343344"/>
                  </a:lnTo>
                  <a:lnTo>
                    <a:pt x="4078763" y="0"/>
                  </a:lnTo>
                  <a:close/>
                </a:path>
              </a:pathLst>
            </a:custGeom>
            <a:blipFill>
              <a:blip r:embed="rId9">
                <a:alphaModFix amt="4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154040" t="0" r="-35884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5649" y="3358654"/>
            <a:ext cx="6578932" cy="4496465"/>
            <a:chOff x="0" y="0"/>
            <a:chExt cx="8771909" cy="59952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204048" y="2379794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6" id="16"/>
            <p:cNvGrpSpPr/>
            <p:nvPr/>
          </p:nvGrpSpPr>
          <p:grpSpPr>
            <a:xfrm rot="-10800000">
              <a:off x="5063086" y="2103759"/>
              <a:ext cx="2439713" cy="2439713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w="133350" cap="sq">
                <a:solidFill>
                  <a:srgbClr val="FFFCF9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5774943" y="2930550"/>
              <a:ext cx="1016000" cy="786130"/>
            </a:xfrm>
            <a:custGeom>
              <a:avLst/>
              <a:gdLst/>
              <a:ahLst/>
              <a:cxnLst/>
              <a:rect r="r" b="b" t="t" l="l"/>
              <a:pathLst>
                <a:path h="78613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786130"/>
                  </a:lnTo>
                  <a:lnTo>
                    <a:pt x="0" y="786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4848026" y="19050"/>
              <a:ext cx="2796918" cy="480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Data Cleaning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852070" y="655358"/>
              <a:ext cx="3919839" cy="101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Convert vision into actionable and specific organizational goals.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true" flipV="false" rot="-10800000">
              <a:off x="0" y="651943"/>
              <a:ext cx="6282943" cy="5343344"/>
            </a:xfrm>
            <a:custGeom>
              <a:avLst/>
              <a:gdLst/>
              <a:ahLst/>
              <a:cxnLst/>
              <a:rect r="r" b="b" t="t" l="l"/>
              <a:pathLst>
                <a:path h="5343344" w="6282943">
                  <a:moveTo>
                    <a:pt x="6282943" y="0"/>
                  </a:moveTo>
                  <a:lnTo>
                    <a:pt x="0" y="0"/>
                  </a:lnTo>
                  <a:lnTo>
                    <a:pt x="0" y="5343344"/>
                  </a:lnTo>
                  <a:lnTo>
                    <a:pt x="6282943" y="5343344"/>
                  </a:lnTo>
                  <a:lnTo>
                    <a:pt x="6282943" y="0"/>
                  </a:lnTo>
                  <a:close/>
                </a:path>
              </a:pathLst>
            </a:custGeom>
            <a:blipFill>
              <a:blip r:embed="rId9">
                <a:alphaModFix amt="4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29787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8258" y="4936473"/>
            <a:ext cx="3172112" cy="4296140"/>
            <a:chOff x="0" y="0"/>
            <a:chExt cx="4229483" cy="57281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22943" y="276035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5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-10800000">
              <a:off x="215061" y="0"/>
              <a:ext cx="2439713" cy="243971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w="133350" cap="sq">
                <a:solidFill>
                  <a:srgbClr val="FFFCF9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913944" y="651465"/>
              <a:ext cx="1016000" cy="1136783"/>
            </a:xfrm>
            <a:custGeom>
              <a:avLst/>
              <a:gdLst/>
              <a:ahLst/>
              <a:cxnLst/>
              <a:rect r="r" b="b" t="t" l="l"/>
              <a:pathLst>
                <a:path h="1136783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136783"/>
                  </a:lnTo>
                  <a:lnTo>
                    <a:pt x="0" y="113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77718" y="3428057"/>
              <a:ext cx="3504451" cy="480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D</a:t>
              </a: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ata Collection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031255"/>
              <a:ext cx="4229483" cy="169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Coll</a:t>
              </a: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ecting logistics data from multiple sources including orders, drivers, vehicles, and hubs to build a complete dataset for analysis.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06406" y="3860962"/>
            <a:ext cx="7844064" cy="5883392"/>
            <a:chOff x="0" y="0"/>
            <a:chExt cx="10458752" cy="7844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255004" y="1706572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3" id="33"/>
            <p:cNvGrpSpPr/>
            <p:nvPr/>
          </p:nvGrpSpPr>
          <p:grpSpPr>
            <a:xfrm rot="-10800000">
              <a:off x="3016953" y="1430537"/>
              <a:ext cx="2439713" cy="243971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w="133350" cap="sq">
                <a:solidFill>
                  <a:srgbClr val="FFFCF9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3893910" y="2212878"/>
              <a:ext cx="76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822384" y="4858593"/>
              <a:ext cx="4339963" cy="480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Insights &amp; Reporting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822384" y="5461791"/>
              <a:ext cx="3919839" cy="2382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Designed inte</a:t>
              </a: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ractive Power BI dashboards to monitor logistics performance and support data-driven decision making.</a:t>
              </a:r>
            </a:p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Tools Used; Power BI, Power Query and DAX query.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true" flipV="false" rot="-10800000">
              <a:off x="0" y="0"/>
              <a:ext cx="10458752" cy="5343344"/>
            </a:xfrm>
            <a:custGeom>
              <a:avLst/>
              <a:gdLst/>
              <a:ahLst/>
              <a:cxnLst/>
              <a:rect r="r" b="b" t="t" l="l"/>
              <a:pathLst>
                <a:path h="5343344" w="10458752">
                  <a:moveTo>
                    <a:pt x="10458752" y="0"/>
                  </a:moveTo>
                  <a:lnTo>
                    <a:pt x="0" y="0"/>
                  </a:lnTo>
                  <a:lnTo>
                    <a:pt x="0" y="5343344"/>
                  </a:lnTo>
                  <a:lnTo>
                    <a:pt x="10458752" y="5343344"/>
                  </a:lnTo>
                  <a:lnTo>
                    <a:pt x="10458752" y="0"/>
                  </a:lnTo>
                  <a:close/>
                </a:path>
              </a:pathLst>
            </a:custGeom>
            <a:blipFill>
              <a:blip r:embed="rId9">
                <a:alphaModFix amt="4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139016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748913" y="3444387"/>
            <a:ext cx="4726040" cy="4426905"/>
            <a:chOff x="0" y="0"/>
            <a:chExt cx="6301387" cy="59025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194316" y="2265484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5000"/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2" id="42"/>
            <p:cNvGrpSpPr/>
            <p:nvPr/>
          </p:nvGrpSpPr>
          <p:grpSpPr>
            <a:xfrm rot="-10800000">
              <a:off x="2993045" y="1989449"/>
              <a:ext cx="2439713" cy="2439713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03342"/>
              </a:solidFill>
              <a:ln w="133350" cap="sq">
                <a:solidFill>
                  <a:srgbClr val="FFFCF9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711469" y="2816240"/>
              <a:ext cx="1016000" cy="937260"/>
            </a:xfrm>
            <a:custGeom>
              <a:avLst/>
              <a:gdLst/>
              <a:ahLst/>
              <a:cxnLst/>
              <a:rect r="r" b="b" t="t" l="l"/>
              <a:pathLst>
                <a:path h="93726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937260"/>
                  </a:lnTo>
                  <a:lnTo>
                    <a:pt x="0" y="937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2681887" y="19050"/>
              <a:ext cx="3619500" cy="480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07213D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Data Visualization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681887" y="700730"/>
              <a:ext cx="3381925" cy="1354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C</a:t>
              </a:r>
              <a:r>
                <a:rPr lang="en-US" sz="1599">
                  <a:solidFill>
                    <a:srgbClr val="545454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reated visual reports and KPI tracking to monitor logistics performance.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true" flipV="false" rot="-10800000">
              <a:off x="0" y="543047"/>
              <a:ext cx="4215062" cy="5359492"/>
            </a:xfrm>
            <a:custGeom>
              <a:avLst/>
              <a:gdLst/>
              <a:ahLst/>
              <a:cxnLst/>
              <a:rect r="r" b="b" t="t" l="l"/>
              <a:pathLst>
                <a:path h="5359492" w="4215062">
                  <a:moveTo>
                    <a:pt x="4215062" y="0"/>
                  </a:moveTo>
                  <a:lnTo>
                    <a:pt x="0" y="0"/>
                  </a:lnTo>
                  <a:lnTo>
                    <a:pt x="0" y="5359493"/>
                  </a:lnTo>
                  <a:lnTo>
                    <a:pt x="4215062" y="5359493"/>
                  </a:lnTo>
                  <a:lnTo>
                    <a:pt x="4215062" y="0"/>
                  </a:lnTo>
                  <a:close/>
                </a:path>
              </a:pathLst>
            </a:custGeom>
            <a:blipFill>
              <a:blip r:embed="rId9">
                <a:alphaModFix amt="4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46568" t="0" r="-248289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51629" y="7512256"/>
            <a:ext cx="17533983" cy="2774744"/>
            <a:chOff x="0" y="0"/>
            <a:chExt cx="1649635" cy="2610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125" y="0"/>
              <a:ext cx="1633386" cy="261054"/>
            </a:xfrm>
            <a:custGeom>
              <a:avLst/>
              <a:gdLst/>
              <a:ahLst/>
              <a:cxnLst/>
              <a:rect r="r" b="b" t="t" l="l"/>
              <a:pathLst>
                <a:path h="261054" w="1633386">
                  <a:moveTo>
                    <a:pt x="210970" y="0"/>
                  </a:moveTo>
                  <a:lnTo>
                    <a:pt x="1625615" y="0"/>
                  </a:lnTo>
                  <a:cubicBezTo>
                    <a:pt x="1628583" y="0"/>
                    <a:pt x="1631292" y="1691"/>
                    <a:pt x="1632596" y="4358"/>
                  </a:cubicBezTo>
                  <a:cubicBezTo>
                    <a:pt x="1633900" y="7025"/>
                    <a:pt x="1633570" y="10201"/>
                    <a:pt x="1631747" y="12543"/>
                  </a:cubicBezTo>
                  <a:lnTo>
                    <a:pt x="1448074" y="248511"/>
                  </a:lnTo>
                  <a:cubicBezTo>
                    <a:pt x="1441913" y="256425"/>
                    <a:pt x="1432445" y="261054"/>
                    <a:pt x="1422415" y="261054"/>
                  </a:cubicBezTo>
                  <a:lnTo>
                    <a:pt x="7770" y="261054"/>
                  </a:lnTo>
                  <a:cubicBezTo>
                    <a:pt x="4802" y="261054"/>
                    <a:pt x="2093" y="259363"/>
                    <a:pt x="789" y="256696"/>
                  </a:cubicBezTo>
                  <a:cubicBezTo>
                    <a:pt x="-514" y="254029"/>
                    <a:pt x="-185" y="250853"/>
                    <a:pt x="1639" y="248511"/>
                  </a:cubicBezTo>
                  <a:lnTo>
                    <a:pt x="185311" y="12543"/>
                  </a:lnTo>
                  <a:cubicBezTo>
                    <a:pt x="191472" y="4629"/>
                    <a:pt x="200941" y="0"/>
                    <a:pt x="210970" y="0"/>
                  </a:cubicBezTo>
                  <a:close/>
                </a:path>
              </a:pathLst>
            </a:custGeom>
            <a:solidFill>
              <a:srgbClr val="6330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446435" cy="29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3346" y="8017081"/>
            <a:ext cx="2931597" cy="2931597"/>
          </a:xfrm>
          <a:custGeom>
            <a:avLst/>
            <a:gdLst/>
            <a:ahLst/>
            <a:cxnLst/>
            <a:rect r="r" b="b" t="t" l="l"/>
            <a:pathLst>
              <a:path h="2931597" w="2931597">
                <a:moveTo>
                  <a:pt x="0" y="0"/>
                </a:moveTo>
                <a:lnTo>
                  <a:pt x="2931597" y="0"/>
                </a:lnTo>
                <a:lnTo>
                  <a:pt x="2931597" y="2931597"/>
                </a:lnTo>
                <a:lnTo>
                  <a:pt x="0" y="293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855" y="5788772"/>
            <a:ext cx="392262" cy="442608"/>
          </a:xfrm>
          <a:custGeom>
            <a:avLst/>
            <a:gdLst/>
            <a:ahLst/>
            <a:cxnLst/>
            <a:rect r="r" b="b" t="t" l="l"/>
            <a:pathLst>
              <a:path h="442608" w="392262">
                <a:moveTo>
                  <a:pt x="0" y="0"/>
                </a:moveTo>
                <a:lnTo>
                  <a:pt x="392261" y="0"/>
                </a:lnTo>
                <a:lnTo>
                  <a:pt x="392261" y="442609"/>
                </a:lnTo>
                <a:lnTo>
                  <a:pt x="0" y="442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855" y="6883539"/>
            <a:ext cx="392262" cy="442608"/>
          </a:xfrm>
          <a:custGeom>
            <a:avLst/>
            <a:gdLst/>
            <a:ahLst/>
            <a:cxnLst/>
            <a:rect r="r" b="b" t="t" l="l"/>
            <a:pathLst>
              <a:path h="442608" w="392262">
                <a:moveTo>
                  <a:pt x="0" y="0"/>
                </a:moveTo>
                <a:lnTo>
                  <a:pt x="392261" y="0"/>
                </a:lnTo>
                <a:lnTo>
                  <a:pt x="392261" y="442608"/>
                </a:lnTo>
                <a:lnTo>
                  <a:pt x="0" y="442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855" y="4824837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1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855" y="3801204"/>
            <a:ext cx="392262" cy="442608"/>
          </a:xfrm>
          <a:custGeom>
            <a:avLst/>
            <a:gdLst/>
            <a:ahLst/>
            <a:cxnLst/>
            <a:rect r="r" b="b" t="t" l="l"/>
            <a:pathLst>
              <a:path h="442608" w="392262">
                <a:moveTo>
                  <a:pt x="0" y="0"/>
                </a:moveTo>
                <a:lnTo>
                  <a:pt x="392261" y="0"/>
                </a:lnTo>
                <a:lnTo>
                  <a:pt x="392261" y="442608"/>
                </a:lnTo>
                <a:lnTo>
                  <a:pt x="0" y="442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855" y="2850547"/>
            <a:ext cx="392262" cy="442608"/>
          </a:xfrm>
          <a:custGeom>
            <a:avLst/>
            <a:gdLst/>
            <a:ahLst/>
            <a:cxnLst/>
            <a:rect r="r" b="b" t="t" l="l"/>
            <a:pathLst>
              <a:path h="442608" w="392262">
                <a:moveTo>
                  <a:pt x="0" y="0"/>
                </a:moveTo>
                <a:lnTo>
                  <a:pt x="392261" y="0"/>
                </a:lnTo>
                <a:lnTo>
                  <a:pt x="392261" y="442609"/>
                </a:lnTo>
                <a:lnTo>
                  <a:pt x="0" y="442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72273" y="-405646"/>
            <a:ext cx="1838696" cy="1715001"/>
          </a:xfrm>
          <a:custGeom>
            <a:avLst/>
            <a:gdLst/>
            <a:ahLst/>
            <a:cxnLst/>
            <a:rect r="r" b="b" t="t" l="l"/>
            <a:pathLst>
              <a:path h="1715001" w="1838696">
                <a:moveTo>
                  <a:pt x="0" y="0"/>
                </a:moveTo>
                <a:lnTo>
                  <a:pt x="1838695" y="0"/>
                </a:lnTo>
                <a:lnTo>
                  <a:pt x="1838695" y="1715001"/>
                </a:lnTo>
                <a:lnTo>
                  <a:pt x="0" y="171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861563" y="-850573"/>
            <a:ext cx="1838696" cy="1715001"/>
          </a:xfrm>
          <a:custGeom>
            <a:avLst/>
            <a:gdLst/>
            <a:ahLst/>
            <a:cxnLst/>
            <a:rect r="r" b="b" t="t" l="l"/>
            <a:pathLst>
              <a:path h="1715001" w="1838696">
                <a:moveTo>
                  <a:pt x="0" y="0"/>
                </a:moveTo>
                <a:lnTo>
                  <a:pt x="1838696" y="0"/>
                </a:lnTo>
                <a:lnTo>
                  <a:pt x="1838696" y="1715001"/>
                </a:lnTo>
                <a:lnTo>
                  <a:pt x="0" y="171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62035" y="1699056"/>
            <a:ext cx="7143287" cy="2750165"/>
          </a:xfrm>
          <a:custGeom>
            <a:avLst/>
            <a:gdLst/>
            <a:ahLst/>
            <a:cxnLst/>
            <a:rect r="r" b="b" t="t" l="l"/>
            <a:pathLst>
              <a:path h="2750165" w="7143287">
                <a:moveTo>
                  <a:pt x="0" y="0"/>
                </a:moveTo>
                <a:lnTo>
                  <a:pt x="7143287" y="0"/>
                </a:lnTo>
                <a:lnTo>
                  <a:pt x="7143287" y="2750165"/>
                </a:lnTo>
                <a:lnTo>
                  <a:pt x="0" y="2750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53720" y="5050904"/>
            <a:ext cx="9902243" cy="4859345"/>
          </a:xfrm>
          <a:custGeom>
            <a:avLst/>
            <a:gdLst/>
            <a:ahLst/>
            <a:cxnLst/>
            <a:rect r="r" b="b" t="t" l="l"/>
            <a:pathLst>
              <a:path h="4859345" w="9902243">
                <a:moveTo>
                  <a:pt x="0" y="0"/>
                </a:moveTo>
                <a:lnTo>
                  <a:pt x="9902244" y="0"/>
                </a:lnTo>
                <a:lnTo>
                  <a:pt x="9902244" y="4859345"/>
                </a:lnTo>
                <a:lnTo>
                  <a:pt x="0" y="48593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2057" y="2051905"/>
            <a:ext cx="973081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100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project followed an e</a:t>
            </a:r>
            <a:r>
              <a:rPr lang="en-US" b="true" sz="2600">
                <a:solidFill>
                  <a:srgbClr val="71001C"/>
                </a:solidFill>
                <a:latin typeface="Agrandir Bold"/>
                <a:ea typeface="Agrandir Bold"/>
                <a:cs typeface="Agrandir Bold"/>
                <a:sym typeface="Agrandir Bold"/>
              </a:rPr>
              <a:t>nd-to-end analytics workflow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9416" y="2841022"/>
            <a:ext cx="6632046" cy="467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1"/>
              </a:lnSpc>
            </a:pPr>
            <a:r>
              <a:rPr lang="en-US" sz="2181" b="true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Integrated multiple logistics-related tables into a unified data model  </a:t>
            </a:r>
          </a:p>
          <a:p>
            <a:pPr algn="just">
              <a:lnSpc>
                <a:spcPts val="2661"/>
              </a:lnSpc>
            </a:pPr>
          </a:p>
          <a:p>
            <a:pPr algn="just">
              <a:lnSpc>
                <a:spcPts val="2661"/>
              </a:lnSpc>
            </a:pPr>
            <a:r>
              <a:rPr lang="en-US" sz="2181" b="true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Established relationships between orders, drivers, vehicles, hubs, and date tables  </a:t>
            </a:r>
          </a:p>
          <a:p>
            <a:pPr algn="just">
              <a:lnSpc>
                <a:spcPts val="2661"/>
              </a:lnSpc>
            </a:pPr>
          </a:p>
          <a:p>
            <a:pPr algn="just">
              <a:lnSpc>
                <a:spcPts val="2661"/>
              </a:lnSpc>
            </a:pPr>
            <a:r>
              <a:rPr lang="en-US" sz="2181" b="true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Created calculated measures and KPIs using DAX formulas  </a:t>
            </a:r>
          </a:p>
          <a:p>
            <a:pPr algn="just">
              <a:lnSpc>
                <a:spcPts val="2661"/>
              </a:lnSpc>
            </a:pPr>
          </a:p>
          <a:p>
            <a:pPr algn="just">
              <a:lnSpc>
                <a:spcPts val="2661"/>
              </a:lnSpc>
            </a:pPr>
            <a:r>
              <a:rPr lang="en-US" sz="2181" b="true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Applied data modeling techniques to improve reporting performance  </a:t>
            </a:r>
          </a:p>
          <a:p>
            <a:pPr algn="just">
              <a:lnSpc>
                <a:spcPts val="2661"/>
              </a:lnSpc>
            </a:pPr>
          </a:p>
          <a:p>
            <a:pPr algn="just">
              <a:lnSpc>
                <a:spcPts val="2661"/>
              </a:lnSpc>
            </a:pPr>
            <a:r>
              <a:rPr lang="en-US" sz="2181" b="true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Designed scalable and interactive dashboards for operational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25353" y="-88321"/>
            <a:ext cx="8893211" cy="150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80"/>
              </a:lnSpc>
            </a:pPr>
            <a:r>
              <a:rPr lang="en-US" sz="877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Data</a:t>
            </a:r>
            <a:r>
              <a:rPr lang="en-US" sz="877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&amp; 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9918" y="-1373718"/>
            <a:ext cx="2931597" cy="2931597"/>
          </a:xfrm>
          <a:custGeom>
            <a:avLst/>
            <a:gdLst/>
            <a:ahLst/>
            <a:cxnLst/>
            <a:rect r="r" b="b" t="t" l="l"/>
            <a:pathLst>
              <a:path h="2931597" w="2931597">
                <a:moveTo>
                  <a:pt x="0" y="0"/>
                </a:moveTo>
                <a:lnTo>
                  <a:pt x="2931597" y="0"/>
                </a:lnTo>
                <a:lnTo>
                  <a:pt x="2931597" y="2931597"/>
                </a:lnTo>
                <a:lnTo>
                  <a:pt x="0" y="293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75152">
            <a:off x="-2722723" y="1193110"/>
            <a:ext cx="13370159" cy="6066710"/>
          </a:xfrm>
          <a:custGeom>
            <a:avLst/>
            <a:gdLst/>
            <a:ahLst/>
            <a:cxnLst/>
            <a:rect r="r" b="b" t="t" l="l"/>
            <a:pathLst>
              <a:path h="6066710" w="13370159">
                <a:moveTo>
                  <a:pt x="0" y="0"/>
                </a:moveTo>
                <a:lnTo>
                  <a:pt x="13370160" y="0"/>
                </a:lnTo>
                <a:lnTo>
                  <a:pt x="13370160" y="6066710"/>
                </a:lnTo>
                <a:lnTo>
                  <a:pt x="0" y="6066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1369" y="4287158"/>
            <a:ext cx="6367481" cy="4979880"/>
            <a:chOff x="0" y="0"/>
            <a:chExt cx="8489974" cy="663983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4686" y="1751864"/>
              <a:ext cx="4949129" cy="4887975"/>
              <a:chOff x="0" y="0"/>
              <a:chExt cx="1142529" cy="112841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42529" cy="1128411"/>
              </a:xfrm>
              <a:custGeom>
                <a:avLst/>
                <a:gdLst/>
                <a:ahLst/>
                <a:cxnLst/>
                <a:rect r="r" b="b" t="t" l="l"/>
                <a:pathLst>
                  <a:path h="1128411" w="1142529">
                    <a:moveTo>
                      <a:pt x="91018" y="0"/>
                    </a:moveTo>
                    <a:lnTo>
                      <a:pt x="1051511" y="0"/>
                    </a:lnTo>
                    <a:cubicBezTo>
                      <a:pt x="1075651" y="0"/>
                      <a:pt x="1098801" y="9589"/>
                      <a:pt x="1115870" y="26658"/>
                    </a:cubicBezTo>
                    <a:cubicBezTo>
                      <a:pt x="1132939" y="43728"/>
                      <a:pt x="1142529" y="66878"/>
                      <a:pt x="1142529" y="91018"/>
                    </a:cubicBezTo>
                    <a:lnTo>
                      <a:pt x="1142529" y="1037394"/>
                    </a:lnTo>
                    <a:cubicBezTo>
                      <a:pt x="1142529" y="1061533"/>
                      <a:pt x="1132939" y="1084684"/>
                      <a:pt x="1115870" y="1101753"/>
                    </a:cubicBezTo>
                    <a:cubicBezTo>
                      <a:pt x="1098801" y="1118822"/>
                      <a:pt x="1075651" y="1128411"/>
                      <a:pt x="1051511" y="1128411"/>
                    </a:cubicBezTo>
                    <a:lnTo>
                      <a:pt x="91018" y="1128411"/>
                    </a:lnTo>
                    <a:cubicBezTo>
                      <a:pt x="66878" y="1128411"/>
                      <a:pt x="43728" y="1118822"/>
                      <a:pt x="26658" y="1101753"/>
                    </a:cubicBezTo>
                    <a:cubicBezTo>
                      <a:pt x="9589" y="1084684"/>
                      <a:pt x="0" y="1061533"/>
                      <a:pt x="0" y="1037394"/>
                    </a:cubicBezTo>
                    <a:lnTo>
                      <a:pt x="0" y="91018"/>
                    </a:lnTo>
                    <a:cubicBezTo>
                      <a:pt x="0" y="66878"/>
                      <a:pt x="9589" y="43728"/>
                      <a:pt x="26658" y="26658"/>
                    </a:cubicBezTo>
                    <a:cubicBezTo>
                      <a:pt x="43728" y="9589"/>
                      <a:pt x="66878" y="0"/>
                      <a:pt x="91018" y="0"/>
                    </a:cubicBezTo>
                    <a:close/>
                  </a:path>
                </a:pathLst>
              </a:custGeom>
              <a:solidFill>
                <a:srgbClr val="FAF1E6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23825"/>
                <a:ext cx="1142529" cy="1252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903644" y="2427074"/>
              <a:ext cx="3586330" cy="47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Orders Flow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53637" y="2154675"/>
              <a:ext cx="4451227" cy="3929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1"/>
                </a:lnSpc>
              </a:pP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Measures customer satisfaction with the delivery service and</a:t>
              </a: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 helps identify the impact of delays on customer experience.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true" flipV="false" rot="-2380564">
              <a:off x="107271" y="389366"/>
              <a:ext cx="1541613" cy="892209"/>
            </a:xfrm>
            <a:custGeom>
              <a:avLst/>
              <a:gdLst/>
              <a:ahLst/>
              <a:cxnLst/>
              <a:rect r="r" b="b" t="t" l="l"/>
              <a:pathLst>
                <a:path h="892209" w="1541613">
                  <a:moveTo>
                    <a:pt x="1541613" y="0"/>
                  </a:moveTo>
                  <a:lnTo>
                    <a:pt x="0" y="0"/>
                  </a:lnTo>
                  <a:lnTo>
                    <a:pt x="0" y="892208"/>
                  </a:lnTo>
                  <a:lnTo>
                    <a:pt x="1541613" y="892208"/>
                  </a:lnTo>
                  <a:lnTo>
                    <a:pt x="1541613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1115069">
            <a:off x="10001095" y="5958428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2" y="0"/>
                </a:lnTo>
                <a:lnTo>
                  <a:pt x="13404372" y="6082234"/>
                </a:lnTo>
                <a:lnTo>
                  <a:pt x="0" y="6082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81370" y="4287158"/>
            <a:ext cx="6368547" cy="4956586"/>
            <a:chOff x="0" y="0"/>
            <a:chExt cx="8491396" cy="660878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714980"/>
              <a:ext cx="5001644" cy="4893802"/>
              <a:chOff x="0" y="0"/>
              <a:chExt cx="1142529" cy="11178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42529" cy="1117894"/>
              </a:xfrm>
              <a:custGeom>
                <a:avLst/>
                <a:gdLst/>
                <a:ahLst/>
                <a:cxnLst/>
                <a:rect r="r" b="b" t="t" l="l"/>
                <a:pathLst>
                  <a:path h="1117894" w="1142529">
                    <a:moveTo>
                      <a:pt x="91018" y="0"/>
                    </a:moveTo>
                    <a:lnTo>
                      <a:pt x="1051511" y="0"/>
                    </a:lnTo>
                    <a:cubicBezTo>
                      <a:pt x="1075651" y="0"/>
                      <a:pt x="1098801" y="9589"/>
                      <a:pt x="1115870" y="26658"/>
                    </a:cubicBezTo>
                    <a:cubicBezTo>
                      <a:pt x="1132939" y="43728"/>
                      <a:pt x="1142529" y="66878"/>
                      <a:pt x="1142529" y="91018"/>
                    </a:cubicBezTo>
                    <a:lnTo>
                      <a:pt x="1142529" y="1026877"/>
                    </a:lnTo>
                    <a:cubicBezTo>
                      <a:pt x="1142529" y="1051016"/>
                      <a:pt x="1132939" y="1074167"/>
                      <a:pt x="1115870" y="1091236"/>
                    </a:cubicBezTo>
                    <a:cubicBezTo>
                      <a:pt x="1098801" y="1108305"/>
                      <a:pt x="1075651" y="1117894"/>
                      <a:pt x="1051511" y="1117894"/>
                    </a:cubicBezTo>
                    <a:lnTo>
                      <a:pt x="91018" y="1117894"/>
                    </a:lnTo>
                    <a:cubicBezTo>
                      <a:pt x="66878" y="1117894"/>
                      <a:pt x="43728" y="1108305"/>
                      <a:pt x="26658" y="1091236"/>
                    </a:cubicBezTo>
                    <a:cubicBezTo>
                      <a:pt x="9589" y="1074167"/>
                      <a:pt x="0" y="1051016"/>
                      <a:pt x="0" y="1026877"/>
                    </a:cubicBezTo>
                    <a:lnTo>
                      <a:pt x="0" y="91018"/>
                    </a:lnTo>
                    <a:cubicBezTo>
                      <a:pt x="0" y="66878"/>
                      <a:pt x="9589" y="43728"/>
                      <a:pt x="26658" y="26658"/>
                    </a:cubicBezTo>
                    <a:cubicBezTo>
                      <a:pt x="43728" y="9589"/>
                      <a:pt x="66878" y="0"/>
                      <a:pt x="91018" y="0"/>
                    </a:cubicBezTo>
                    <a:close/>
                  </a:path>
                </a:pathLst>
              </a:custGeom>
              <a:solidFill>
                <a:srgbClr val="FAF1E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23825"/>
                <a:ext cx="1142529" cy="12417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867012" y="918438"/>
              <a:ext cx="3624385" cy="478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8"/>
                </a:lnSpc>
              </a:pPr>
              <a:r>
                <a:rPr lang="en-US" b="true" sz="2248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Orders Flow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24059" y="2128236"/>
              <a:ext cx="4553527" cy="368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Shows the percentage of orders delivered on schedule and reflect</a:t>
              </a: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s delivery reliability, service efficiency, and the company’s ability to meet customer expectations.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7411107">
              <a:off x="1998036" y="243334"/>
              <a:ext cx="1015181" cy="803262"/>
            </a:xfrm>
            <a:custGeom>
              <a:avLst/>
              <a:gdLst/>
              <a:ahLst/>
              <a:cxnLst/>
              <a:rect r="r" b="b" t="t" l="l"/>
              <a:pathLst>
                <a:path h="803262" w="1015181">
                  <a:moveTo>
                    <a:pt x="0" y="0"/>
                  </a:moveTo>
                  <a:lnTo>
                    <a:pt x="1015181" y="0"/>
                  </a:lnTo>
                  <a:lnTo>
                    <a:pt x="1015181" y="803262"/>
                  </a:lnTo>
                  <a:lnTo>
                    <a:pt x="0" y="80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52057" y="4290408"/>
            <a:ext cx="3711847" cy="4999922"/>
            <a:chOff x="0" y="0"/>
            <a:chExt cx="4949129" cy="666656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716472"/>
              <a:ext cx="4949129" cy="4950091"/>
              <a:chOff x="0" y="0"/>
              <a:chExt cx="1142529" cy="114275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42529" cy="1142751"/>
              </a:xfrm>
              <a:custGeom>
                <a:avLst/>
                <a:gdLst/>
                <a:ahLst/>
                <a:cxnLst/>
                <a:rect r="r" b="b" t="t" l="l"/>
                <a:pathLst>
                  <a:path h="1142751" w="1142529">
                    <a:moveTo>
                      <a:pt x="106372" y="0"/>
                    </a:moveTo>
                    <a:lnTo>
                      <a:pt x="1036156" y="0"/>
                    </a:lnTo>
                    <a:cubicBezTo>
                      <a:pt x="1094904" y="0"/>
                      <a:pt x="1142529" y="47625"/>
                      <a:pt x="1142529" y="106372"/>
                    </a:cubicBezTo>
                    <a:lnTo>
                      <a:pt x="1142529" y="1036379"/>
                    </a:lnTo>
                    <a:cubicBezTo>
                      <a:pt x="1142529" y="1064590"/>
                      <a:pt x="1131322" y="1091646"/>
                      <a:pt x="1111373" y="1111595"/>
                    </a:cubicBezTo>
                    <a:cubicBezTo>
                      <a:pt x="1091424" y="1131544"/>
                      <a:pt x="1064368" y="1142751"/>
                      <a:pt x="1036156" y="1142751"/>
                    </a:cubicBezTo>
                    <a:lnTo>
                      <a:pt x="106372" y="1142751"/>
                    </a:lnTo>
                    <a:cubicBezTo>
                      <a:pt x="78161" y="1142751"/>
                      <a:pt x="51104" y="1131544"/>
                      <a:pt x="31156" y="1111595"/>
                    </a:cubicBezTo>
                    <a:cubicBezTo>
                      <a:pt x="11207" y="1091646"/>
                      <a:pt x="0" y="1064590"/>
                      <a:pt x="0" y="1036379"/>
                    </a:cubicBezTo>
                    <a:lnTo>
                      <a:pt x="0" y="106372"/>
                    </a:lnTo>
                    <a:cubicBezTo>
                      <a:pt x="0" y="78161"/>
                      <a:pt x="11207" y="51104"/>
                      <a:pt x="31156" y="31156"/>
                    </a:cubicBezTo>
                    <a:cubicBezTo>
                      <a:pt x="51104" y="11207"/>
                      <a:pt x="78161" y="0"/>
                      <a:pt x="106372" y="0"/>
                    </a:cubicBezTo>
                    <a:close/>
                  </a:path>
                </a:pathLst>
              </a:custGeom>
              <a:solidFill>
                <a:srgbClr val="FAF1E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23825"/>
                <a:ext cx="1142529" cy="1266576"/>
              </a:xfrm>
              <a:prstGeom prst="rect">
                <a:avLst/>
              </a:prstGeom>
            </p:spPr>
            <p:txBody>
              <a:bodyPr anchor="ctr" rtlCol="false" tIns="43467" lIns="43467" bIns="43467" rIns="43467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3056" y="2130756"/>
              <a:ext cx="4553527" cy="368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Tracks the average time required to complete deliverie</a:t>
              </a: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s and helps evaluate operational efficiency, delivery speed, and potential delays in the logistics process.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true" rot="3503074">
              <a:off x="1805184" y="241167"/>
              <a:ext cx="1015181" cy="803262"/>
            </a:xfrm>
            <a:custGeom>
              <a:avLst/>
              <a:gdLst/>
              <a:ahLst/>
              <a:cxnLst/>
              <a:rect r="r" b="b" t="t" l="l"/>
              <a:pathLst>
                <a:path h="803262" w="1015181">
                  <a:moveTo>
                    <a:pt x="0" y="803262"/>
                  </a:moveTo>
                  <a:lnTo>
                    <a:pt x="1015181" y="803262"/>
                  </a:lnTo>
                  <a:lnTo>
                    <a:pt x="1015181" y="0"/>
                  </a:lnTo>
                  <a:lnTo>
                    <a:pt x="0" y="0"/>
                  </a:lnTo>
                  <a:lnTo>
                    <a:pt x="0" y="803262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894197" y="4266811"/>
            <a:ext cx="6138966" cy="5052230"/>
            <a:chOff x="0" y="0"/>
            <a:chExt cx="8185288" cy="673630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778993"/>
              <a:ext cx="4949129" cy="4957314"/>
              <a:chOff x="0" y="0"/>
              <a:chExt cx="1142529" cy="114441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42529" cy="1144418"/>
              </a:xfrm>
              <a:custGeom>
                <a:avLst/>
                <a:gdLst/>
                <a:ahLst/>
                <a:cxnLst/>
                <a:rect r="r" b="b" t="t" l="l"/>
                <a:pathLst>
                  <a:path h="1144418" w="1142529">
                    <a:moveTo>
                      <a:pt x="91018" y="0"/>
                    </a:moveTo>
                    <a:lnTo>
                      <a:pt x="1051511" y="0"/>
                    </a:lnTo>
                    <a:cubicBezTo>
                      <a:pt x="1075651" y="0"/>
                      <a:pt x="1098801" y="9589"/>
                      <a:pt x="1115870" y="26658"/>
                    </a:cubicBezTo>
                    <a:cubicBezTo>
                      <a:pt x="1132939" y="43728"/>
                      <a:pt x="1142529" y="66878"/>
                      <a:pt x="1142529" y="91018"/>
                    </a:cubicBezTo>
                    <a:lnTo>
                      <a:pt x="1142529" y="1053401"/>
                    </a:lnTo>
                    <a:cubicBezTo>
                      <a:pt x="1142529" y="1077540"/>
                      <a:pt x="1132939" y="1100691"/>
                      <a:pt x="1115870" y="1117760"/>
                    </a:cubicBezTo>
                    <a:cubicBezTo>
                      <a:pt x="1098801" y="1134829"/>
                      <a:pt x="1075651" y="1144418"/>
                      <a:pt x="1051511" y="1144418"/>
                    </a:cubicBezTo>
                    <a:lnTo>
                      <a:pt x="91018" y="1144418"/>
                    </a:lnTo>
                    <a:cubicBezTo>
                      <a:pt x="66878" y="1144418"/>
                      <a:pt x="43728" y="1134829"/>
                      <a:pt x="26658" y="1117760"/>
                    </a:cubicBezTo>
                    <a:cubicBezTo>
                      <a:pt x="9589" y="1100691"/>
                      <a:pt x="0" y="1077540"/>
                      <a:pt x="0" y="1053401"/>
                    </a:cubicBezTo>
                    <a:lnTo>
                      <a:pt x="0" y="91018"/>
                    </a:lnTo>
                    <a:cubicBezTo>
                      <a:pt x="0" y="66878"/>
                      <a:pt x="9589" y="43728"/>
                      <a:pt x="26658" y="26658"/>
                    </a:cubicBezTo>
                    <a:cubicBezTo>
                      <a:pt x="43728" y="9589"/>
                      <a:pt x="66878" y="0"/>
                      <a:pt x="91018" y="0"/>
                    </a:cubicBezTo>
                    <a:close/>
                  </a:path>
                </a:pathLst>
              </a:custGeom>
              <a:solidFill>
                <a:srgbClr val="FAF1E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23825"/>
                <a:ext cx="1142529" cy="12682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598958" y="2454203"/>
              <a:ext cx="3586330" cy="47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4"/>
                </a:lnSpc>
              </a:pPr>
              <a:r>
                <a:rPr lang="en-US" b="true" sz="2224">
                  <a:solidFill>
                    <a:srgbClr val="FEFEFE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Orders Flow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48752" y="2093971"/>
              <a:ext cx="4553527" cy="368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Represents the total number of processed delivery orders an</a:t>
              </a:r>
              <a:r>
                <a:rPr lang="en-US" sz="2083" b="true">
                  <a:solidFill>
                    <a:srgbClr val="000000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d provides insight into operational workload, delivery demand, and overall business activity.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true" flipV="true" rot="-7033185">
              <a:off x="3544732" y="443392"/>
              <a:ext cx="1541613" cy="892209"/>
            </a:xfrm>
            <a:custGeom>
              <a:avLst/>
              <a:gdLst/>
              <a:ahLst/>
              <a:cxnLst/>
              <a:rect r="r" b="b" t="t" l="l"/>
              <a:pathLst>
                <a:path h="892209" w="1541613">
                  <a:moveTo>
                    <a:pt x="1541613" y="892209"/>
                  </a:moveTo>
                  <a:lnTo>
                    <a:pt x="0" y="892209"/>
                  </a:lnTo>
                  <a:lnTo>
                    <a:pt x="0" y="0"/>
                  </a:lnTo>
                  <a:lnTo>
                    <a:pt x="1541613" y="0"/>
                  </a:lnTo>
                  <a:lnTo>
                    <a:pt x="1541613" y="89220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130851" y="9319041"/>
            <a:ext cx="2013826" cy="201382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19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1006913" y="-798848"/>
            <a:ext cx="2013826" cy="2013826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19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30316" y="2165990"/>
            <a:ext cx="3862957" cy="2060475"/>
          </a:xfrm>
          <a:custGeom>
            <a:avLst/>
            <a:gdLst/>
            <a:ahLst/>
            <a:cxnLst/>
            <a:rect r="r" b="b" t="t" l="l"/>
            <a:pathLst>
              <a:path h="2060475" w="3862957">
                <a:moveTo>
                  <a:pt x="0" y="0"/>
                </a:moveTo>
                <a:lnTo>
                  <a:pt x="3862956" y="0"/>
                </a:lnTo>
                <a:lnTo>
                  <a:pt x="3862956" y="2060475"/>
                </a:lnTo>
                <a:lnTo>
                  <a:pt x="0" y="20604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874" t="-5091" r="-2947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160199" y="2142079"/>
            <a:ext cx="3965938" cy="2097097"/>
          </a:xfrm>
          <a:custGeom>
            <a:avLst/>
            <a:gdLst/>
            <a:ahLst/>
            <a:cxnLst/>
            <a:rect r="r" b="b" t="t" l="l"/>
            <a:pathLst>
              <a:path h="2097097" w="3965938">
                <a:moveTo>
                  <a:pt x="0" y="0"/>
                </a:moveTo>
                <a:lnTo>
                  <a:pt x="3965938" y="0"/>
                </a:lnTo>
                <a:lnTo>
                  <a:pt x="3965938" y="2097097"/>
                </a:lnTo>
                <a:lnTo>
                  <a:pt x="0" y="2097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759169" y="2130919"/>
            <a:ext cx="3841443" cy="2211310"/>
          </a:xfrm>
          <a:custGeom>
            <a:avLst/>
            <a:gdLst/>
            <a:ahLst/>
            <a:cxnLst/>
            <a:rect r="r" b="b" t="t" l="l"/>
            <a:pathLst>
              <a:path h="2211310" w="3841443">
                <a:moveTo>
                  <a:pt x="0" y="0"/>
                </a:moveTo>
                <a:lnTo>
                  <a:pt x="3841443" y="0"/>
                </a:lnTo>
                <a:lnTo>
                  <a:pt x="3841443" y="2211310"/>
                </a:lnTo>
                <a:lnTo>
                  <a:pt x="0" y="221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37918" y="2275429"/>
            <a:ext cx="3852561" cy="2023287"/>
          </a:xfrm>
          <a:custGeom>
            <a:avLst/>
            <a:gdLst/>
            <a:ahLst/>
            <a:cxnLst/>
            <a:rect r="r" b="b" t="t" l="l"/>
            <a:pathLst>
              <a:path h="2023287" w="3852561">
                <a:moveTo>
                  <a:pt x="0" y="0"/>
                </a:moveTo>
                <a:lnTo>
                  <a:pt x="3852561" y="0"/>
                </a:lnTo>
                <a:lnTo>
                  <a:pt x="3852561" y="2023287"/>
                </a:lnTo>
                <a:lnTo>
                  <a:pt x="0" y="20232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11369" y="1434054"/>
            <a:ext cx="18076631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71001C"/>
                </a:solidFill>
                <a:latin typeface="Agrandir Bold"/>
                <a:ea typeface="Agrandir Bold"/>
                <a:cs typeface="Agrandir Bold"/>
                <a:sym typeface="Agrandir Bold"/>
              </a:rPr>
              <a:t>We developed key perform</a:t>
            </a:r>
            <a:r>
              <a:rPr lang="en-US" b="true" sz="2500">
                <a:solidFill>
                  <a:srgbClr val="71001C"/>
                </a:solidFill>
                <a:latin typeface="Agrandir Bold"/>
                <a:ea typeface="Agrandir Bold"/>
                <a:cs typeface="Agrandir Bold"/>
                <a:sym typeface="Agrandir Bold"/>
              </a:rPr>
              <a:t>ance indicators to measure logistics efficiency and monitor operational performance.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01097" y="104075"/>
            <a:ext cx="12666667" cy="12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7"/>
              </a:lnSpc>
            </a:pPr>
            <a:r>
              <a:rPr lang="en-US" sz="724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Key Performance Indicators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9646" y="8150560"/>
            <a:ext cx="3239701" cy="3239701"/>
          </a:xfrm>
          <a:custGeom>
            <a:avLst/>
            <a:gdLst/>
            <a:ahLst/>
            <a:cxnLst/>
            <a:rect r="r" b="b" t="t" l="l"/>
            <a:pathLst>
              <a:path h="3239701" w="3239701">
                <a:moveTo>
                  <a:pt x="0" y="0"/>
                </a:moveTo>
                <a:lnTo>
                  <a:pt x="3239701" y="0"/>
                </a:lnTo>
                <a:lnTo>
                  <a:pt x="3239701" y="3239701"/>
                </a:lnTo>
                <a:lnTo>
                  <a:pt x="0" y="323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366">
            <a:off x="6027768" y="6351148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1" y="0"/>
                </a:lnTo>
                <a:lnTo>
                  <a:pt x="13404371" y="6082233"/>
                </a:lnTo>
                <a:lnTo>
                  <a:pt x="0" y="6082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074" y="2581270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074" y="3687073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074" y="4623141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74" y="5705777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74" y="6815135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074" y="7924493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72912" y="-15619"/>
            <a:ext cx="1959724" cy="1959724"/>
          </a:xfrm>
          <a:custGeom>
            <a:avLst/>
            <a:gdLst/>
            <a:ahLst/>
            <a:cxnLst/>
            <a:rect r="r" b="b" t="t" l="l"/>
            <a:pathLst>
              <a:path h="1959724" w="1959724">
                <a:moveTo>
                  <a:pt x="0" y="0"/>
                </a:moveTo>
                <a:lnTo>
                  <a:pt x="1959724" y="0"/>
                </a:lnTo>
                <a:lnTo>
                  <a:pt x="1959724" y="1959724"/>
                </a:lnTo>
                <a:lnTo>
                  <a:pt x="0" y="1959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006913" y="-798848"/>
            <a:ext cx="2013826" cy="20138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1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1556" y="2457445"/>
            <a:ext cx="8677529" cy="680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The dashboard shows a total of 25852 processed orders during the selected period.</a:t>
            </a:r>
          </a:p>
          <a:p>
            <a:pPr algn="just">
              <a:lnSpc>
                <a:spcPts val="1527"/>
              </a:lnSpc>
            </a:pPr>
          </a:p>
          <a:p>
            <a:pPr algn="just">
              <a:lnSpc>
                <a:spcPts val="3054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On-time delivery rate reached 79.6%, which reflects overall delivery performance and operational efficiency.</a:t>
            </a:r>
          </a:p>
          <a:p>
            <a:pPr algn="just" rtl="true">
              <a:lnSpc>
                <a:spcPts val="1090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Customer satisfaction scored 84.4%, indicating generally positive customer experience.</a:t>
            </a:r>
          </a:p>
          <a:p>
            <a:pPr algn="just">
              <a:lnSpc>
                <a:spcPts val="1418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Vehicle maintenance represented 26.67% of the fleet status, highlighting the importance of maintenance management.</a:t>
            </a:r>
          </a:p>
          <a:p>
            <a:pPr algn="just">
              <a:lnSpc>
                <a:spcPts val="1614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Houston Hub processed the highest number of orders compared to other hubs.</a:t>
            </a:r>
          </a:p>
          <a:p>
            <a:pPr algn="just">
              <a:lnSpc>
                <a:spcPts val="1090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Some drivers recorded higher delayed delivery rates, helping identify performance gaps.</a:t>
            </a:r>
          </a:p>
          <a:p>
            <a:pPr algn="just">
              <a:lnSpc>
                <a:spcPts val="3818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8411367" y="3142793"/>
            <a:ext cx="10513181" cy="6030234"/>
            <a:chOff x="0" y="0"/>
            <a:chExt cx="14017575" cy="8040312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0" y="0"/>
              <a:ext cx="14017575" cy="8040312"/>
              <a:chOff x="0" y="0"/>
              <a:chExt cx="7981950" cy="45783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765810" y="21590"/>
                <a:ext cx="6451600" cy="4326890"/>
              </a:xfrm>
              <a:custGeom>
                <a:avLst/>
                <a:gdLst/>
                <a:ahLst/>
                <a:cxnLst/>
                <a:rect r="r" b="b" t="t" l="l"/>
                <a:pathLst>
                  <a:path h="4326890" w="6451600">
                    <a:moveTo>
                      <a:pt x="6224270" y="0"/>
                    </a:moveTo>
                    <a:lnTo>
                      <a:pt x="226060" y="0"/>
                    </a:lnTo>
                    <a:cubicBezTo>
                      <a:pt x="101600" y="0"/>
                      <a:pt x="0" y="101600"/>
                      <a:pt x="0" y="226060"/>
                    </a:cubicBezTo>
                    <a:lnTo>
                      <a:pt x="0" y="4326890"/>
                    </a:lnTo>
                    <a:lnTo>
                      <a:pt x="6451601" y="4326890"/>
                    </a:lnTo>
                    <a:lnTo>
                      <a:pt x="6451601" y="226060"/>
                    </a:lnTo>
                    <a:cubicBezTo>
                      <a:pt x="6450331" y="101600"/>
                      <a:pt x="6348731" y="0"/>
                      <a:pt x="6224270" y="0"/>
                    </a:cubicBezTo>
                    <a:close/>
                    <a:moveTo>
                      <a:pt x="6252210" y="4043680"/>
                    </a:moveTo>
                    <a:lnTo>
                      <a:pt x="196851" y="4043680"/>
                    </a:lnTo>
                    <a:lnTo>
                      <a:pt x="196851" y="255270"/>
                    </a:lnTo>
                    <a:lnTo>
                      <a:pt x="6252210" y="255270"/>
                    </a:lnTo>
                    <a:lnTo>
                      <a:pt x="6252210" y="40436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81950" cy="4542790"/>
              </a:xfrm>
              <a:custGeom>
                <a:avLst/>
                <a:gdLst/>
                <a:ahLst/>
                <a:cxnLst/>
                <a:rect r="r" b="b" t="t" l="l"/>
                <a:pathLst>
                  <a:path h="4542790" w="7981950">
                    <a:moveTo>
                      <a:pt x="7239000" y="4348480"/>
                    </a:moveTo>
                    <a:lnTo>
                      <a:pt x="7239000" y="243840"/>
                    </a:lnTo>
                    <a:cubicBezTo>
                      <a:pt x="7239000" y="109220"/>
                      <a:pt x="7129780" y="0"/>
                      <a:pt x="6995160" y="0"/>
                    </a:cubicBezTo>
                    <a:lnTo>
                      <a:pt x="985520" y="0"/>
                    </a:lnTo>
                    <a:cubicBezTo>
                      <a:pt x="852170" y="0"/>
                      <a:pt x="742950" y="109220"/>
                      <a:pt x="742950" y="243840"/>
                    </a:cubicBezTo>
                    <a:lnTo>
                      <a:pt x="742950" y="4349750"/>
                    </a:lnTo>
                    <a:lnTo>
                      <a:pt x="0" y="4349750"/>
                    </a:lnTo>
                    <a:lnTo>
                      <a:pt x="0" y="4447540"/>
                    </a:lnTo>
                    <a:cubicBezTo>
                      <a:pt x="0" y="4500880"/>
                      <a:pt x="43180" y="4542790"/>
                      <a:pt x="95250" y="4542790"/>
                    </a:cubicBezTo>
                    <a:lnTo>
                      <a:pt x="7886700" y="4542790"/>
                    </a:lnTo>
                    <a:cubicBezTo>
                      <a:pt x="7940040" y="4542790"/>
                      <a:pt x="7981950" y="4499610"/>
                      <a:pt x="7981950" y="4447540"/>
                    </a:cubicBezTo>
                    <a:lnTo>
                      <a:pt x="7981950" y="4349750"/>
                    </a:lnTo>
                    <a:lnTo>
                      <a:pt x="7239000" y="4349750"/>
                    </a:lnTo>
                    <a:close/>
                    <a:moveTo>
                      <a:pt x="4519930" y="4348480"/>
                    </a:moveTo>
                    <a:lnTo>
                      <a:pt x="4519930" y="4349750"/>
                    </a:lnTo>
                    <a:cubicBezTo>
                      <a:pt x="4519930" y="4403090"/>
                      <a:pt x="4476750" y="4445000"/>
                      <a:pt x="4424680" y="4445000"/>
                    </a:cubicBezTo>
                    <a:lnTo>
                      <a:pt x="3557270" y="4445000"/>
                    </a:lnTo>
                    <a:cubicBezTo>
                      <a:pt x="3503930" y="4445000"/>
                      <a:pt x="3462020" y="4401820"/>
                      <a:pt x="3462020" y="4349750"/>
                    </a:cubicBezTo>
                    <a:lnTo>
                      <a:pt x="3462020" y="4348480"/>
                    </a:lnTo>
                    <a:lnTo>
                      <a:pt x="765810" y="4348480"/>
                    </a:lnTo>
                    <a:lnTo>
                      <a:pt x="765810" y="247650"/>
                    </a:lnTo>
                    <a:cubicBezTo>
                      <a:pt x="765810" y="123190"/>
                      <a:pt x="867410" y="21590"/>
                      <a:pt x="991870" y="21590"/>
                    </a:cubicBezTo>
                    <a:lnTo>
                      <a:pt x="6990080" y="21590"/>
                    </a:lnTo>
                    <a:cubicBezTo>
                      <a:pt x="7114539" y="21590"/>
                      <a:pt x="7216139" y="123190"/>
                      <a:pt x="7216139" y="247650"/>
                    </a:cubicBezTo>
                    <a:lnTo>
                      <a:pt x="7216139" y="4348480"/>
                    </a:lnTo>
                    <a:lnTo>
                      <a:pt x="4519930" y="4348480"/>
                    </a:ln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3460750" y="4349750"/>
                <a:ext cx="1059180" cy="96520"/>
              </a:xfrm>
              <a:custGeom>
                <a:avLst/>
                <a:gdLst/>
                <a:ahLst/>
                <a:cxnLst/>
                <a:rect r="r" b="b" t="t" l="l"/>
                <a:pathLst>
                  <a:path h="96520" w="1059180">
                    <a:moveTo>
                      <a:pt x="96520" y="96520"/>
                    </a:moveTo>
                    <a:lnTo>
                      <a:pt x="963930" y="96520"/>
                    </a:lnTo>
                    <a:cubicBezTo>
                      <a:pt x="1017270" y="96520"/>
                      <a:pt x="1059180" y="53340"/>
                      <a:pt x="1059180" y="1270"/>
                    </a:cubicBezTo>
                    <a:lnTo>
                      <a:pt x="1059180" y="0"/>
                    </a:lnTo>
                    <a:lnTo>
                      <a:pt x="0" y="0"/>
                    </a:lnTo>
                    <a:lnTo>
                      <a:pt x="0" y="1270"/>
                    </a:lnTo>
                    <a:cubicBezTo>
                      <a:pt x="0" y="53340"/>
                      <a:pt x="43180" y="96520"/>
                      <a:pt x="96520" y="96520"/>
                    </a:cubicBezTo>
                    <a:close/>
                  </a:path>
                </a:pathLst>
              </a:custGeom>
              <a:solidFill>
                <a:srgbClr val="6C5358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163830" y="4542790"/>
                <a:ext cx="7654290" cy="35560"/>
              </a:xfrm>
              <a:custGeom>
                <a:avLst/>
                <a:gdLst/>
                <a:ahLst/>
                <a:cxnLst/>
                <a:rect r="r" b="b" t="t" l="l"/>
                <a:pathLst>
                  <a:path h="35560" w="7654290">
                    <a:moveTo>
                      <a:pt x="0" y="0"/>
                    </a:moveTo>
                    <a:cubicBezTo>
                      <a:pt x="0" y="20320"/>
                      <a:pt x="16510" y="35560"/>
                      <a:pt x="35560" y="35560"/>
                    </a:cubicBezTo>
                    <a:lnTo>
                      <a:pt x="7618730" y="35560"/>
                    </a:lnTo>
                    <a:cubicBezTo>
                      <a:pt x="7639050" y="35560"/>
                      <a:pt x="7654290" y="19050"/>
                      <a:pt x="765429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962660" y="276860"/>
                <a:ext cx="6055360" cy="3789680"/>
              </a:xfrm>
              <a:custGeom>
                <a:avLst/>
                <a:gdLst/>
                <a:ahLst/>
                <a:cxnLst/>
                <a:rect r="r" b="b" t="t" l="l"/>
                <a:pathLst>
                  <a:path h="3789680" w="6055360">
                    <a:moveTo>
                      <a:pt x="0" y="0"/>
                    </a:moveTo>
                    <a:lnTo>
                      <a:pt x="6055360" y="0"/>
                    </a:lnTo>
                    <a:lnTo>
                      <a:pt x="6055360" y="3789680"/>
                    </a:lnTo>
                    <a:lnTo>
                      <a:pt x="0" y="378968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46997" t="-7305" r="-47018" b="-13505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630615" y="217820"/>
              <a:ext cx="10759853" cy="7048653"/>
              <a:chOff x="0" y="0"/>
              <a:chExt cx="2125403" cy="139232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25403" cy="1392327"/>
              </a:xfrm>
              <a:custGeom>
                <a:avLst/>
                <a:gdLst/>
                <a:ahLst/>
                <a:cxnLst/>
                <a:rect r="r" b="b" t="t" l="l"/>
                <a:pathLst>
                  <a:path h="1392327" w="2125403">
                    <a:moveTo>
                      <a:pt x="0" y="0"/>
                    </a:moveTo>
                    <a:lnTo>
                      <a:pt x="2125403" y="0"/>
                    </a:lnTo>
                    <a:lnTo>
                      <a:pt x="2125403" y="1392327"/>
                    </a:lnTo>
                    <a:lnTo>
                      <a:pt x="0" y="139232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23825"/>
                <a:ext cx="2125403" cy="1516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5199722" y="6978445"/>
              <a:ext cx="456044" cy="504363"/>
            </a:xfrm>
            <a:custGeom>
              <a:avLst/>
              <a:gdLst/>
              <a:ahLst/>
              <a:cxnLst/>
              <a:rect r="r" b="b" t="t" l="l"/>
              <a:pathLst>
                <a:path h="504363" w="456044">
                  <a:moveTo>
                    <a:pt x="0" y="0"/>
                  </a:moveTo>
                  <a:lnTo>
                    <a:pt x="456045" y="0"/>
                  </a:lnTo>
                  <a:lnTo>
                    <a:pt x="456045" y="504363"/>
                  </a:lnTo>
                  <a:lnTo>
                    <a:pt x="0" y="504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5577053" y="7240151"/>
              <a:ext cx="2723239" cy="371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06"/>
                </a:lnSpc>
              </a:pPr>
              <a:r>
                <a:rPr lang="en-US" sz="1875">
                  <a:solidFill>
                    <a:srgbClr val="703342"/>
                  </a:solidFill>
                  <a:latin typeface="Impact"/>
                  <a:ea typeface="Impact"/>
                  <a:cs typeface="Impact"/>
                  <a:sym typeface="Impact"/>
                </a:rPr>
                <a:t>WIFT HAUL COMPANY 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95958" y="3142793"/>
            <a:ext cx="9144000" cy="5292899"/>
            <a:chOff x="0" y="0"/>
            <a:chExt cx="7793262" cy="451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26351" y="158750"/>
              <a:ext cx="7140560" cy="4193540"/>
            </a:xfrm>
            <a:custGeom>
              <a:avLst/>
              <a:gdLst/>
              <a:ahLst/>
              <a:cxnLst/>
              <a:rect r="r" b="b" t="t" l="l"/>
              <a:pathLst>
                <a:path h="4193540" w="7140560">
                  <a:moveTo>
                    <a:pt x="0" y="0"/>
                  </a:moveTo>
                  <a:lnTo>
                    <a:pt x="7140560" y="0"/>
                  </a:lnTo>
                  <a:lnTo>
                    <a:pt x="7140560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12"/>
              <a:stretch>
                <a:fillRect l="-7828" t="0" r="-4260" b="-3287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436169" y="404230"/>
            <a:ext cx="10705697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Dashboard Analysis &amp; Insights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2269" y="1624700"/>
            <a:ext cx="7963165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verall view of logistics operations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515" y="8505825"/>
            <a:ext cx="3239701" cy="3239701"/>
          </a:xfrm>
          <a:custGeom>
            <a:avLst/>
            <a:gdLst/>
            <a:ahLst/>
            <a:cxnLst/>
            <a:rect r="r" b="b" t="t" l="l"/>
            <a:pathLst>
              <a:path h="3239701" w="3239701">
                <a:moveTo>
                  <a:pt x="0" y="0"/>
                </a:moveTo>
                <a:lnTo>
                  <a:pt x="3239701" y="0"/>
                </a:lnTo>
                <a:lnTo>
                  <a:pt x="3239701" y="3239701"/>
                </a:lnTo>
                <a:lnTo>
                  <a:pt x="0" y="323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366">
            <a:off x="6018243" y="6351148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1" y="0"/>
                </a:lnTo>
                <a:lnTo>
                  <a:pt x="13404371" y="6082233"/>
                </a:lnTo>
                <a:lnTo>
                  <a:pt x="0" y="6082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074" y="2549140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074" y="3687073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074" y="4881864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74" y="6076948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74" y="7195831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72912" y="-15619"/>
            <a:ext cx="1959724" cy="1959724"/>
          </a:xfrm>
          <a:custGeom>
            <a:avLst/>
            <a:gdLst/>
            <a:ahLst/>
            <a:cxnLst/>
            <a:rect r="r" b="b" t="t" l="l"/>
            <a:pathLst>
              <a:path h="1959724" w="1959724">
                <a:moveTo>
                  <a:pt x="0" y="0"/>
                </a:moveTo>
                <a:lnTo>
                  <a:pt x="1959724" y="0"/>
                </a:lnTo>
                <a:lnTo>
                  <a:pt x="1959724" y="1959724"/>
                </a:lnTo>
                <a:lnTo>
                  <a:pt x="0" y="1959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006913" y="-798848"/>
            <a:ext cx="2013826" cy="2013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19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91556" y="2457445"/>
            <a:ext cx="8677529" cy="561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Dallas Main Hub recorded the highest total and delayed orders among all hubs.</a:t>
            </a:r>
          </a:p>
          <a:p>
            <a:pPr algn="just">
              <a:lnSpc>
                <a:spcPts val="1854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Customer satisfaction scores decreased when deliveries were delayed.</a:t>
            </a:r>
          </a:p>
          <a:p>
            <a:pPr algn="just">
              <a:lnSpc>
                <a:spcPts val="1919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Some drivers maintained higher satisfaction scores de</a:t>
            </a: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spite operational challenges.</a:t>
            </a:r>
          </a:p>
          <a:p>
            <a:pPr algn="just">
              <a:lnSpc>
                <a:spcPts val="1832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The overall CSAT score reached 84.7%, indicating a generally positive customer experience.</a:t>
            </a:r>
          </a:p>
          <a:p>
            <a:pPr algn="just">
              <a:lnSpc>
                <a:spcPts val="1461"/>
              </a:lnSpc>
            </a:pPr>
          </a:p>
          <a:p>
            <a:pPr algn="just">
              <a:lnSpc>
                <a:spcPts val="381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Delayed orders varied significantly across hubs, highlighting operational performance differences.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50044" y="3228066"/>
            <a:ext cx="10513181" cy="6030234"/>
            <a:chOff x="0" y="0"/>
            <a:chExt cx="14017575" cy="8040312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0" y="0"/>
              <a:ext cx="14017575" cy="8040312"/>
              <a:chOff x="0" y="0"/>
              <a:chExt cx="7981950" cy="45783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765810" y="21590"/>
                <a:ext cx="6451600" cy="4326890"/>
              </a:xfrm>
              <a:custGeom>
                <a:avLst/>
                <a:gdLst/>
                <a:ahLst/>
                <a:cxnLst/>
                <a:rect r="r" b="b" t="t" l="l"/>
                <a:pathLst>
                  <a:path h="4326890" w="6451600">
                    <a:moveTo>
                      <a:pt x="6224270" y="0"/>
                    </a:moveTo>
                    <a:lnTo>
                      <a:pt x="226060" y="0"/>
                    </a:lnTo>
                    <a:cubicBezTo>
                      <a:pt x="101600" y="0"/>
                      <a:pt x="0" y="101600"/>
                      <a:pt x="0" y="226060"/>
                    </a:cubicBezTo>
                    <a:lnTo>
                      <a:pt x="0" y="4326890"/>
                    </a:lnTo>
                    <a:lnTo>
                      <a:pt x="6451601" y="4326890"/>
                    </a:lnTo>
                    <a:lnTo>
                      <a:pt x="6451601" y="226060"/>
                    </a:lnTo>
                    <a:cubicBezTo>
                      <a:pt x="6450331" y="101600"/>
                      <a:pt x="6348731" y="0"/>
                      <a:pt x="6224270" y="0"/>
                    </a:cubicBezTo>
                    <a:close/>
                    <a:moveTo>
                      <a:pt x="6252210" y="4043680"/>
                    </a:moveTo>
                    <a:lnTo>
                      <a:pt x="196851" y="4043680"/>
                    </a:lnTo>
                    <a:lnTo>
                      <a:pt x="196851" y="255270"/>
                    </a:lnTo>
                    <a:lnTo>
                      <a:pt x="6252210" y="255270"/>
                    </a:lnTo>
                    <a:lnTo>
                      <a:pt x="6252210" y="40436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981950" cy="4542790"/>
              </a:xfrm>
              <a:custGeom>
                <a:avLst/>
                <a:gdLst/>
                <a:ahLst/>
                <a:cxnLst/>
                <a:rect r="r" b="b" t="t" l="l"/>
                <a:pathLst>
                  <a:path h="4542790" w="7981950">
                    <a:moveTo>
                      <a:pt x="7239000" y="4348480"/>
                    </a:moveTo>
                    <a:lnTo>
                      <a:pt x="7239000" y="243840"/>
                    </a:lnTo>
                    <a:cubicBezTo>
                      <a:pt x="7239000" y="109220"/>
                      <a:pt x="7129780" y="0"/>
                      <a:pt x="6995160" y="0"/>
                    </a:cubicBezTo>
                    <a:lnTo>
                      <a:pt x="985520" y="0"/>
                    </a:lnTo>
                    <a:cubicBezTo>
                      <a:pt x="852170" y="0"/>
                      <a:pt x="742950" y="109220"/>
                      <a:pt x="742950" y="243840"/>
                    </a:cubicBezTo>
                    <a:lnTo>
                      <a:pt x="742950" y="4349750"/>
                    </a:lnTo>
                    <a:lnTo>
                      <a:pt x="0" y="4349750"/>
                    </a:lnTo>
                    <a:lnTo>
                      <a:pt x="0" y="4447540"/>
                    </a:lnTo>
                    <a:cubicBezTo>
                      <a:pt x="0" y="4500880"/>
                      <a:pt x="43180" y="4542790"/>
                      <a:pt x="95250" y="4542790"/>
                    </a:cubicBezTo>
                    <a:lnTo>
                      <a:pt x="7886700" y="4542790"/>
                    </a:lnTo>
                    <a:cubicBezTo>
                      <a:pt x="7940040" y="4542790"/>
                      <a:pt x="7981950" y="4499610"/>
                      <a:pt x="7981950" y="4447540"/>
                    </a:cubicBezTo>
                    <a:lnTo>
                      <a:pt x="7981950" y="4349750"/>
                    </a:lnTo>
                    <a:lnTo>
                      <a:pt x="7239000" y="4349750"/>
                    </a:lnTo>
                    <a:close/>
                    <a:moveTo>
                      <a:pt x="4519930" y="4348480"/>
                    </a:moveTo>
                    <a:lnTo>
                      <a:pt x="4519930" y="4349750"/>
                    </a:lnTo>
                    <a:cubicBezTo>
                      <a:pt x="4519930" y="4403090"/>
                      <a:pt x="4476750" y="4445000"/>
                      <a:pt x="4424680" y="4445000"/>
                    </a:cubicBezTo>
                    <a:lnTo>
                      <a:pt x="3557270" y="4445000"/>
                    </a:lnTo>
                    <a:cubicBezTo>
                      <a:pt x="3503930" y="4445000"/>
                      <a:pt x="3462020" y="4401820"/>
                      <a:pt x="3462020" y="4349750"/>
                    </a:cubicBezTo>
                    <a:lnTo>
                      <a:pt x="3462020" y="4348480"/>
                    </a:lnTo>
                    <a:lnTo>
                      <a:pt x="765810" y="4348480"/>
                    </a:lnTo>
                    <a:lnTo>
                      <a:pt x="765810" y="247650"/>
                    </a:lnTo>
                    <a:cubicBezTo>
                      <a:pt x="765810" y="123190"/>
                      <a:pt x="867410" y="21590"/>
                      <a:pt x="991870" y="21590"/>
                    </a:cubicBezTo>
                    <a:lnTo>
                      <a:pt x="6990080" y="21590"/>
                    </a:lnTo>
                    <a:cubicBezTo>
                      <a:pt x="7114539" y="21590"/>
                      <a:pt x="7216139" y="123190"/>
                      <a:pt x="7216139" y="247650"/>
                    </a:cubicBezTo>
                    <a:lnTo>
                      <a:pt x="7216139" y="4348480"/>
                    </a:lnTo>
                    <a:lnTo>
                      <a:pt x="4519930" y="4348480"/>
                    </a:lnTo>
                    <a:close/>
                  </a:path>
                </a:pathLst>
              </a:custGeom>
              <a:solidFill>
                <a:srgbClr val="633048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3460750" y="4349750"/>
                <a:ext cx="1059180" cy="96520"/>
              </a:xfrm>
              <a:custGeom>
                <a:avLst/>
                <a:gdLst/>
                <a:ahLst/>
                <a:cxnLst/>
                <a:rect r="r" b="b" t="t" l="l"/>
                <a:pathLst>
                  <a:path h="96520" w="1059180">
                    <a:moveTo>
                      <a:pt x="96520" y="96520"/>
                    </a:moveTo>
                    <a:lnTo>
                      <a:pt x="963930" y="96520"/>
                    </a:lnTo>
                    <a:cubicBezTo>
                      <a:pt x="1017270" y="96520"/>
                      <a:pt x="1059180" y="53340"/>
                      <a:pt x="1059180" y="1270"/>
                    </a:cubicBezTo>
                    <a:lnTo>
                      <a:pt x="1059180" y="0"/>
                    </a:lnTo>
                    <a:lnTo>
                      <a:pt x="0" y="0"/>
                    </a:lnTo>
                    <a:lnTo>
                      <a:pt x="0" y="1270"/>
                    </a:lnTo>
                    <a:cubicBezTo>
                      <a:pt x="0" y="53340"/>
                      <a:pt x="43180" y="96520"/>
                      <a:pt x="96520" y="96520"/>
                    </a:cubicBezTo>
                    <a:close/>
                  </a:path>
                </a:pathLst>
              </a:custGeom>
              <a:solidFill>
                <a:srgbClr val="6C5358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163830" y="4542790"/>
                <a:ext cx="7654290" cy="35560"/>
              </a:xfrm>
              <a:custGeom>
                <a:avLst/>
                <a:gdLst/>
                <a:ahLst/>
                <a:cxnLst/>
                <a:rect r="r" b="b" t="t" l="l"/>
                <a:pathLst>
                  <a:path h="35560" w="7654290">
                    <a:moveTo>
                      <a:pt x="0" y="0"/>
                    </a:moveTo>
                    <a:cubicBezTo>
                      <a:pt x="0" y="20320"/>
                      <a:pt x="16510" y="35560"/>
                      <a:pt x="35560" y="35560"/>
                    </a:cubicBezTo>
                    <a:lnTo>
                      <a:pt x="7618730" y="35560"/>
                    </a:lnTo>
                    <a:cubicBezTo>
                      <a:pt x="7639050" y="35560"/>
                      <a:pt x="7654290" y="19050"/>
                      <a:pt x="765429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962660" y="276860"/>
                <a:ext cx="6055360" cy="3789680"/>
              </a:xfrm>
              <a:custGeom>
                <a:avLst/>
                <a:gdLst/>
                <a:ahLst/>
                <a:cxnLst/>
                <a:rect r="r" b="b" t="t" l="l"/>
                <a:pathLst>
                  <a:path h="3789680" w="6055360">
                    <a:moveTo>
                      <a:pt x="0" y="0"/>
                    </a:moveTo>
                    <a:lnTo>
                      <a:pt x="6055360" y="0"/>
                    </a:lnTo>
                    <a:lnTo>
                      <a:pt x="6055360" y="3789680"/>
                    </a:lnTo>
                    <a:lnTo>
                      <a:pt x="0" y="378968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46997" t="-7305" r="-47018" b="-13505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28861" y="377817"/>
              <a:ext cx="10759853" cy="7166665"/>
              <a:chOff x="0" y="0"/>
              <a:chExt cx="2125403" cy="141563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25403" cy="1415638"/>
              </a:xfrm>
              <a:custGeom>
                <a:avLst/>
                <a:gdLst/>
                <a:ahLst/>
                <a:cxnLst/>
                <a:rect r="r" b="b" t="t" l="l"/>
                <a:pathLst>
                  <a:path h="1415638" w="2125403">
                    <a:moveTo>
                      <a:pt x="0" y="0"/>
                    </a:moveTo>
                    <a:lnTo>
                      <a:pt x="2125403" y="0"/>
                    </a:lnTo>
                    <a:lnTo>
                      <a:pt x="2125403" y="1415638"/>
                    </a:lnTo>
                    <a:lnTo>
                      <a:pt x="0" y="141563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23825"/>
                <a:ext cx="2125403" cy="15394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5014820" y="6940947"/>
              <a:ext cx="456044" cy="504363"/>
            </a:xfrm>
            <a:custGeom>
              <a:avLst/>
              <a:gdLst/>
              <a:ahLst/>
              <a:cxnLst/>
              <a:rect r="r" b="b" t="t" l="l"/>
              <a:pathLst>
                <a:path h="504363" w="456044">
                  <a:moveTo>
                    <a:pt x="0" y="0"/>
                  </a:moveTo>
                  <a:lnTo>
                    <a:pt x="456044" y="0"/>
                  </a:lnTo>
                  <a:lnTo>
                    <a:pt x="456044" y="504364"/>
                  </a:lnTo>
                  <a:lnTo>
                    <a:pt x="0" y="504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5420064" y="7189954"/>
              <a:ext cx="2723239" cy="371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06"/>
                </a:lnSpc>
              </a:pPr>
              <a:r>
                <a:rPr lang="en-US" sz="1875">
                  <a:solidFill>
                    <a:srgbClr val="703342"/>
                  </a:solidFill>
                  <a:latin typeface="Impact"/>
                  <a:ea typeface="Impact"/>
                  <a:cs typeface="Impact"/>
                  <a:sym typeface="Impact"/>
                </a:rPr>
                <a:t>WIFT HAUL COMPANY 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85431" y="3259455"/>
            <a:ext cx="9002569" cy="5246370"/>
            <a:chOff x="0" y="0"/>
            <a:chExt cx="7740771" cy="451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24153" y="158750"/>
              <a:ext cx="7092465" cy="4193540"/>
            </a:xfrm>
            <a:custGeom>
              <a:avLst/>
              <a:gdLst/>
              <a:ahLst/>
              <a:cxnLst/>
              <a:rect r="r" b="b" t="t" l="l"/>
              <a:pathLst>
                <a:path h="4193540" w="7092465">
                  <a:moveTo>
                    <a:pt x="0" y="0"/>
                  </a:moveTo>
                  <a:lnTo>
                    <a:pt x="7092465" y="0"/>
                  </a:lnTo>
                  <a:lnTo>
                    <a:pt x="7092465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12"/>
              <a:stretch>
                <a:fillRect l="-4830" t="0" r="-4634" b="-755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436169" y="404230"/>
            <a:ext cx="10705697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Dashboard Analysis &amp; Insights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0" y="1624700"/>
            <a:ext cx="13806635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An</a:t>
            </a: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alyzes delivery performance and customer satisfaction across hubs and drivers.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515" y="8505825"/>
            <a:ext cx="3239701" cy="3239701"/>
          </a:xfrm>
          <a:custGeom>
            <a:avLst/>
            <a:gdLst/>
            <a:ahLst/>
            <a:cxnLst/>
            <a:rect r="r" b="b" t="t" l="l"/>
            <a:pathLst>
              <a:path h="3239701" w="3239701">
                <a:moveTo>
                  <a:pt x="0" y="0"/>
                </a:moveTo>
                <a:lnTo>
                  <a:pt x="3239701" y="0"/>
                </a:lnTo>
                <a:lnTo>
                  <a:pt x="3239701" y="3239701"/>
                </a:lnTo>
                <a:lnTo>
                  <a:pt x="0" y="323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366">
            <a:off x="5989668" y="6322573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1" y="0"/>
                </a:lnTo>
                <a:lnTo>
                  <a:pt x="13404371" y="6082233"/>
                </a:lnTo>
                <a:lnTo>
                  <a:pt x="0" y="6082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895" y="3285171"/>
            <a:ext cx="8677529" cy="459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Full-time drivers handled the majority of total orders compared to part-time and contract drivers.</a:t>
            </a:r>
          </a:p>
          <a:p>
            <a:pPr algn="just">
              <a:lnSpc>
                <a:spcPts val="3338"/>
              </a:lnSpc>
            </a:pPr>
          </a:p>
          <a:p>
            <a:pPr algn="just">
              <a:lnSpc>
                <a:spcPts val="333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Freightliner M2 recorded the highest number of processed orders among vehicle models.</a:t>
            </a:r>
          </a:p>
          <a:p>
            <a:pPr algn="just">
              <a:lnSpc>
                <a:spcPts val="3338"/>
              </a:lnSpc>
            </a:pPr>
          </a:p>
          <a:p>
            <a:pPr algn="just">
              <a:lnSpc>
                <a:spcPts val="333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El Paso Hub showed strong operational contribution within the selected analysis path.</a:t>
            </a:r>
          </a:p>
          <a:p>
            <a:pPr algn="just">
              <a:lnSpc>
                <a:spcPts val="3338"/>
              </a:lnSpc>
            </a:pPr>
          </a:p>
          <a:p>
            <a:pPr algn="just">
              <a:lnSpc>
                <a:spcPts val="3338"/>
              </a:lnSpc>
            </a:pP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D</a:t>
            </a: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river Daniel Lee handled the lowest number of orders</a:t>
            </a: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 u</a:t>
            </a:r>
            <a:r>
              <a:rPr lang="en-US" b="true" sz="2181" spc="67">
                <a:solidFill>
                  <a:srgbClr val="1C1A1B"/>
                </a:solidFill>
                <a:latin typeface="Alibaba Sans Bold"/>
                <a:ea typeface="Alibaba Sans Bold"/>
                <a:cs typeface="Alibaba Sans Bold"/>
                <a:sym typeface="Alibaba Sans Bold"/>
              </a:rPr>
              <a:t>nder the selected filters.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4074" y="3280083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074" y="4573255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4"/>
                </a:lnTo>
                <a:lnTo>
                  <a:pt x="0" y="45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74" y="5797219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74" y="7020878"/>
            <a:ext cx="392262" cy="452133"/>
          </a:xfrm>
          <a:custGeom>
            <a:avLst/>
            <a:gdLst/>
            <a:ahLst/>
            <a:cxnLst/>
            <a:rect r="r" b="b" t="t" l="l"/>
            <a:pathLst>
              <a:path h="452133" w="392262">
                <a:moveTo>
                  <a:pt x="0" y="0"/>
                </a:moveTo>
                <a:lnTo>
                  <a:pt x="392261" y="0"/>
                </a:lnTo>
                <a:lnTo>
                  <a:pt x="392261" y="452133"/>
                </a:lnTo>
                <a:lnTo>
                  <a:pt x="0" y="4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72912" y="-15619"/>
            <a:ext cx="1959724" cy="1959724"/>
          </a:xfrm>
          <a:custGeom>
            <a:avLst/>
            <a:gdLst/>
            <a:ahLst/>
            <a:cxnLst/>
            <a:rect r="r" b="b" t="t" l="l"/>
            <a:pathLst>
              <a:path h="1959724" w="1959724">
                <a:moveTo>
                  <a:pt x="0" y="0"/>
                </a:moveTo>
                <a:lnTo>
                  <a:pt x="1959724" y="0"/>
                </a:lnTo>
                <a:lnTo>
                  <a:pt x="1959724" y="1959724"/>
                </a:lnTo>
                <a:lnTo>
                  <a:pt x="0" y="1959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006913" y="-798848"/>
            <a:ext cx="2013826" cy="2013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19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550044" y="3228066"/>
            <a:ext cx="10513181" cy="6030234"/>
            <a:chOff x="0" y="0"/>
            <a:chExt cx="7981950" cy="4578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63304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6C535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9"/>
              <a:stretch>
                <a:fillRect l="-46997" t="-7305" r="-47018" b="-1350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71690" y="3432298"/>
            <a:ext cx="8069889" cy="5454130"/>
            <a:chOff x="0" y="0"/>
            <a:chExt cx="2125403" cy="14364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5403" cy="1436479"/>
            </a:xfrm>
            <a:custGeom>
              <a:avLst/>
              <a:gdLst/>
              <a:ahLst/>
              <a:cxnLst/>
              <a:rect r="r" b="b" t="t" l="l"/>
              <a:pathLst>
                <a:path h="1436479" w="2125403">
                  <a:moveTo>
                    <a:pt x="0" y="0"/>
                  </a:moveTo>
                  <a:lnTo>
                    <a:pt x="2125403" y="0"/>
                  </a:lnTo>
                  <a:lnTo>
                    <a:pt x="2125403" y="1436479"/>
                  </a:lnTo>
                  <a:lnTo>
                    <a:pt x="0" y="143647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2125403" cy="156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267950" y="8459513"/>
            <a:ext cx="342033" cy="378273"/>
          </a:xfrm>
          <a:custGeom>
            <a:avLst/>
            <a:gdLst/>
            <a:ahLst/>
            <a:cxnLst/>
            <a:rect r="r" b="b" t="t" l="l"/>
            <a:pathLst>
              <a:path h="378273" w="342033">
                <a:moveTo>
                  <a:pt x="0" y="0"/>
                </a:moveTo>
                <a:lnTo>
                  <a:pt x="342033" y="0"/>
                </a:lnTo>
                <a:lnTo>
                  <a:pt x="342033" y="378272"/>
                </a:lnTo>
                <a:lnTo>
                  <a:pt x="0" y="378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338423" y="3280083"/>
            <a:ext cx="8949577" cy="5246370"/>
            <a:chOff x="0" y="0"/>
            <a:chExt cx="7695206" cy="451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22245" y="158750"/>
              <a:ext cx="7050716" cy="4193540"/>
            </a:xfrm>
            <a:custGeom>
              <a:avLst/>
              <a:gdLst/>
              <a:ahLst/>
              <a:cxnLst/>
              <a:rect r="r" b="b" t="t" l="l"/>
              <a:pathLst>
                <a:path h="4193540" w="7050716">
                  <a:moveTo>
                    <a:pt x="0" y="0"/>
                  </a:moveTo>
                  <a:lnTo>
                    <a:pt x="7050716" y="0"/>
                  </a:lnTo>
                  <a:lnTo>
                    <a:pt x="7050716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12"/>
              <a:stretch>
                <a:fillRect l="-5793" t="-1886" r="-6019" b="-708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62358" y="8648649"/>
            <a:ext cx="2042429" cy="27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875">
                <a:solidFill>
                  <a:srgbClr val="703342"/>
                </a:solidFill>
                <a:latin typeface="Impact"/>
                <a:ea typeface="Impact"/>
                <a:cs typeface="Impact"/>
                <a:sym typeface="Impact"/>
              </a:rPr>
              <a:t>WIFT HAUL COMPANY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36169" y="404230"/>
            <a:ext cx="10705697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Dashboard Analysis &amp; Insights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9348" y="2084431"/>
            <a:ext cx="16193564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Analyzes ord</a:t>
            </a:r>
            <a:r>
              <a:rPr lang="en-US" b="true" sz="2600">
                <a:solidFill>
                  <a:srgbClr val="6A2A4A"/>
                </a:solidFill>
                <a:latin typeface="Agrandir Bold"/>
                <a:ea typeface="Agrandir Bold"/>
                <a:cs typeface="Agrandir Bold"/>
                <a:sym typeface="Agrandir Bold"/>
              </a:rPr>
              <a:t>er distribution and operational performance across drivers, hubs, and vehicle models.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3182" y="2613633"/>
            <a:ext cx="8582620" cy="7271665"/>
            <a:chOff x="0" y="0"/>
            <a:chExt cx="11443493" cy="9695554"/>
          </a:xfrm>
        </p:grpSpPr>
        <p:sp>
          <p:nvSpPr>
            <p:cNvPr name="Freeform 3" id="3"/>
            <p:cNvSpPr/>
            <p:nvPr/>
          </p:nvSpPr>
          <p:spPr>
            <a:xfrm>
              <a:off x="10444" y="7704078"/>
              <a:ext cx="8801035" cy="1800976"/>
            </a:xfrm>
            <a:custGeom>
              <a:avLst/>
              <a:gdLst/>
              <a:ahLst/>
              <a:cxnLst/>
              <a:rect r="r" b="b" t="t" l="l"/>
              <a:pathLst>
                <a:path h="1800976" w="8801035">
                  <a:moveTo>
                    <a:pt x="0" y="4730"/>
                  </a:moveTo>
                  <a:quadBezTo>
                    <a:pt x="4603623" y="-92303"/>
                    <a:pt x="8801034" y="1800976"/>
                  </a:quadBezTo>
                </a:path>
              </a:pathLst>
            </a:custGeom>
            <a:ln cap="rnd" w="50800">
              <a:solidFill>
                <a:srgbClr val="653A43"/>
              </a:solidFill>
              <a:prstDash val="sysDot"/>
              <a:headEnd type="none" len="sm" w="sm"/>
              <a:tailEnd type="none" len="sm" w="sm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8574517" y="9314554"/>
              <a:ext cx="381000" cy="38100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A2A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-10800000">
              <a:off x="5828771" y="0"/>
              <a:ext cx="5614722" cy="8790171"/>
            </a:xfrm>
            <a:custGeom>
              <a:avLst/>
              <a:gdLst/>
              <a:ahLst/>
              <a:cxnLst/>
              <a:rect r="r" b="b" t="t" l="l"/>
              <a:pathLst>
                <a:path h="8790171" w="5614722">
                  <a:moveTo>
                    <a:pt x="0" y="0"/>
                  </a:moveTo>
                  <a:lnTo>
                    <a:pt x="5614722" y="0"/>
                  </a:lnTo>
                  <a:lnTo>
                    <a:pt x="5614722" y="8790171"/>
                  </a:lnTo>
                  <a:lnTo>
                    <a:pt x="0" y="8790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207865" y="290881"/>
              <a:ext cx="856535" cy="856535"/>
            </a:xfrm>
            <a:custGeom>
              <a:avLst/>
              <a:gdLst/>
              <a:ahLst/>
              <a:cxnLst/>
              <a:rect r="r" b="b" t="t" l="l"/>
              <a:pathLst>
                <a:path h="856535" w="856535">
                  <a:moveTo>
                    <a:pt x="0" y="0"/>
                  </a:moveTo>
                  <a:lnTo>
                    <a:pt x="856535" y="0"/>
                  </a:lnTo>
                  <a:lnTo>
                    <a:pt x="856535" y="856534"/>
                  </a:lnTo>
                  <a:lnTo>
                    <a:pt x="0" y="856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5828771" y="1844982"/>
              <a:ext cx="5614722" cy="968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21"/>
                </a:lnSpc>
                <a:spcBef>
                  <a:spcPct val="0"/>
                </a:spcBef>
              </a:pPr>
              <a:r>
                <a:rPr lang="en-US" b="true" sz="2158" spc="66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F</a:t>
              </a:r>
              <a:r>
                <a:rPr lang="en-US" b="true" sz="2158" spc="66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ocus on Delivery Performance Metrics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548523" y="6166415"/>
              <a:ext cx="2183676" cy="531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6"/>
                </a:lnSpc>
                <a:spcBef>
                  <a:spcPct val="0"/>
                </a:spcBef>
              </a:pPr>
              <a:r>
                <a:rPr lang="en-US" sz="239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</a:t>
              </a:r>
              <a:r>
                <a:rPr lang="en-US" sz="239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ep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548523" y="6671632"/>
              <a:ext cx="2183676" cy="94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38"/>
                </a:lnSpc>
                <a:spcBef>
                  <a:spcPct val="0"/>
                </a:spcBef>
              </a:pPr>
              <a:r>
                <a:rPr lang="en-US" sz="4313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52156" y="2853810"/>
              <a:ext cx="5065968" cy="2887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Driver experience years showed little impact on actual performance.</a:t>
              </a:r>
            </a:p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F</a:t>
              </a: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ocus more on operational KPIs such as On-Time Delivery Rate, delay count, and customer satisfaction scores.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6050" y="2420990"/>
            <a:ext cx="4344974" cy="7464308"/>
            <a:chOff x="0" y="0"/>
            <a:chExt cx="5793298" cy="995241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723507" y="9571411"/>
              <a:ext cx="381000" cy="3810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304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6500" lIns="36500" bIns="36500" rIns="365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-10800000">
              <a:off x="0" y="0"/>
              <a:ext cx="5793298" cy="9069743"/>
            </a:xfrm>
            <a:custGeom>
              <a:avLst/>
              <a:gdLst/>
              <a:ahLst/>
              <a:cxnLst/>
              <a:rect r="r" b="b" t="t" l="l"/>
              <a:pathLst>
                <a:path h="9069743" w="5793298">
                  <a:moveTo>
                    <a:pt x="0" y="0"/>
                  </a:moveTo>
                  <a:lnTo>
                    <a:pt x="5793298" y="0"/>
                  </a:lnTo>
                  <a:lnTo>
                    <a:pt x="5793298" y="9069743"/>
                  </a:lnTo>
                  <a:lnTo>
                    <a:pt x="0" y="906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774448" y="6876722"/>
              <a:ext cx="2253128" cy="97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0"/>
                </a:lnSpc>
                <a:spcBef>
                  <a:spcPct val="0"/>
                </a:spcBef>
              </a:pPr>
              <a:r>
                <a:rPr lang="en-US" sz="4450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2454761" y="300132"/>
              <a:ext cx="883777" cy="883777"/>
            </a:xfrm>
            <a:custGeom>
              <a:avLst/>
              <a:gdLst/>
              <a:ahLst/>
              <a:cxnLst/>
              <a:rect r="r" b="b" t="t" l="l"/>
              <a:pathLst>
                <a:path h="883777" w="883777">
                  <a:moveTo>
                    <a:pt x="0" y="0"/>
                  </a:moveTo>
                  <a:lnTo>
                    <a:pt x="883777" y="0"/>
                  </a:lnTo>
                  <a:lnTo>
                    <a:pt x="883777" y="883777"/>
                  </a:lnTo>
                  <a:lnTo>
                    <a:pt x="0" y="883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944658"/>
              <a:ext cx="5793298" cy="909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7"/>
                </a:lnSpc>
                <a:spcBef>
                  <a:spcPct val="0"/>
                </a:spcBef>
              </a:pPr>
              <a:r>
                <a:rPr lang="en-US" b="true" sz="2026" spc="62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Imp</a:t>
              </a:r>
              <a:r>
                <a:rPr lang="en-US" b="true" sz="2026" spc="62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rove Preventive Maintenance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74448" y="6373578"/>
              <a:ext cx="2253128" cy="537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3"/>
                </a:lnSpc>
                <a:spcBef>
                  <a:spcPct val="0"/>
                </a:spcBef>
              </a:pPr>
              <a:r>
                <a:rPr lang="en-US" sz="2473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Step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68487" y="2925773"/>
              <a:ext cx="5157501" cy="2912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sz="1500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404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Vehicle Breakdowns were one of the main causes of delayed deliveries.</a:t>
              </a:r>
            </a:p>
            <a:p>
              <a:pPr algn="l">
                <a:lnSpc>
                  <a:spcPts val="2775"/>
                </a:lnSpc>
              </a:pPr>
              <a:r>
                <a:rPr lang="en-US" sz="1500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 marL="280669" indent="-140335" lvl="1">
                <a:lnSpc>
                  <a:spcPts val="2404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Strengthen preventive maintenance.</a:t>
              </a:r>
            </a:p>
            <a:p>
              <a:pPr algn="l" marL="280669" indent="-140335" lvl="1">
                <a:lnSpc>
                  <a:spcPts val="2404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Monitor vehicle condition regularly</a:t>
              </a:r>
            </a:p>
            <a:p>
              <a:pPr algn="l" marL="280669" indent="-140335" lvl="1">
                <a:lnSpc>
                  <a:spcPts val="2404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Improve delivery reliability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79053" y="1439675"/>
            <a:ext cx="8686217" cy="8263328"/>
            <a:chOff x="0" y="0"/>
            <a:chExt cx="11581623" cy="11017771"/>
          </a:xfrm>
        </p:grpSpPr>
        <p:sp>
          <p:nvSpPr>
            <p:cNvPr name="Freeform 24" id="24"/>
            <p:cNvSpPr/>
            <p:nvPr/>
          </p:nvSpPr>
          <p:spPr>
            <a:xfrm flipH="false" flipV="false" rot="-10800000">
              <a:off x="5788325" y="0"/>
              <a:ext cx="5793298" cy="9069743"/>
            </a:xfrm>
            <a:custGeom>
              <a:avLst/>
              <a:gdLst/>
              <a:ahLst/>
              <a:cxnLst/>
              <a:rect r="r" b="b" t="t" l="l"/>
              <a:pathLst>
                <a:path h="9069743" w="5793298">
                  <a:moveTo>
                    <a:pt x="0" y="0"/>
                  </a:moveTo>
                  <a:lnTo>
                    <a:pt x="5793298" y="0"/>
                  </a:lnTo>
                  <a:lnTo>
                    <a:pt x="5793298" y="9069743"/>
                  </a:lnTo>
                  <a:lnTo>
                    <a:pt x="0" y="906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8219195" y="370699"/>
              <a:ext cx="838534" cy="838534"/>
            </a:xfrm>
            <a:custGeom>
              <a:avLst/>
              <a:gdLst/>
              <a:ahLst/>
              <a:cxnLst/>
              <a:rect r="r" b="b" t="t" l="l"/>
              <a:pathLst>
                <a:path h="838534" w="838534">
                  <a:moveTo>
                    <a:pt x="0" y="0"/>
                  </a:moveTo>
                  <a:lnTo>
                    <a:pt x="838534" y="0"/>
                  </a:lnTo>
                  <a:lnTo>
                    <a:pt x="838534" y="838534"/>
                  </a:lnTo>
                  <a:lnTo>
                    <a:pt x="0" y="8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5943226" y="1987481"/>
              <a:ext cx="5496722" cy="452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7"/>
                </a:lnSpc>
                <a:spcBef>
                  <a:spcPct val="0"/>
                </a:spcBef>
              </a:pPr>
              <a:r>
                <a:rPr lang="en-US" b="true" sz="2112" spc="65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Identify S</a:t>
              </a:r>
              <a:r>
                <a:rPr lang="en-US" b="true" sz="2112" spc="65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egment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573710" y="6375752"/>
              <a:ext cx="2137783" cy="521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6"/>
                </a:lnSpc>
                <a:spcBef>
                  <a:spcPct val="0"/>
                </a:spcBef>
              </a:pPr>
              <a:r>
                <a:rPr lang="en-US" sz="234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</a:t>
              </a:r>
              <a:r>
                <a:rPr lang="en-US" sz="234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ep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573710" y="6860225"/>
              <a:ext cx="2137783" cy="932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1"/>
                </a:lnSpc>
                <a:spcBef>
                  <a:spcPct val="0"/>
                </a:spcBef>
              </a:pPr>
              <a:r>
                <a:rPr lang="en-US" sz="4222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177365" y="2404509"/>
              <a:ext cx="4973517" cy="3586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220"/>
                </a:lnSpc>
              </a:pPr>
              <a:r>
                <a:rPr lang="en-US" sz="1200" spc="37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Some hubs, such as Houston Hub, handled significantly higher order volumes compared to other hubs.</a:t>
              </a:r>
            </a:p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 marL="280669" indent="-140335" lvl="1">
                <a:lnSpc>
                  <a:spcPts val="2404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Redistrivute workload to lower-pressure hubs like El Paso and San Antonio.</a:t>
              </a:r>
            </a:p>
            <a:p>
              <a:pPr algn="l">
                <a:lnSpc>
                  <a:spcPts val="2404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This could improve operational efficiency and increase on-time delivery rates.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8525951" y="9107843"/>
              <a:ext cx="381000" cy="38100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304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8470" lIns="38470" bIns="38470" rIns="3847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>
              <a:off x="111775" y="9246533"/>
              <a:ext cx="8549346" cy="1746092"/>
            </a:xfrm>
            <a:custGeom>
              <a:avLst/>
              <a:gdLst/>
              <a:ahLst/>
              <a:cxnLst/>
              <a:rect r="r" b="b" t="t" l="l"/>
              <a:pathLst>
                <a:path h="1746092" w="8549346">
                  <a:moveTo>
                    <a:pt x="0" y="1746092"/>
                  </a:moveTo>
                  <a:quadBezTo>
                    <a:pt x="4072327" y="-118260"/>
                    <a:pt x="8549346" y="8009"/>
                  </a:quadBezTo>
                </a:path>
              </a:pathLst>
            </a:custGeom>
            <a:ln cap="rnd" w="50312">
              <a:solidFill>
                <a:srgbClr val="653A43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-1221177" y="-1388646"/>
            <a:ext cx="3594100" cy="3594100"/>
          </a:xfrm>
          <a:custGeom>
            <a:avLst/>
            <a:gdLst/>
            <a:ahLst/>
            <a:cxnLst/>
            <a:rect r="r" b="b" t="t" l="l"/>
            <a:pathLst>
              <a:path h="3594100" w="3594100">
                <a:moveTo>
                  <a:pt x="0" y="0"/>
                </a:moveTo>
                <a:lnTo>
                  <a:pt x="3594100" y="0"/>
                </a:lnTo>
                <a:lnTo>
                  <a:pt x="3594100" y="3594100"/>
                </a:lnTo>
                <a:lnTo>
                  <a:pt x="0" y="3594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905972" y="309823"/>
            <a:ext cx="6476055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Rec</a:t>
            </a: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ommendations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6646630" y="-26106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8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2027627" y="90609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8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936" y="2420990"/>
            <a:ext cx="4669748" cy="7388108"/>
            <a:chOff x="0" y="0"/>
            <a:chExt cx="6226330" cy="98508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81317" y="9469811"/>
              <a:ext cx="381000" cy="3810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304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6500" lIns="36500" bIns="36500" rIns="365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3179981"/>
              <a:ext cx="6226330" cy="6226330"/>
            </a:xfrm>
            <a:custGeom>
              <a:avLst/>
              <a:gdLst/>
              <a:ahLst/>
              <a:cxnLst/>
              <a:rect r="r" b="b" t="t" l="l"/>
              <a:pathLst>
                <a:path h="6226330" w="6226330">
                  <a:moveTo>
                    <a:pt x="0" y="0"/>
                  </a:moveTo>
                  <a:lnTo>
                    <a:pt x="6226330" y="0"/>
                  </a:lnTo>
                  <a:lnTo>
                    <a:pt x="6226330" y="6226330"/>
                  </a:lnTo>
                  <a:lnTo>
                    <a:pt x="0" y="6226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212153" y="0"/>
              <a:ext cx="5793298" cy="9069743"/>
            </a:xfrm>
            <a:custGeom>
              <a:avLst/>
              <a:gdLst/>
              <a:ahLst/>
              <a:cxnLst/>
              <a:rect r="r" b="b" t="t" l="l"/>
              <a:pathLst>
                <a:path h="9069743" w="5793298">
                  <a:moveTo>
                    <a:pt x="0" y="0"/>
                  </a:moveTo>
                  <a:lnTo>
                    <a:pt x="5793298" y="0"/>
                  </a:lnTo>
                  <a:lnTo>
                    <a:pt x="5793298" y="9069743"/>
                  </a:lnTo>
                  <a:lnTo>
                    <a:pt x="0" y="906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986601" y="6876722"/>
              <a:ext cx="2253128" cy="97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0"/>
                </a:lnSpc>
                <a:spcBef>
                  <a:spcPct val="0"/>
                </a:spcBef>
              </a:pPr>
              <a:r>
                <a:rPr lang="en-US" sz="4450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2666914" y="300132"/>
              <a:ext cx="883777" cy="883777"/>
            </a:xfrm>
            <a:custGeom>
              <a:avLst/>
              <a:gdLst/>
              <a:ahLst/>
              <a:cxnLst/>
              <a:rect r="r" b="b" t="t" l="l"/>
              <a:pathLst>
                <a:path h="883777" w="883777">
                  <a:moveTo>
                    <a:pt x="0" y="0"/>
                  </a:moveTo>
                  <a:lnTo>
                    <a:pt x="883777" y="0"/>
                  </a:lnTo>
                  <a:lnTo>
                    <a:pt x="883777" y="883777"/>
                  </a:lnTo>
                  <a:lnTo>
                    <a:pt x="0" y="883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572899" y="2035447"/>
              <a:ext cx="5080533" cy="475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17"/>
                </a:lnSpc>
                <a:spcBef>
                  <a:spcPct val="0"/>
                </a:spcBef>
              </a:pPr>
              <a:r>
                <a:rPr lang="en-US" b="true" sz="2226" spc="69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Optimiz</a:t>
              </a:r>
              <a:r>
                <a:rPr lang="en-US" b="true" sz="2226" spc="69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e Fleet Utilization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86601" y="6373578"/>
              <a:ext cx="2253128" cy="537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3"/>
                </a:lnSpc>
                <a:spcBef>
                  <a:spcPct val="0"/>
                </a:spcBef>
              </a:pPr>
              <a:r>
                <a:rPr lang="en-US" sz="2473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Step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72899" y="2664993"/>
              <a:ext cx="5432553" cy="329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Certain vehicle models experienced higher breakdown rates and delivery days</a:t>
              </a:r>
            </a:p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Monitor vehicle performance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Replace high-risk vehicles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This can improve fleet efficiency and reduce operational interruptions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89188" y="2613633"/>
            <a:ext cx="8865501" cy="7195465"/>
            <a:chOff x="0" y="0"/>
            <a:chExt cx="11820668" cy="95939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8665500" y="9212954"/>
              <a:ext cx="381000" cy="3810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A2A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7661" lIns="37661" bIns="37661" rIns="37661"/>
              <a:lstStyle/>
              <a:p>
                <a:pPr algn="ctr" marL="0" indent="0" lvl="0">
                  <a:lnSpc>
                    <a:spcPts val="25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5786262" y="3115048"/>
              <a:ext cx="6034406" cy="6034406"/>
            </a:xfrm>
            <a:custGeom>
              <a:avLst/>
              <a:gdLst/>
              <a:ahLst/>
              <a:cxnLst/>
              <a:rect r="r" b="b" t="t" l="l"/>
              <a:pathLst>
                <a:path h="6034406" w="6034406">
                  <a:moveTo>
                    <a:pt x="0" y="0"/>
                  </a:moveTo>
                  <a:lnTo>
                    <a:pt x="6034406" y="0"/>
                  </a:lnTo>
                  <a:lnTo>
                    <a:pt x="6034406" y="6034406"/>
                  </a:lnTo>
                  <a:lnTo>
                    <a:pt x="0" y="6034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-10800000">
              <a:off x="6074097" y="0"/>
              <a:ext cx="5614722" cy="8790171"/>
            </a:xfrm>
            <a:custGeom>
              <a:avLst/>
              <a:gdLst/>
              <a:ahLst/>
              <a:cxnLst/>
              <a:rect r="r" b="b" t="t" l="l"/>
              <a:pathLst>
                <a:path h="8790171" w="5614722">
                  <a:moveTo>
                    <a:pt x="0" y="0"/>
                  </a:moveTo>
                  <a:lnTo>
                    <a:pt x="5614722" y="0"/>
                  </a:lnTo>
                  <a:lnTo>
                    <a:pt x="5614722" y="8790171"/>
                  </a:lnTo>
                  <a:lnTo>
                    <a:pt x="0" y="8790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453190" y="290881"/>
              <a:ext cx="856535" cy="856535"/>
            </a:xfrm>
            <a:custGeom>
              <a:avLst/>
              <a:gdLst/>
              <a:ahLst/>
              <a:cxnLst/>
              <a:rect r="r" b="b" t="t" l="l"/>
              <a:pathLst>
                <a:path h="856535" w="856535">
                  <a:moveTo>
                    <a:pt x="0" y="0"/>
                  </a:moveTo>
                  <a:lnTo>
                    <a:pt x="856535" y="0"/>
                  </a:lnTo>
                  <a:lnTo>
                    <a:pt x="856535" y="856534"/>
                  </a:lnTo>
                  <a:lnTo>
                    <a:pt x="0" y="856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6074097" y="1854507"/>
              <a:ext cx="5614722" cy="450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1"/>
                </a:lnSpc>
                <a:spcBef>
                  <a:spcPct val="0"/>
                </a:spcBef>
              </a:pPr>
              <a:r>
                <a:rPr lang="en-US" b="true" sz="2058" spc="63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Enhan</a:t>
              </a:r>
              <a:r>
                <a:rPr lang="en-US" b="true" sz="2058" spc="63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ce Customer Experience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93848" y="6166415"/>
              <a:ext cx="2183676" cy="531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6"/>
                </a:lnSpc>
                <a:spcBef>
                  <a:spcPct val="0"/>
                </a:spcBef>
              </a:pPr>
              <a:r>
                <a:rPr lang="en-US" sz="239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</a:t>
              </a:r>
              <a:r>
                <a:rPr lang="en-US" sz="239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ep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793848" y="6671632"/>
              <a:ext cx="2183676" cy="94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38"/>
                </a:lnSpc>
                <a:spcBef>
                  <a:spcPct val="0"/>
                </a:spcBef>
              </a:pPr>
              <a:r>
                <a:rPr lang="en-US" sz="4313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06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535793" y="2526908"/>
              <a:ext cx="5021413" cy="329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D</a:t>
              </a: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elayed deliveries were associated with lower customer satisfaction scores.</a:t>
              </a:r>
            </a:p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Reduce Delivery times.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Improve Operational Response.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This can improve customer experience and CSAT ratings.</a:t>
              </a:r>
            </a:p>
          </p:txBody>
        </p:sp>
        <p:sp>
          <p:nvSpPr>
            <p:cNvPr name="Freeform 24" id="24"/>
            <p:cNvSpPr/>
            <p:nvPr/>
          </p:nvSpPr>
          <p:spPr>
            <a:xfrm>
              <a:off x="10306" y="7635166"/>
              <a:ext cx="8904015" cy="1742895"/>
            </a:xfrm>
            <a:custGeom>
              <a:avLst/>
              <a:gdLst/>
              <a:ahLst/>
              <a:cxnLst/>
              <a:rect r="r" b="b" t="t" l="l"/>
              <a:pathLst>
                <a:path h="1742895" w="8904015">
                  <a:moveTo>
                    <a:pt x="0" y="8438"/>
                  </a:moveTo>
                  <a:quadBezTo>
                    <a:pt x="4646205" y="-121266"/>
                    <a:pt x="8904015" y="1742895"/>
                  </a:quadBezTo>
                </a:path>
              </a:pathLst>
            </a:custGeom>
            <a:ln cap="rnd" w="51392">
              <a:solidFill>
                <a:srgbClr val="653A43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8843450" y="1622449"/>
            <a:ext cx="628900" cy="628900"/>
          </a:xfrm>
          <a:custGeom>
            <a:avLst/>
            <a:gdLst/>
            <a:ahLst/>
            <a:cxnLst/>
            <a:rect r="r" b="b" t="t" l="l"/>
            <a:pathLst>
              <a:path h="628900" w="628900">
                <a:moveTo>
                  <a:pt x="0" y="0"/>
                </a:moveTo>
                <a:lnTo>
                  <a:pt x="628900" y="0"/>
                </a:lnTo>
                <a:lnTo>
                  <a:pt x="628900" y="628900"/>
                </a:lnTo>
                <a:lnTo>
                  <a:pt x="0" y="628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2487421" y="1344425"/>
            <a:ext cx="8829065" cy="8302760"/>
            <a:chOff x="0" y="0"/>
            <a:chExt cx="11772087" cy="1107034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8627118" y="9133243"/>
              <a:ext cx="381000" cy="38100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304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-10800000">
              <a:off x="5978789" y="0"/>
              <a:ext cx="5793298" cy="9069743"/>
            </a:xfrm>
            <a:custGeom>
              <a:avLst/>
              <a:gdLst/>
              <a:ahLst/>
              <a:cxnLst/>
              <a:rect r="r" b="b" t="t" l="l"/>
              <a:pathLst>
                <a:path h="9069743" w="5793298">
                  <a:moveTo>
                    <a:pt x="0" y="0"/>
                  </a:moveTo>
                  <a:lnTo>
                    <a:pt x="5793298" y="0"/>
                  </a:lnTo>
                  <a:lnTo>
                    <a:pt x="5793298" y="9069743"/>
                  </a:lnTo>
                  <a:lnTo>
                    <a:pt x="0" y="906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6145610" y="1959757"/>
              <a:ext cx="5496722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2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Pr</a:t>
              </a:r>
              <a:r>
                <a:rPr lang="en-US" b="true" sz="2000" spc="62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epare for Peak D</a:t>
              </a:r>
              <a:r>
                <a:rPr lang="en-US" b="true" sz="2000" spc="62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emand Periods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829219" y="6375752"/>
              <a:ext cx="2137783" cy="521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6"/>
                </a:lnSpc>
                <a:spcBef>
                  <a:spcPct val="0"/>
                </a:spcBef>
              </a:pPr>
              <a:r>
                <a:rPr lang="en-US" sz="234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St</a:t>
              </a:r>
              <a:r>
                <a:rPr lang="en-US" sz="2347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ep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829219" y="6860225"/>
              <a:ext cx="2137783" cy="932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1"/>
                </a:lnSpc>
                <a:spcBef>
                  <a:spcPct val="0"/>
                </a:spcBef>
              </a:pPr>
              <a:r>
                <a:rPr lang="en-US" sz="4222">
                  <a:solidFill>
                    <a:srgbClr val="FFFCF9"/>
                  </a:solidFill>
                  <a:latin typeface="Anton"/>
                  <a:ea typeface="Anton"/>
                  <a:cs typeface="Anton"/>
                  <a:sym typeface="Anton"/>
                </a:rPr>
                <a:t>05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366046" y="2840226"/>
              <a:ext cx="4950433" cy="329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found:</a:t>
              </a:r>
            </a:p>
            <a:p>
              <a:pPr algn="l">
                <a:lnSpc>
                  <a:spcPts val="2403"/>
                </a:lnSpc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High-order periods may negatively affect delivery performance and customer satisfaction.</a:t>
              </a:r>
            </a:p>
            <a:p>
              <a:pPr algn="l">
                <a:lnSpc>
                  <a:spcPts val="2773"/>
                </a:lnSpc>
              </a:pPr>
              <a:r>
                <a:rPr lang="en-US" sz="1499" spc="46" b="true">
                  <a:solidFill>
                    <a:srgbClr val="1C1A1B"/>
                  </a:solidFill>
                  <a:latin typeface="Alibaba Sans Bold"/>
                  <a:ea typeface="Alibaba Sans Bold"/>
                  <a:cs typeface="Alibaba Sans Bold"/>
                  <a:sym typeface="Alibaba Sans Bold"/>
                </a:rPr>
                <a:t>What we recommended: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Plan additional driver availability</a:t>
              </a:r>
            </a:p>
            <a:p>
              <a:pPr algn="l" marL="280504" indent="-140252" lvl="1">
                <a:lnSpc>
                  <a:spcPts val="2403"/>
                </a:lnSpc>
                <a:buFont typeface="Arial"/>
                <a:buChar char="•"/>
              </a:pPr>
              <a:r>
                <a:rPr lang="en-US" sz="1299" spc="40">
                  <a:solidFill>
                    <a:srgbClr val="1C1A1B"/>
                  </a:solidFill>
                  <a:latin typeface="Alibaba Sans"/>
                  <a:ea typeface="Alibaba Sans"/>
                  <a:cs typeface="Alibaba Sans"/>
                  <a:sym typeface="Alibaba Sans"/>
                </a:rPr>
                <a:t>Ensure vehicle readiness during peak months.</a:t>
              </a:r>
            </a:p>
          </p:txBody>
        </p:sp>
        <p:sp>
          <p:nvSpPr>
            <p:cNvPr name="Freeform 35" id="35"/>
            <p:cNvSpPr/>
            <p:nvPr/>
          </p:nvSpPr>
          <p:spPr>
            <a:xfrm>
              <a:off x="108603" y="9329127"/>
              <a:ext cx="8661655" cy="1715833"/>
            </a:xfrm>
            <a:custGeom>
              <a:avLst/>
              <a:gdLst/>
              <a:ahLst/>
              <a:cxnLst/>
              <a:rect r="r" b="b" t="t" l="l"/>
              <a:pathLst>
                <a:path h="1715833" w="8661655">
                  <a:moveTo>
                    <a:pt x="0" y="1715833"/>
                  </a:moveTo>
                  <a:quadBezTo>
                    <a:pt x="4134612" y="-133433"/>
                    <a:pt x="8661655" y="10376"/>
                  </a:quadBezTo>
                </a:path>
              </a:pathLst>
            </a:custGeom>
            <a:ln cap="rnd" w="50800">
              <a:solidFill>
                <a:srgbClr val="653A43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6157639" y="8289607"/>
            <a:ext cx="3594100" cy="3594100"/>
          </a:xfrm>
          <a:custGeom>
            <a:avLst/>
            <a:gdLst/>
            <a:ahLst/>
            <a:cxnLst/>
            <a:rect r="r" b="b" t="t" l="l"/>
            <a:pathLst>
              <a:path h="3594100" w="3594100">
                <a:moveTo>
                  <a:pt x="0" y="0"/>
                </a:moveTo>
                <a:lnTo>
                  <a:pt x="3594100" y="0"/>
                </a:lnTo>
                <a:lnTo>
                  <a:pt x="3594100" y="3594100"/>
                </a:lnTo>
                <a:lnTo>
                  <a:pt x="0" y="35941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905972" y="309823"/>
            <a:ext cx="6476055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Rec</a:t>
            </a: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ommendations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646630" y="-26106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2027627" y="90609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0061" y="3591648"/>
            <a:ext cx="16230600" cy="35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5"/>
              </a:lnSpc>
            </a:pPr>
            <a:r>
              <a:rPr lang="en-US" b="true" sz="16069" spc="-803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ANY</a:t>
            </a:r>
          </a:p>
          <a:p>
            <a:pPr algn="ctr">
              <a:lnSpc>
                <a:spcPts val="12695"/>
              </a:lnSpc>
            </a:pPr>
            <a:r>
              <a:rPr lang="en-US" b="true" sz="16069" spc="-803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089975" y="8045595"/>
            <a:ext cx="20467949" cy="2755755"/>
            <a:chOff x="0" y="0"/>
            <a:chExt cx="5390736" cy="7257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0736" cy="725795"/>
            </a:xfrm>
            <a:custGeom>
              <a:avLst/>
              <a:gdLst/>
              <a:ahLst/>
              <a:cxnLst/>
              <a:rect r="r" b="b" t="t" l="l"/>
              <a:pathLst>
                <a:path h="725795" w="5390736">
                  <a:moveTo>
                    <a:pt x="0" y="0"/>
                  </a:moveTo>
                  <a:lnTo>
                    <a:pt x="5390736" y="0"/>
                  </a:lnTo>
                  <a:lnTo>
                    <a:pt x="5390736" y="725795"/>
                  </a:lnTo>
                  <a:lnTo>
                    <a:pt x="0" y="725795"/>
                  </a:lnTo>
                  <a:close/>
                </a:path>
              </a:pathLst>
            </a:custGeom>
            <a:solidFill>
              <a:srgbClr val="63304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390736" cy="706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5822" y="2057400"/>
            <a:ext cx="3559302" cy="8229600"/>
          </a:xfrm>
          <a:custGeom>
            <a:avLst/>
            <a:gdLst/>
            <a:ahLst/>
            <a:cxnLst/>
            <a:rect r="r" b="b" t="t" l="l"/>
            <a:pathLst>
              <a:path h="8229600" w="3559302">
                <a:moveTo>
                  <a:pt x="0" y="0"/>
                </a:moveTo>
                <a:lnTo>
                  <a:pt x="3559302" y="0"/>
                </a:lnTo>
                <a:lnTo>
                  <a:pt x="35593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280" y="493497"/>
            <a:ext cx="688945" cy="761940"/>
          </a:xfrm>
          <a:custGeom>
            <a:avLst/>
            <a:gdLst/>
            <a:ahLst/>
            <a:cxnLst/>
            <a:rect r="r" b="b" t="t" l="l"/>
            <a:pathLst>
              <a:path h="761940" w="688945">
                <a:moveTo>
                  <a:pt x="0" y="0"/>
                </a:moveTo>
                <a:lnTo>
                  <a:pt x="688945" y="0"/>
                </a:lnTo>
                <a:lnTo>
                  <a:pt x="688945" y="761940"/>
                </a:lnTo>
                <a:lnTo>
                  <a:pt x="0" y="761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9312" y="893517"/>
            <a:ext cx="4113987" cy="55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3777">
                <a:solidFill>
                  <a:srgbClr val="703342"/>
                </a:solidFill>
                <a:latin typeface="Impact"/>
                <a:ea typeface="Impact"/>
                <a:cs typeface="Impact"/>
                <a:sym typeface="Impact"/>
              </a:rPr>
              <a:t>WIFT HAUL COMPANY 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4445373">
            <a:off x="10022535" y="1536847"/>
            <a:ext cx="13404371" cy="6082233"/>
          </a:xfrm>
          <a:custGeom>
            <a:avLst/>
            <a:gdLst/>
            <a:ahLst/>
            <a:cxnLst/>
            <a:rect r="r" b="b" t="t" l="l"/>
            <a:pathLst>
              <a:path h="6082233" w="13404371">
                <a:moveTo>
                  <a:pt x="0" y="0"/>
                </a:moveTo>
                <a:lnTo>
                  <a:pt x="13404371" y="0"/>
                </a:lnTo>
                <a:lnTo>
                  <a:pt x="13404371" y="6082234"/>
                </a:lnTo>
                <a:lnTo>
                  <a:pt x="0" y="6082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92744" y="939692"/>
            <a:ext cx="461784" cy="315745"/>
          </a:xfrm>
          <a:custGeom>
            <a:avLst/>
            <a:gdLst/>
            <a:ahLst/>
            <a:cxnLst/>
            <a:rect r="r" b="b" t="t" l="l"/>
            <a:pathLst>
              <a:path h="315745" w="461784">
                <a:moveTo>
                  <a:pt x="0" y="0"/>
                </a:moveTo>
                <a:lnTo>
                  <a:pt x="461784" y="0"/>
                </a:lnTo>
                <a:lnTo>
                  <a:pt x="461784" y="315745"/>
                </a:lnTo>
                <a:lnTo>
                  <a:pt x="0" y="315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77941" y="926147"/>
            <a:ext cx="381359" cy="220495"/>
          </a:xfrm>
          <a:custGeom>
            <a:avLst/>
            <a:gdLst/>
            <a:ahLst/>
            <a:cxnLst/>
            <a:rect r="r" b="b" t="t" l="l"/>
            <a:pathLst>
              <a:path h="220495" w="381359">
                <a:moveTo>
                  <a:pt x="0" y="0"/>
                </a:moveTo>
                <a:lnTo>
                  <a:pt x="381359" y="0"/>
                </a:lnTo>
                <a:lnTo>
                  <a:pt x="381359" y="220495"/>
                </a:lnTo>
                <a:lnTo>
                  <a:pt x="0" y="220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995701" y="9047435"/>
            <a:ext cx="134989" cy="440780"/>
          </a:xfrm>
          <a:custGeom>
            <a:avLst/>
            <a:gdLst/>
            <a:ahLst/>
            <a:cxnLst/>
            <a:rect r="r" b="b" t="t" l="l"/>
            <a:pathLst>
              <a:path h="440780" w="134989">
                <a:moveTo>
                  <a:pt x="0" y="0"/>
                </a:moveTo>
                <a:lnTo>
                  <a:pt x="134989" y="0"/>
                </a:lnTo>
                <a:lnTo>
                  <a:pt x="134989" y="440780"/>
                </a:lnTo>
                <a:lnTo>
                  <a:pt x="0" y="440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4804" y="2490983"/>
            <a:ext cx="15838391" cy="273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66"/>
              </a:lnSpc>
              <a:spcBef>
                <a:spcPct val="0"/>
              </a:spcBef>
            </a:pPr>
            <a:r>
              <a:rPr lang="en-US" sz="1819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512187" y="5300340"/>
            <a:ext cx="13470412" cy="5786665"/>
          </a:xfrm>
          <a:custGeom>
            <a:avLst/>
            <a:gdLst/>
            <a:ahLst/>
            <a:cxnLst/>
            <a:rect r="r" b="b" t="t" l="l"/>
            <a:pathLst>
              <a:path h="5786665" w="13470412">
                <a:moveTo>
                  <a:pt x="0" y="0"/>
                </a:moveTo>
                <a:lnTo>
                  <a:pt x="13470412" y="0"/>
                </a:lnTo>
                <a:lnTo>
                  <a:pt x="13470412" y="5786664"/>
                </a:lnTo>
                <a:lnTo>
                  <a:pt x="0" y="57866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075104" y="7430140"/>
            <a:ext cx="2520489" cy="763532"/>
            <a:chOff x="0" y="0"/>
            <a:chExt cx="721647" cy="218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647" cy="218609"/>
            </a:xfrm>
            <a:custGeom>
              <a:avLst/>
              <a:gdLst/>
              <a:ahLst/>
              <a:cxnLst/>
              <a:rect r="r" b="b" t="t" l="l"/>
              <a:pathLst>
                <a:path h="218609" w="721647">
                  <a:moveTo>
                    <a:pt x="55289" y="0"/>
                  </a:moveTo>
                  <a:lnTo>
                    <a:pt x="666359" y="0"/>
                  </a:lnTo>
                  <a:cubicBezTo>
                    <a:pt x="696894" y="0"/>
                    <a:pt x="721647" y="24754"/>
                    <a:pt x="721647" y="55289"/>
                  </a:cubicBezTo>
                  <a:lnTo>
                    <a:pt x="721647" y="163320"/>
                  </a:lnTo>
                  <a:cubicBezTo>
                    <a:pt x="721647" y="177984"/>
                    <a:pt x="715822" y="192046"/>
                    <a:pt x="705453" y="202415"/>
                  </a:cubicBezTo>
                  <a:cubicBezTo>
                    <a:pt x="695085" y="212784"/>
                    <a:pt x="681022" y="218609"/>
                    <a:pt x="666359" y="218609"/>
                  </a:cubicBezTo>
                  <a:lnTo>
                    <a:pt x="55289" y="218609"/>
                  </a:lnTo>
                  <a:cubicBezTo>
                    <a:pt x="40625" y="218609"/>
                    <a:pt x="26562" y="212784"/>
                    <a:pt x="16194" y="202415"/>
                  </a:cubicBezTo>
                  <a:cubicBezTo>
                    <a:pt x="5825" y="192046"/>
                    <a:pt x="0" y="177984"/>
                    <a:pt x="0" y="163320"/>
                  </a:cubicBezTo>
                  <a:lnTo>
                    <a:pt x="0" y="55289"/>
                  </a:lnTo>
                  <a:cubicBezTo>
                    <a:pt x="0" y="40625"/>
                    <a:pt x="5825" y="26562"/>
                    <a:pt x="16194" y="16194"/>
                  </a:cubicBezTo>
                  <a:cubicBezTo>
                    <a:pt x="26562" y="5825"/>
                    <a:pt x="40625" y="0"/>
                    <a:pt x="55289" y="0"/>
                  </a:cubicBezTo>
                  <a:close/>
                </a:path>
              </a:pathLst>
            </a:custGeom>
            <a:solidFill>
              <a:srgbClr val="63304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21647" cy="218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251324" y="7708807"/>
            <a:ext cx="2168048" cy="30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 SLIDE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9280" y="493497"/>
            <a:ext cx="688945" cy="761940"/>
          </a:xfrm>
          <a:custGeom>
            <a:avLst/>
            <a:gdLst/>
            <a:ahLst/>
            <a:cxnLst/>
            <a:rect r="r" b="b" t="t" l="l"/>
            <a:pathLst>
              <a:path h="761940" w="688945">
                <a:moveTo>
                  <a:pt x="0" y="0"/>
                </a:moveTo>
                <a:lnTo>
                  <a:pt x="688945" y="0"/>
                </a:lnTo>
                <a:lnTo>
                  <a:pt x="688945" y="761940"/>
                </a:lnTo>
                <a:lnTo>
                  <a:pt x="0" y="7619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9312" y="893517"/>
            <a:ext cx="4113987" cy="55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3777">
                <a:solidFill>
                  <a:srgbClr val="703342"/>
                </a:solidFill>
                <a:latin typeface="Impact"/>
                <a:ea typeface="Impact"/>
                <a:cs typeface="Impact"/>
                <a:sym typeface="Impact"/>
              </a:rPr>
              <a:t>WIFT HAUL COMPANY 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30600" y="-156390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05909" y="77088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DAHIbnevtRM</dc:identifier>
  <dcterms:modified xsi:type="dcterms:W3CDTF">2011-08-01T06:04:30Z</dcterms:modified>
  <cp:revision>1</cp:revision>
  <dc:title>Red White and Black Modern Simple  Logistics Presentation</dc:title>
</cp:coreProperties>
</file>