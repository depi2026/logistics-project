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1"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7562850" cy="10688638"/>
  <p:notesSz cx="10688638" cy="7562850"/>
  <p:embeddedFontLst>
    <p:embeddedFont>
      <p:font typeface="Brygada 1918" pitchFamily="2" charset="0"/>
      <p:bold r:id="rId24"/>
    </p:embeddedFont>
    <p:embeddedFont>
      <p:font typeface="Brygada 1918 Bold" pitchFamily="2" charset="0"/>
      <p:regular r:id="rId25"/>
      <p:bold r:id="rId26"/>
    </p:embeddedFont>
    <p:embeddedFont>
      <p:font typeface="Montserrat Bold" pitchFamily="2" charset="0"/>
      <p:regular r:id="rId27"/>
      <p:bold r:id="rId28"/>
    </p:embeddedFont>
    <p:embeddedFont>
      <p:font typeface="Montserrat Medium" pitchFamily="2" charset="0"/>
      <p:regular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CA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08" autoAdjust="0"/>
    <p:restoredTop sz="94610"/>
  </p:normalViewPr>
  <p:slideViewPr>
    <p:cSldViewPr snapToGrid="0" snapToObjects="1">
      <p:cViewPr varScale="1">
        <p:scale>
          <a:sx n="72" d="100"/>
          <a:sy n="72" d="100"/>
        </p:scale>
        <p:origin x="309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6095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824" y="0"/>
            <a:ext cx="7562026" cy="10689336"/>
          </a:xfrm>
          <a:prstGeom prst="rect">
            <a:avLst/>
          </a:prstGeom>
          <a:solidFill>
            <a:srgbClr val="421424"/>
          </a:solidFill>
          <a:ln/>
        </p:spPr>
      </p:sp>
      <p:sp>
        <p:nvSpPr>
          <p:cNvPr id="3" name="Shape 1"/>
          <p:cNvSpPr/>
          <p:nvPr/>
        </p:nvSpPr>
        <p:spPr>
          <a:xfrm>
            <a:off x="0" y="0"/>
            <a:ext cx="7562026" cy="10689336"/>
          </a:xfrm>
          <a:prstGeom prst="rect">
            <a:avLst/>
          </a:prstGeom>
          <a:solidFill>
            <a:srgbClr val="5C2438"/>
          </a:solidFill>
          <a:ln/>
        </p:spPr>
        <p:txBody>
          <a:bodyPr/>
          <a:lstStyle/>
          <a:p>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E7BD8-87CB-BBD7-8AEE-6D6D0CB6A881}"/>
              </a:ext>
            </a:extLst>
          </p:cNvPr>
          <p:cNvSpPr>
            <a:spLocks noGrp="1"/>
          </p:cNvSpPr>
          <p:nvPr>
            <p:ph type="ctrTitle"/>
          </p:nvPr>
        </p:nvSpPr>
        <p:spPr>
          <a:xfrm>
            <a:off x="946150" y="1749425"/>
            <a:ext cx="5672138" cy="37211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AE6954-43F3-CC40-2F4A-F8810BFB57B8}"/>
              </a:ext>
            </a:extLst>
          </p:cNvPr>
          <p:cNvSpPr>
            <a:spLocks noGrp="1"/>
          </p:cNvSpPr>
          <p:nvPr>
            <p:ph type="subTitle" idx="1"/>
          </p:nvPr>
        </p:nvSpPr>
        <p:spPr>
          <a:xfrm>
            <a:off x="946150" y="5613400"/>
            <a:ext cx="5672138" cy="25812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6794B1B-00F2-CE6A-79AE-39C905A5F4B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1CACEFA-8DC8-EB4A-7E69-140C44118B4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48BF069-BFE9-7031-DEE1-71BE14BE202E}"/>
              </a:ext>
            </a:extLst>
          </p:cNvPr>
          <p:cNvSpPr>
            <a:spLocks noGrp="1"/>
          </p:cNvSpPr>
          <p:nvPr>
            <p:ph type="sldNum" sz="quarter" idx="12"/>
          </p:nvPr>
        </p:nvSpPr>
        <p:spPr/>
        <p:txBody>
          <a:bodyPr/>
          <a:lstStyle/>
          <a:p>
            <a:fld id="{CFC31B36-778E-45CD-A18A-CF95276F9EEF}" type="slidenum">
              <a:rPr lang="en-US" smtClean="0"/>
              <a:t>‹#›</a:t>
            </a:fld>
            <a:endParaRPr lang="en-US"/>
          </a:p>
        </p:txBody>
      </p:sp>
    </p:spTree>
    <p:extLst>
      <p:ext uri="{BB962C8B-B14F-4D97-AF65-F5344CB8AC3E}">
        <p14:creationId xmlns:p14="http://schemas.microsoft.com/office/powerpoint/2010/main" val="3582798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D9D64-5C3A-1BC7-F325-F90B99BB26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966B2D-2F6B-FFCC-F4CD-CA9C1825BD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104B5E-35C8-0E8E-734E-AEAF149C0A3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4AC203B-CA5D-A06D-DF33-0195FD54AB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DD6E8-8B66-C3D8-DE01-18FC63FD8A7F}"/>
              </a:ext>
            </a:extLst>
          </p:cNvPr>
          <p:cNvSpPr>
            <a:spLocks noGrp="1"/>
          </p:cNvSpPr>
          <p:nvPr>
            <p:ph type="sldNum" sz="quarter" idx="12"/>
          </p:nvPr>
        </p:nvSpPr>
        <p:spPr/>
        <p:txBody>
          <a:bodyPr/>
          <a:lstStyle/>
          <a:p>
            <a:fld id="{CFC31B36-778E-45CD-A18A-CF95276F9EEF}" type="slidenum">
              <a:rPr lang="en-US" smtClean="0"/>
              <a:t>‹#›</a:t>
            </a:fld>
            <a:endParaRPr lang="en-US"/>
          </a:p>
        </p:txBody>
      </p:sp>
    </p:spTree>
    <p:extLst>
      <p:ext uri="{BB962C8B-B14F-4D97-AF65-F5344CB8AC3E}">
        <p14:creationId xmlns:p14="http://schemas.microsoft.com/office/powerpoint/2010/main" val="669014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DB817-8127-F6C2-4EAC-6EFB953DE7EB}"/>
              </a:ext>
            </a:extLst>
          </p:cNvPr>
          <p:cNvSpPr>
            <a:spLocks noGrp="1"/>
          </p:cNvSpPr>
          <p:nvPr>
            <p:ph type="title"/>
          </p:nvPr>
        </p:nvSpPr>
        <p:spPr>
          <a:xfrm>
            <a:off x="515938" y="2665413"/>
            <a:ext cx="6523037" cy="4445000"/>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1EA862D-D642-0C4A-5ED9-2969D50BD642}"/>
              </a:ext>
            </a:extLst>
          </p:cNvPr>
          <p:cNvSpPr>
            <a:spLocks noGrp="1"/>
          </p:cNvSpPr>
          <p:nvPr>
            <p:ph type="body" idx="1"/>
          </p:nvPr>
        </p:nvSpPr>
        <p:spPr>
          <a:xfrm>
            <a:off x="515938" y="7153275"/>
            <a:ext cx="6523037" cy="233838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2B680B-A46F-9D0E-CD5E-DEA0B22B77E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577970B-D6EF-B46A-78C1-4DDF3E436F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F650A5-40AE-7BE2-8C72-A3267FACCE7A}"/>
              </a:ext>
            </a:extLst>
          </p:cNvPr>
          <p:cNvSpPr>
            <a:spLocks noGrp="1"/>
          </p:cNvSpPr>
          <p:nvPr>
            <p:ph type="sldNum" sz="quarter" idx="12"/>
          </p:nvPr>
        </p:nvSpPr>
        <p:spPr/>
        <p:txBody>
          <a:bodyPr/>
          <a:lstStyle/>
          <a:p>
            <a:fld id="{CFC31B36-778E-45CD-A18A-CF95276F9EEF}" type="slidenum">
              <a:rPr lang="en-US" smtClean="0"/>
              <a:t>‹#›</a:t>
            </a:fld>
            <a:endParaRPr lang="en-US"/>
          </a:p>
        </p:txBody>
      </p:sp>
    </p:spTree>
    <p:extLst>
      <p:ext uri="{BB962C8B-B14F-4D97-AF65-F5344CB8AC3E}">
        <p14:creationId xmlns:p14="http://schemas.microsoft.com/office/powerpoint/2010/main" val="3419660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FBF38-183B-4F68-BC32-DEFFE3232B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C1835C-A092-E93A-BC26-8CEE11EECB68}"/>
              </a:ext>
            </a:extLst>
          </p:cNvPr>
          <p:cNvSpPr>
            <a:spLocks noGrp="1"/>
          </p:cNvSpPr>
          <p:nvPr>
            <p:ph sz="half" idx="1"/>
          </p:nvPr>
        </p:nvSpPr>
        <p:spPr>
          <a:xfrm>
            <a:off x="520700" y="2844800"/>
            <a:ext cx="3184525" cy="678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E064768-F026-35EF-06E3-A6570A5E7389}"/>
              </a:ext>
            </a:extLst>
          </p:cNvPr>
          <p:cNvSpPr>
            <a:spLocks noGrp="1"/>
          </p:cNvSpPr>
          <p:nvPr>
            <p:ph sz="half" idx="2"/>
          </p:nvPr>
        </p:nvSpPr>
        <p:spPr>
          <a:xfrm>
            <a:off x="3857625" y="2844800"/>
            <a:ext cx="3184525" cy="678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85D4F8-F3E5-64F1-3909-813E8C4FB7B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97308F9-EC65-0368-81CC-1B5179E309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BD81D3-2D83-56AF-8DF6-6A97C4E0515D}"/>
              </a:ext>
            </a:extLst>
          </p:cNvPr>
          <p:cNvSpPr>
            <a:spLocks noGrp="1"/>
          </p:cNvSpPr>
          <p:nvPr>
            <p:ph type="sldNum" sz="quarter" idx="12"/>
          </p:nvPr>
        </p:nvSpPr>
        <p:spPr/>
        <p:txBody>
          <a:bodyPr/>
          <a:lstStyle/>
          <a:p>
            <a:fld id="{CFC31B36-778E-45CD-A18A-CF95276F9EEF}" type="slidenum">
              <a:rPr lang="en-US" smtClean="0"/>
              <a:t>‹#›</a:t>
            </a:fld>
            <a:endParaRPr lang="en-US"/>
          </a:p>
        </p:txBody>
      </p:sp>
    </p:spTree>
    <p:extLst>
      <p:ext uri="{BB962C8B-B14F-4D97-AF65-F5344CB8AC3E}">
        <p14:creationId xmlns:p14="http://schemas.microsoft.com/office/powerpoint/2010/main" val="3404107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64F76-043B-87C4-7557-4519F764E621}"/>
              </a:ext>
            </a:extLst>
          </p:cNvPr>
          <p:cNvSpPr>
            <a:spLocks noGrp="1"/>
          </p:cNvSpPr>
          <p:nvPr>
            <p:ph type="title"/>
          </p:nvPr>
        </p:nvSpPr>
        <p:spPr>
          <a:xfrm>
            <a:off x="520700" y="568325"/>
            <a:ext cx="6523038" cy="2066925"/>
          </a:xfrm>
        </p:spPr>
        <p:txBody>
          <a:bodyPr/>
          <a:lstStyle/>
          <a:p>
            <a:r>
              <a:rPr lang="en-US"/>
              <a:t>Click to edit Master title style</a:t>
            </a:r>
          </a:p>
        </p:txBody>
      </p:sp>
      <p:sp>
        <p:nvSpPr>
          <p:cNvPr id="3" name="Text Placeholder 2">
            <a:extLst>
              <a:ext uri="{FF2B5EF4-FFF2-40B4-BE49-F238E27FC236}">
                <a16:creationId xmlns:a16="http://schemas.microsoft.com/office/drawing/2014/main" id="{80F70BF6-7753-FAD0-D3D4-3BA17B248975}"/>
              </a:ext>
            </a:extLst>
          </p:cNvPr>
          <p:cNvSpPr>
            <a:spLocks noGrp="1"/>
          </p:cNvSpPr>
          <p:nvPr>
            <p:ph type="body" idx="1"/>
          </p:nvPr>
        </p:nvSpPr>
        <p:spPr>
          <a:xfrm>
            <a:off x="520700" y="2620963"/>
            <a:ext cx="3200400" cy="12827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3B58D6-AA86-1101-5631-89783806D105}"/>
              </a:ext>
            </a:extLst>
          </p:cNvPr>
          <p:cNvSpPr>
            <a:spLocks noGrp="1"/>
          </p:cNvSpPr>
          <p:nvPr>
            <p:ph sz="half" idx="2"/>
          </p:nvPr>
        </p:nvSpPr>
        <p:spPr>
          <a:xfrm>
            <a:off x="520700" y="3903663"/>
            <a:ext cx="3200400" cy="5743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146E54-7326-B9DB-8F4C-139174CD156B}"/>
              </a:ext>
            </a:extLst>
          </p:cNvPr>
          <p:cNvSpPr>
            <a:spLocks noGrp="1"/>
          </p:cNvSpPr>
          <p:nvPr>
            <p:ph type="body" sz="quarter" idx="3"/>
          </p:nvPr>
        </p:nvSpPr>
        <p:spPr>
          <a:xfrm>
            <a:off x="3829050" y="2620963"/>
            <a:ext cx="3214688" cy="12827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E2D11A-9024-59CD-6FF0-BC4FF0674057}"/>
              </a:ext>
            </a:extLst>
          </p:cNvPr>
          <p:cNvSpPr>
            <a:spLocks noGrp="1"/>
          </p:cNvSpPr>
          <p:nvPr>
            <p:ph sz="quarter" idx="4"/>
          </p:nvPr>
        </p:nvSpPr>
        <p:spPr>
          <a:xfrm>
            <a:off x="3829050" y="3903663"/>
            <a:ext cx="3214688" cy="5743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A40B8F-84DA-A35B-432C-A3F28EB8CBFA}"/>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57D12657-C5FC-78EB-9577-E85ACE86C1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64C484-849F-B77F-DA2B-5F1DC0CF7755}"/>
              </a:ext>
            </a:extLst>
          </p:cNvPr>
          <p:cNvSpPr>
            <a:spLocks noGrp="1"/>
          </p:cNvSpPr>
          <p:nvPr>
            <p:ph type="sldNum" sz="quarter" idx="12"/>
          </p:nvPr>
        </p:nvSpPr>
        <p:spPr/>
        <p:txBody>
          <a:bodyPr/>
          <a:lstStyle/>
          <a:p>
            <a:fld id="{CFC31B36-778E-45CD-A18A-CF95276F9EEF}" type="slidenum">
              <a:rPr lang="en-US" smtClean="0"/>
              <a:t>‹#›</a:t>
            </a:fld>
            <a:endParaRPr lang="en-US"/>
          </a:p>
        </p:txBody>
      </p:sp>
    </p:spTree>
    <p:extLst>
      <p:ext uri="{BB962C8B-B14F-4D97-AF65-F5344CB8AC3E}">
        <p14:creationId xmlns:p14="http://schemas.microsoft.com/office/powerpoint/2010/main" val="2082404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C70B3-EF44-FDB0-2756-8F65511B4AD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A2BD4F6-D386-04EA-6B78-184390192F3F}"/>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632403B5-8F9B-4A4D-A1B3-CDC9388971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CFC4F52-EECD-1D24-7D8D-F97DE6499191}"/>
              </a:ext>
            </a:extLst>
          </p:cNvPr>
          <p:cNvSpPr>
            <a:spLocks noGrp="1"/>
          </p:cNvSpPr>
          <p:nvPr>
            <p:ph type="sldNum" sz="quarter" idx="12"/>
          </p:nvPr>
        </p:nvSpPr>
        <p:spPr/>
        <p:txBody>
          <a:bodyPr/>
          <a:lstStyle/>
          <a:p>
            <a:fld id="{CFC31B36-778E-45CD-A18A-CF95276F9EEF}" type="slidenum">
              <a:rPr lang="en-US" smtClean="0"/>
              <a:t>‹#›</a:t>
            </a:fld>
            <a:endParaRPr lang="en-US"/>
          </a:p>
        </p:txBody>
      </p:sp>
    </p:spTree>
    <p:extLst>
      <p:ext uri="{BB962C8B-B14F-4D97-AF65-F5344CB8AC3E}">
        <p14:creationId xmlns:p14="http://schemas.microsoft.com/office/powerpoint/2010/main" val="4213511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48D72-2D02-68D6-5739-7B6460303FF2}"/>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D59E3F36-16BC-D56A-D170-FD19C49A00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04DD59-B6C3-FBF7-9D7F-5AB026862251}"/>
              </a:ext>
            </a:extLst>
          </p:cNvPr>
          <p:cNvSpPr>
            <a:spLocks noGrp="1"/>
          </p:cNvSpPr>
          <p:nvPr>
            <p:ph type="sldNum" sz="quarter" idx="12"/>
          </p:nvPr>
        </p:nvSpPr>
        <p:spPr/>
        <p:txBody>
          <a:bodyPr/>
          <a:lstStyle/>
          <a:p>
            <a:fld id="{CFC31B36-778E-45CD-A18A-CF95276F9EEF}" type="slidenum">
              <a:rPr lang="en-US" smtClean="0"/>
              <a:t>‹#›</a:t>
            </a:fld>
            <a:endParaRPr lang="en-US"/>
          </a:p>
        </p:txBody>
      </p:sp>
    </p:spTree>
    <p:extLst>
      <p:ext uri="{BB962C8B-B14F-4D97-AF65-F5344CB8AC3E}">
        <p14:creationId xmlns:p14="http://schemas.microsoft.com/office/powerpoint/2010/main" val="4261558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82211-9AE1-26AA-EA01-CB86E9ED4760}"/>
              </a:ext>
            </a:extLst>
          </p:cNvPr>
          <p:cNvSpPr>
            <a:spLocks noGrp="1"/>
          </p:cNvSpPr>
          <p:nvPr>
            <p:ph type="title"/>
          </p:nvPr>
        </p:nvSpPr>
        <p:spPr>
          <a:xfrm>
            <a:off x="520700" y="712788"/>
            <a:ext cx="2439988" cy="2493962"/>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051F44-46FA-4DB3-9F9A-829FE5677A72}"/>
              </a:ext>
            </a:extLst>
          </p:cNvPr>
          <p:cNvSpPr>
            <a:spLocks noGrp="1"/>
          </p:cNvSpPr>
          <p:nvPr>
            <p:ph idx="1"/>
          </p:nvPr>
        </p:nvSpPr>
        <p:spPr>
          <a:xfrm>
            <a:off x="3214688" y="1538288"/>
            <a:ext cx="3829050" cy="75961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5E23A4-F707-09CB-07F5-D9F0B58EA7A0}"/>
              </a:ext>
            </a:extLst>
          </p:cNvPr>
          <p:cNvSpPr>
            <a:spLocks noGrp="1"/>
          </p:cNvSpPr>
          <p:nvPr>
            <p:ph type="body" sz="half" idx="2"/>
          </p:nvPr>
        </p:nvSpPr>
        <p:spPr>
          <a:xfrm>
            <a:off x="520700" y="3206750"/>
            <a:ext cx="2439988" cy="59404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5B1712-7269-C363-9D02-607DB12B54F9}"/>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80C85F73-A196-5775-21BC-44E789CC50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A07C27-8CF9-EA71-D6F2-C6AEF01B4F54}"/>
              </a:ext>
            </a:extLst>
          </p:cNvPr>
          <p:cNvSpPr>
            <a:spLocks noGrp="1"/>
          </p:cNvSpPr>
          <p:nvPr>
            <p:ph type="sldNum" sz="quarter" idx="12"/>
          </p:nvPr>
        </p:nvSpPr>
        <p:spPr/>
        <p:txBody>
          <a:bodyPr/>
          <a:lstStyle/>
          <a:p>
            <a:fld id="{CFC31B36-778E-45CD-A18A-CF95276F9EEF}" type="slidenum">
              <a:rPr lang="en-US" smtClean="0"/>
              <a:t>‹#›</a:t>
            </a:fld>
            <a:endParaRPr lang="en-US"/>
          </a:p>
        </p:txBody>
      </p:sp>
    </p:spTree>
    <p:extLst>
      <p:ext uri="{BB962C8B-B14F-4D97-AF65-F5344CB8AC3E}">
        <p14:creationId xmlns:p14="http://schemas.microsoft.com/office/powerpoint/2010/main" val="416439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FB9FC-C07D-3E41-D898-7F159F21E78D}"/>
              </a:ext>
            </a:extLst>
          </p:cNvPr>
          <p:cNvSpPr>
            <a:spLocks noGrp="1"/>
          </p:cNvSpPr>
          <p:nvPr>
            <p:ph type="title"/>
          </p:nvPr>
        </p:nvSpPr>
        <p:spPr>
          <a:xfrm>
            <a:off x="520700" y="712788"/>
            <a:ext cx="2439988" cy="2493962"/>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7BD82A-F084-F943-2AF8-AAB5BDB4B3D2}"/>
              </a:ext>
            </a:extLst>
          </p:cNvPr>
          <p:cNvSpPr>
            <a:spLocks noGrp="1"/>
          </p:cNvSpPr>
          <p:nvPr>
            <p:ph type="pic" idx="1"/>
          </p:nvPr>
        </p:nvSpPr>
        <p:spPr>
          <a:xfrm>
            <a:off x="3214688" y="1538288"/>
            <a:ext cx="3829050" cy="75961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2CF310-846A-2DA6-DA47-4C7B5CD20875}"/>
              </a:ext>
            </a:extLst>
          </p:cNvPr>
          <p:cNvSpPr>
            <a:spLocks noGrp="1"/>
          </p:cNvSpPr>
          <p:nvPr>
            <p:ph type="body" sz="half" idx="2"/>
          </p:nvPr>
        </p:nvSpPr>
        <p:spPr>
          <a:xfrm>
            <a:off x="520700" y="3206750"/>
            <a:ext cx="2439988" cy="59404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2D03F-EC9F-C6E4-4455-D4FFD7F77FA3}"/>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1D684CE-51F0-FBF1-E0BC-71EBC395A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0F716C-9503-3B3C-3016-C11DB5E35E74}"/>
              </a:ext>
            </a:extLst>
          </p:cNvPr>
          <p:cNvSpPr>
            <a:spLocks noGrp="1"/>
          </p:cNvSpPr>
          <p:nvPr>
            <p:ph type="sldNum" sz="quarter" idx="12"/>
          </p:nvPr>
        </p:nvSpPr>
        <p:spPr/>
        <p:txBody>
          <a:bodyPr/>
          <a:lstStyle/>
          <a:p>
            <a:fld id="{CFC31B36-778E-45CD-A18A-CF95276F9EEF}" type="slidenum">
              <a:rPr lang="en-US" smtClean="0"/>
              <a:t>‹#›</a:t>
            </a:fld>
            <a:endParaRPr lang="en-US"/>
          </a:p>
        </p:txBody>
      </p:sp>
    </p:spTree>
    <p:extLst>
      <p:ext uri="{BB962C8B-B14F-4D97-AF65-F5344CB8AC3E}">
        <p14:creationId xmlns:p14="http://schemas.microsoft.com/office/powerpoint/2010/main" val="3837045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657AB-D669-863B-B683-50C2D47232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ACD72C-69D5-7078-3F34-42A4AB15C0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4A40E0-A582-2BE3-6EA9-011FEE58640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7C3FF18-2E15-9BF4-0228-AECDF05814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638445-4BB6-A36D-C1D7-E4706508FDD7}"/>
              </a:ext>
            </a:extLst>
          </p:cNvPr>
          <p:cNvSpPr>
            <a:spLocks noGrp="1"/>
          </p:cNvSpPr>
          <p:nvPr>
            <p:ph type="sldNum" sz="quarter" idx="12"/>
          </p:nvPr>
        </p:nvSpPr>
        <p:spPr/>
        <p:txBody>
          <a:bodyPr/>
          <a:lstStyle/>
          <a:p>
            <a:fld id="{CFC31B36-778E-45CD-A18A-CF95276F9EEF}" type="slidenum">
              <a:rPr lang="en-US" smtClean="0"/>
              <a:t>‹#›</a:t>
            </a:fld>
            <a:endParaRPr lang="en-US"/>
          </a:p>
        </p:txBody>
      </p:sp>
    </p:spTree>
    <p:extLst>
      <p:ext uri="{BB962C8B-B14F-4D97-AF65-F5344CB8AC3E}">
        <p14:creationId xmlns:p14="http://schemas.microsoft.com/office/powerpoint/2010/main" val="2094727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FE267A-1FD3-E1EE-4CB3-E5042DE0E57A}"/>
              </a:ext>
            </a:extLst>
          </p:cNvPr>
          <p:cNvSpPr>
            <a:spLocks noGrp="1"/>
          </p:cNvSpPr>
          <p:nvPr>
            <p:ph type="title" orient="vert"/>
          </p:nvPr>
        </p:nvSpPr>
        <p:spPr>
          <a:xfrm>
            <a:off x="5411788" y="568325"/>
            <a:ext cx="1630362" cy="905827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BFC791-CB28-6D35-B29E-41D54838F5E4}"/>
              </a:ext>
            </a:extLst>
          </p:cNvPr>
          <p:cNvSpPr>
            <a:spLocks noGrp="1"/>
          </p:cNvSpPr>
          <p:nvPr>
            <p:ph type="body" orient="vert" idx="1"/>
          </p:nvPr>
        </p:nvSpPr>
        <p:spPr>
          <a:xfrm>
            <a:off x="520700" y="568325"/>
            <a:ext cx="4738688" cy="905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EC14E2-686D-7059-9EAD-C3BA7C94E46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D17277D-CCDC-BACD-A347-E6ED570D79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00D836-99FF-7EC1-DF03-04A8E232687E}"/>
              </a:ext>
            </a:extLst>
          </p:cNvPr>
          <p:cNvSpPr>
            <a:spLocks noGrp="1"/>
          </p:cNvSpPr>
          <p:nvPr>
            <p:ph type="sldNum" sz="quarter" idx="12"/>
          </p:nvPr>
        </p:nvSpPr>
        <p:spPr/>
        <p:txBody>
          <a:bodyPr/>
          <a:lstStyle/>
          <a:p>
            <a:fld id="{CFC31B36-778E-45CD-A18A-CF95276F9EEF}" type="slidenum">
              <a:rPr lang="en-US" smtClean="0"/>
              <a:t>‹#›</a:t>
            </a:fld>
            <a:endParaRPr lang="en-US"/>
          </a:p>
        </p:txBody>
      </p:sp>
    </p:spTree>
    <p:extLst>
      <p:ext uri="{BB962C8B-B14F-4D97-AF65-F5344CB8AC3E}">
        <p14:creationId xmlns:p14="http://schemas.microsoft.com/office/powerpoint/2010/main" val="25243552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99774B-F3FE-8FD7-2F45-9003D75BFB74}"/>
              </a:ext>
            </a:extLst>
          </p:cNvPr>
          <p:cNvSpPr>
            <a:spLocks noGrp="1"/>
          </p:cNvSpPr>
          <p:nvPr>
            <p:ph type="title"/>
          </p:nvPr>
        </p:nvSpPr>
        <p:spPr>
          <a:xfrm>
            <a:off x="520700" y="568325"/>
            <a:ext cx="6521450" cy="206692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256CBA-EE93-4032-F98B-B2635EC090DC}"/>
              </a:ext>
            </a:extLst>
          </p:cNvPr>
          <p:cNvSpPr>
            <a:spLocks noGrp="1"/>
          </p:cNvSpPr>
          <p:nvPr>
            <p:ph type="body" idx="1"/>
          </p:nvPr>
        </p:nvSpPr>
        <p:spPr>
          <a:xfrm>
            <a:off x="520700" y="2844800"/>
            <a:ext cx="6521450" cy="6781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32DD40-368B-F47D-0BE2-7FFE644FA4BB}"/>
              </a:ext>
            </a:extLst>
          </p:cNvPr>
          <p:cNvSpPr>
            <a:spLocks noGrp="1"/>
          </p:cNvSpPr>
          <p:nvPr>
            <p:ph type="dt" sz="half" idx="2"/>
          </p:nvPr>
        </p:nvSpPr>
        <p:spPr>
          <a:xfrm>
            <a:off x="520700" y="9906000"/>
            <a:ext cx="1700213" cy="569913"/>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67D15DEC-E288-043C-F049-006686FF3726}"/>
              </a:ext>
            </a:extLst>
          </p:cNvPr>
          <p:cNvSpPr>
            <a:spLocks noGrp="1"/>
          </p:cNvSpPr>
          <p:nvPr>
            <p:ph type="ftr" sz="quarter" idx="3"/>
          </p:nvPr>
        </p:nvSpPr>
        <p:spPr>
          <a:xfrm>
            <a:off x="2505075" y="9906000"/>
            <a:ext cx="2552700" cy="569913"/>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A0CE52C-08C1-DE14-55DE-A6F495D61B2D}"/>
              </a:ext>
            </a:extLst>
          </p:cNvPr>
          <p:cNvSpPr>
            <a:spLocks noGrp="1"/>
          </p:cNvSpPr>
          <p:nvPr>
            <p:ph type="sldNum" sz="quarter" idx="4"/>
          </p:nvPr>
        </p:nvSpPr>
        <p:spPr>
          <a:xfrm>
            <a:off x="5341938" y="9906000"/>
            <a:ext cx="1700212" cy="569913"/>
          </a:xfrm>
          <a:prstGeom prst="rect">
            <a:avLst/>
          </a:prstGeom>
        </p:spPr>
        <p:txBody>
          <a:bodyPr vert="horz" lIns="91440" tIns="45720" rIns="91440" bIns="45720" rtlCol="0" anchor="ctr"/>
          <a:lstStyle>
            <a:lvl1pPr algn="r">
              <a:defRPr sz="1200">
                <a:solidFill>
                  <a:schemeClr val="tx1">
                    <a:tint val="82000"/>
                  </a:schemeClr>
                </a:solidFill>
                <a:highlight>
                  <a:srgbClr val="000000"/>
                </a:highlight>
              </a:defRPr>
            </a:lvl1pPr>
          </a:lstStyle>
          <a:p>
            <a:fld id="{CFC31B36-778E-45CD-A18A-CF95276F9EEF}" type="slidenum">
              <a:rPr lang="en-US" smtClean="0"/>
              <a:pPr/>
              <a:t>‹#›</a:t>
            </a:fld>
            <a:endParaRPr lang="en-US" dirty="0"/>
          </a:p>
        </p:txBody>
      </p:sp>
    </p:spTree>
    <p:extLst>
      <p:ext uri="{BB962C8B-B14F-4D97-AF65-F5344CB8AC3E}">
        <p14:creationId xmlns:p14="http://schemas.microsoft.com/office/powerpoint/2010/main" val="3818648932"/>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19.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Depi2026/Logistics-Project"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8969" y="478539"/>
            <a:ext cx="6644089" cy="2353616"/>
          </a:xfrm>
          <a:prstGeom prst="rect">
            <a:avLst/>
          </a:prstGeom>
          <a:noFill/>
          <a:ln/>
        </p:spPr>
        <p:txBody>
          <a:bodyPr wrap="square" lIns="0" tIns="0" rIns="0" bIns="0" rtlCol="0" anchor="t"/>
          <a:lstStyle/>
          <a:p>
            <a:pPr marL="0" indent="0" algn="l">
              <a:lnSpc>
                <a:spcPct val="133000"/>
              </a:lnSpc>
              <a:spcAft>
                <a:spcPts val="2800"/>
              </a:spcAft>
              <a:buNone/>
            </a:pPr>
            <a:endParaRPr lang="en-US" sz="1000" dirty="0"/>
          </a:p>
          <a:p>
            <a:pPr marL="0" indent="0" algn="l">
              <a:lnSpc>
                <a:spcPct val="133000"/>
              </a:lnSpc>
              <a:spcAft>
                <a:spcPts val="2800"/>
              </a:spcAft>
              <a:buNone/>
            </a:pPr>
            <a:endParaRPr lang="en-US" sz="1000" dirty="0"/>
          </a:p>
          <a:p>
            <a:pPr marL="0" indent="0" algn="l">
              <a:lnSpc>
                <a:spcPct val="133000"/>
              </a:lnSpc>
              <a:spcAft>
                <a:spcPts val="2800"/>
              </a:spcAft>
              <a:buNone/>
            </a:pPr>
            <a:endParaRPr lang="en-US" sz="1000" dirty="0"/>
          </a:p>
          <a:p>
            <a:pPr marL="0" indent="0" algn="l">
              <a:lnSpc>
                <a:spcPct val="133000"/>
              </a:lnSpc>
              <a:spcAft>
                <a:spcPts val="2800"/>
              </a:spcAft>
              <a:buNone/>
            </a:pPr>
            <a:endParaRPr lang="en-US" sz="1000" dirty="0"/>
          </a:p>
          <a:p>
            <a:pPr marL="0" indent="0" algn="l">
              <a:lnSpc>
                <a:spcPct val="133000"/>
              </a:lnSpc>
              <a:spcAft>
                <a:spcPts val="2800"/>
              </a:spcAft>
              <a:buNone/>
            </a:pPr>
            <a:endParaRPr lang="en-US" sz="1000" dirty="0"/>
          </a:p>
          <a:p>
            <a:pPr marL="0" indent="0" algn="l">
              <a:lnSpc>
                <a:spcPct val="133000"/>
              </a:lnSpc>
              <a:spcAft>
                <a:spcPts val="2800"/>
              </a:spcAft>
              <a:buNone/>
            </a:pPr>
            <a:endParaRPr lang="en-US" sz="1000" dirty="0"/>
          </a:p>
        </p:txBody>
      </p:sp>
      <p:sp>
        <p:nvSpPr>
          <p:cNvPr id="3" name="Text 1"/>
          <p:cNvSpPr/>
          <p:nvPr/>
        </p:nvSpPr>
        <p:spPr>
          <a:xfrm>
            <a:off x="374781" y="3028838"/>
            <a:ext cx="6812402" cy="437061"/>
          </a:xfrm>
          <a:prstGeom prst="rect">
            <a:avLst/>
          </a:prstGeom>
          <a:noFill/>
          <a:ln/>
        </p:spPr>
        <p:txBody>
          <a:bodyPr wrap="none" lIns="0" tIns="0" rIns="0" bIns="0" rtlCol="0" anchor="t"/>
          <a:lstStyle/>
          <a:p>
            <a:pPr marL="0" indent="0" algn="ctr">
              <a:lnSpc>
                <a:spcPct val="104000"/>
              </a:lnSpc>
              <a:buNone/>
            </a:pPr>
            <a:r>
              <a:rPr lang="en-US" sz="2750" b="1" dirty="0">
                <a:solidFill>
                  <a:srgbClr val="FFB393"/>
                </a:solidFill>
                <a:latin typeface="Brygada 1918 Bold" pitchFamily="34" charset="0"/>
                <a:ea typeface="Brygada 1918 Bold" pitchFamily="34" charset="-122"/>
                <a:cs typeface="Brygada 1918 Bold" pitchFamily="34" charset="-120"/>
              </a:rPr>
              <a:t>Digital Egypt Pioneers Initiative (DEPI)</a:t>
            </a:r>
            <a:endParaRPr lang="en-US" sz="2750" dirty="0"/>
          </a:p>
        </p:txBody>
      </p:sp>
      <p:sp>
        <p:nvSpPr>
          <p:cNvPr id="4" name="Text 2"/>
          <p:cNvSpPr/>
          <p:nvPr/>
        </p:nvSpPr>
        <p:spPr>
          <a:xfrm>
            <a:off x="968831" y="3518331"/>
            <a:ext cx="5624364" cy="437061"/>
          </a:xfrm>
          <a:prstGeom prst="rect">
            <a:avLst/>
          </a:prstGeom>
          <a:noFill/>
          <a:ln/>
        </p:spPr>
        <p:txBody>
          <a:bodyPr wrap="none" lIns="0" tIns="0" rIns="0" bIns="0" rtlCol="0" anchor="t"/>
          <a:lstStyle/>
          <a:p>
            <a:pPr marL="0" indent="0" algn="ctr">
              <a:lnSpc>
                <a:spcPct val="104000"/>
              </a:lnSpc>
              <a:buNone/>
            </a:pPr>
            <a:r>
              <a:rPr lang="en-US" sz="2750" b="1" dirty="0">
                <a:solidFill>
                  <a:srgbClr val="FFB393"/>
                </a:solidFill>
                <a:latin typeface="Brygada 1918 Bold" pitchFamily="34" charset="0"/>
                <a:ea typeface="Brygada 1918 Bold" pitchFamily="34" charset="-122"/>
                <a:cs typeface="Brygada 1918 Bold" pitchFamily="34" charset="-120"/>
              </a:rPr>
              <a:t>Logistics Performance Analysis</a:t>
            </a:r>
            <a:endParaRPr lang="en-US" sz="2750" dirty="0"/>
          </a:p>
        </p:txBody>
      </p:sp>
      <p:sp>
        <p:nvSpPr>
          <p:cNvPr id="5" name="Text 3"/>
          <p:cNvSpPr/>
          <p:nvPr/>
        </p:nvSpPr>
        <p:spPr>
          <a:xfrm>
            <a:off x="269916" y="4152075"/>
            <a:ext cx="7022194" cy="209792"/>
          </a:xfrm>
          <a:prstGeom prst="rect">
            <a:avLst/>
          </a:prstGeom>
          <a:noFill/>
          <a:ln/>
        </p:spPr>
        <p:txBody>
          <a:bodyPr wrap="none" lIns="0" tIns="0" rIns="0" bIns="0" rtlCol="0" anchor="t"/>
          <a:lstStyle/>
          <a:p>
            <a:pPr marL="0" indent="0" algn="ctr">
              <a:lnSpc>
                <a:spcPct val="133000"/>
              </a:lnSpc>
              <a:buNone/>
            </a:pPr>
            <a:endParaRPr lang="en-US" sz="1000" dirty="0"/>
          </a:p>
        </p:txBody>
      </p:sp>
      <p:sp>
        <p:nvSpPr>
          <p:cNvPr id="6" name="Text 4"/>
          <p:cNvSpPr/>
          <p:nvPr/>
        </p:nvSpPr>
        <p:spPr>
          <a:xfrm>
            <a:off x="1019233" y="4558550"/>
            <a:ext cx="5523500" cy="349673"/>
          </a:xfrm>
          <a:prstGeom prst="rect">
            <a:avLst/>
          </a:prstGeom>
          <a:noFill/>
          <a:ln/>
        </p:spPr>
        <p:txBody>
          <a:bodyPr wrap="none" lIns="0" tIns="0" rIns="0" bIns="0" rtlCol="0" anchor="t"/>
          <a:lstStyle/>
          <a:p>
            <a:pPr marL="0" indent="0" algn="ctr">
              <a:lnSpc>
                <a:spcPct val="104000"/>
              </a:lnSpc>
              <a:buNone/>
            </a:pPr>
            <a:r>
              <a:rPr lang="en-US" sz="2200" b="1" dirty="0">
                <a:solidFill>
                  <a:srgbClr val="F2F2F2"/>
                </a:solidFill>
                <a:latin typeface="Brygada 1918 Bold" pitchFamily="34" charset="0"/>
                <a:ea typeface="Brygada 1918 Bold" pitchFamily="34" charset="-122"/>
                <a:cs typeface="Brygada 1918 Bold" pitchFamily="34" charset="-120"/>
              </a:rPr>
              <a:t>Capstone Project — CAI4_DAT2_S1 [R4]</a:t>
            </a:r>
            <a:endParaRPr lang="en-US" sz="2200" dirty="0"/>
          </a:p>
        </p:txBody>
      </p:sp>
      <p:sp>
        <p:nvSpPr>
          <p:cNvPr id="7" name="Text 5"/>
          <p:cNvSpPr/>
          <p:nvPr/>
        </p:nvSpPr>
        <p:spPr>
          <a:xfrm>
            <a:off x="2132314" y="4960655"/>
            <a:ext cx="3297398" cy="349673"/>
          </a:xfrm>
          <a:prstGeom prst="rect">
            <a:avLst/>
          </a:prstGeom>
          <a:noFill/>
          <a:ln/>
        </p:spPr>
        <p:txBody>
          <a:bodyPr wrap="none" lIns="0" tIns="0" rIns="0" bIns="0" rtlCol="0" anchor="t"/>
          <a:lstStyle/>
          <a:p>
            <a:pPr marL="0" indent="0" algn="ctr">
              <a:lnSpc>
                <a:spcPct val="104000"/>
              </a:lnSpc>
              <a:buNone/>
            </a:pPr>
            <a:r>
              <a:rPr lang="en-US" sz="2200" b="1" dirty="0">
                <a:solidFill>
                  <a:srgbClr val="F2F2F2"/>
                </a:solidFill>
                <a:latin typeface="Brygada 1918 Bold" pitchFamily="34" charset="0"/>
                <a:ea typeface="Brygada 1918 Bold" pitchFamily="34" charset="-122"/>
                <a:cs typeface="Brygada 1918 Bold" pitchFamily="34" charset="-120"/>
              </a:rPr>
              <a:t>Track: Data Analytics </a:t>
            </a:r>
            <a:endParaRPr lang="en-US" sz="2200" dirty="0"/>
          </a:p>
        </p:txBody>
      </p:sp>
      <p:sp>
        <p:nvSpPr>
          <p:cNvPr id="8" name="Text 6"/>
          <p:cNvSpPr/>
          <p:nvPr/>
        </p:nvSpPr>
        <p:spPr>
          <a:xfrm>
            <a:off x="1142867" y="5362761"/>
            <a:ext cx="5276230" cy="349673"/>
          </a:xfrm>
          <a:prstGeom prst="rect">
            <a:avLst/>
          </a:prstGeom>
          <a:noFill/>
          <a:ln/>
        </p:spPr>
        <p:txBody>
          <a:bodyPr wrap="none" lIns="0" tIns="0" rIns="0" bIns="0" rtlCol="0" anchor="t"/>
          <a:lstStyle/>
          <a:p>
            <a:pPr marL="0" indent="0" algn="ctr">
              <a:lnSpc>
                <a:spcPct val="104000"/>
              </a:lnSpc>
              <a:buNone/>
            </a:pPr>
            <a:r>
              <a:rPr lang="en-US" sz="2200" b="1" dirty="0">
                <a:solidFill>
                  <a:srgbClr val="F2F2F2"/>
                </a:solidFill>
                <a:latin typeface="Brygada 1918 Bold" pitchFamily="34" charset="0"/>
                <a:ea typeface="Brygada 1918 Bold" pitchFamily="34" charset="-122"/>
                <a:cs typeface="Brygada 1918 Bold" pitchFamily="34" charset="-120"/>
              </a:rPr>
              <a:t>Major: Microsoft Power BI Specialist </a:t>
            </a:r>
            <a:endParaRPr lang="en-US" sz="2200" dirty="0"/>
          </a:p>
        </p:txBody>
      </p:sp>
      <p:sp>
        <p:nvSpPr>
          <p:cNvPr id="9" name="Text 7"/>
          <p:cNvSpPr/>
          <p:nvPr/>
        </p:nvSpPr>
        <p:spPr>
          <a:xfrm>
            <a:off x="269916" y="5909117"/>
            <a:ext cx="7022194" cy="262286"/>
          </a:xfrm>
          <a:prstGeom prst="rect">
            <a:avLst/>
          </a:prstGeom>
          <a:noFill/>
          <a:ln/>
        </p:spPr>
        <p:txBody>
          <a:bodyPr wrap="none" lIns="0" tIns="0" rIns="0" bIns="0" rtlCol="0" anchor="t"/>
          <a:lstStyle/>
          <a:p>
            <a:pPr marL="0" indent="0" algn="ctr">
              <a:lnSpc>
                <a:spcPct val="133000"/>
              </a:lnSpc>
              <a:buNone/>
            </a:pPr>
            <a:r>
              <a:rPr lang="en-US" sz="1250" dirty="0">
                <a:solidFill>
                  <a:srgbClr val="F2F2F2"/>
                </a:solidFill>
                <a:latin typeface="Montserrat Medium" pitchFamily="34" charset="0"/>
                <a:ea typeface="Montserrat Medium" pitchFamily="34" charset="-122"/>
                <a:cs typeface="Montserrat Medium" pitchFamily="34" charset="-120"/>
              </a:rPr>
              <a:t>Instructor: Mahmoud Seraj</a:t>
            </a:r>
            <a:endParaRPr lang="en-US" sz="1250" dirty="0"/>
          </a:p>
        </p:txBody>
      </p:sp>
      <p:sp>
        <p:nvSpPr>
          <p:cNvPr id="10" name="Text 8"/>
          <p:cNvSpPr/>
          <p:nvPr/>
        </p:nvSpPr>
        <p:spPr>
          <a:xfrm>
            <a:off x="458969" y="6318915"/>
            <a:ext cx="7022194" cy="209792"/>
          </a:xfrm>
          <a:prstGeom prst="rect">
            <a:avLst/>
          </a:prstGeom>
          <a:noFill/>
          <a:ln/>
        </p:spPr>
        <p:txBody>
          <a:bodyPr wrap="none" lIns="0" tIns="0" rIns="0" bIns="0" rtlCol="0" anchor="t"/>
          <a:lstStyle/>
          <a:p>
            <a:pPr marL="0" indent="0" algn="l">
              <a:lnSpc>
                <a:spcPct val="133000"/>
              </a:lnSpc>
              <a:buNone/>
            </a:pPr>
            <a:endParaRPr lang="en-US" sz="1000" dirty="0"/>
          </a:p>
        </p:txBody>
      </p:sp>
      <p:sp>
        <p:nvSpPr>
          <p:cNvPr id="11" name="Text 9"/>
          <p:cNvSpPr/>
          <p:nvPr/>
        </p:nvSpPr>
        <p:spPr>
          <a:xfrm>
            <a:off x="458969" y="6725390"/>
            <a:ext cx="3875016" cy="437061"/>
          </a:xfrm>
          <a:prstGeom prst="rect">
            <a:avLst/>
          </a:prstGeom>
          <a:noFill/>
          <a:ln/>
        </p:spPr>
        <p:txBody>
          <a:bodyPr wrap="none" lIns="0" tIns="0" rIns="0" bIns="0" rtlCol="0" anchor="t"/>
          <a:lstStyle/>
          <a:p>
            <a:pPr marL="0" indent="0" algn="l">
              <a:lnSpc>
                <a:spcPct val="104000"/>
              </a:lnSpc>
              <a:buNone/>
            </a:pPr>
            <a:endParaRPr lang="en-US" sz="2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8969" y="360566"/>
            <a:ext cx="5398203" cy="437061"/>
          </a:xfrm>
          <a:prstGeom prst="rect">
            <a:avLst/>
          </a:prstGeom>
          <a:noFill/>
          <a:ln/>
        </p:spPr>
        <p:txBody>
          <a:bodyPr wrap="none" lIns="0" tIns="0" rIns="0" bIns="0" rtlCol="0" anchor="t"/>
          <a:lstStyle/>
          <a:p>
            <a:pPr marL="0" indent="0" algn="l">
              <a:lnSpc>
                <a:spcPct val="104000"/>
              </a:lnSpc>
              <a:buNone/>
            </a:pPr>
            <a:r>
              <a:rPr lang="en-US" sz="2750" b="1" dirty="0">
                <a:solidFill>
                  <a:srgbClr val="FFB393"/>
                </a:solidFill>
                <a:latin typeface="Brygada 1918 Bold" pitchFamily="34" charset="0"/>
                <a:ea typeface="Brygada 1918 Bold" pitchFamily="34" charset="-122"/>
                <a:cs typeface="Brygada 1918 Bold" pitchFamily="34" charset="-120"/>
              </a:rPr>
              <a:t>Project Overview &amp; Objectives</a:t>
            </a:r>
            <a:endParaRPr lang="en-US" sz="2750" dirty="0"/>
          </a:p>
        </p:txBody>
      </p:sp>
      <p:sp>
        <p:nvSpPr>
          <p:cNvPr id="3" name="Text 1"/>
          <p:cNvSpPr/>
          <p:nvPr/>
        </p:nvSpPr>
        <p:spPr>
          <a:xfrm>
            <a:off x="458969" y="1125391"/>
            <a:ext cx="2476202"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Project Objective</a:t>
            </a:r>
            <a:endParaRPr lang="en-US" sz="1650" dirty="0"/>
          </a:p>
        </p:txBody>
      </p:sp>
      <p:sp>
        <p:nvSpPr>
          <p:cNvPr id="4" name="Text 2"/>
          <p:cNvSpPr/>
          <p:nvPr/>
        </p:nvSpPr>
        <p:spPr>
          <a:xfrm>
            <a:off x="458969" y="1518696"/>
            <a:ext cx="3162070" cy="2845263"/>
          </a:xfrm>
          <a:prstGeom prst="rect">
            <a:avLst/>
          </a:prstGeom>
          <a:noFill/>
          <a:ln/>
        </p:spPr>
        <p:txBody>
          <a:bodyPr wrap="square" lIns="0" tIns="0" rIns="0" bIns="0" rtlCol="0" anchor="t">
            <a:normAutofit/>
          </a:bodyPr>
          <a:lstStyle/>
          <a:p>
            <a:pPr marL="0" indent="0" algn="l">
              <a:lnSpc>
                <a:spcPct val="133000"/>
              </a:lnSpc>
              <a:spcAft>
                <a:spcPts val="900"/>
              </a:spcAft>
              <a:buNone/>
            </a:pPr>
            <a:r>
              <a:rPr lang="en-US" sz="1000" dirty="0">
                <a:solidFill>
                  <a:srgbClr val="F4CAB8"/>
                </a:solidFill>
                <a:latin typeface="Montserrat Medium" pitchFamily="34" charset="0"/>
                <a:ea typeface="Montserrat Medium" pitchFamily="34" charset="-122"/>
                <a:cs typeface="Montserrat Medium" pitchFamily="34" charset="-120"/>
              </a:rPr>
              <a:t>This project analyzes two full years of delivery operations data spanning January 2023 through December 2024 for a logistics network operating across six distribution hubs. The dataset covers 25,852 individual delivery orders, involving 53 drivers, 45 vehicles, and six hub locations.</a:t>
            </a:r>
            <a:endParaRPr lang="en-US" sz="1000" dirty="0"/>
          </a:p>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Using Microsoft Power BI as the primary analytics platform, the project transforms raw operational data into a suite of interactive dashboards designed to give decision-makers at all levels a clear, real-time view of network performance and improvement opportunities.</a:t>
            </a:r>
            <a:endParaRPr lang="en-US" sz="1000" dirty="0"/>
          </a:p>
        </p:txBody>
      </p:sp>
      <p:sp>
        <p:nvSpPr>
          <p:cNvPr id="5" name="Text 3"/>
          <p:cNvSpPr/>
          <p:nvPr/>
        </p:nvSpPr>
        <p:spPr>
          <a:xfrm>
            <a:off x="3944865" y="1125391"/>
            <a:ext cx="2476202"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Central Challenges</a:t>
            </a:r>
            <a:endParaRPr lang="en-US" sz="1650" dirty="0"/>
          </a:p>
        </p:txBody>
      </p:sp>
      <p:sp>
        <p:nvSpPr>
          <p:cNvPr id="6" name="Text 4"/>
          <p:cNvSpPr/>
          <p:nvPr/>
        </p:nvSpPr>
        <p:spPr>
          <a:xfrm>
            <a:off x="3944865" y="1518696"/>
            <a:ext cx="3162070" cy="1606084"/>
          </a:xfrm>
          <a:prstGeom prst="rect">
            <a:avLst/>
          </a:prstGeom>
          <a:noFill/>
          <a:ln/>
        </p:spPr>
        <p:txBody>
          <a:bodyPr wrap="square" lIns="0" tIns="0" rIns="0" bIns="0" rtlCol="0" anchor="t">
            <a:normAutofit/>
          </a:bodyPr>
          <a:lstStyle/>
          <a:p>
            <a:pPr marL="203200" indent="-203200" algn="l">
              <a:lnSpc>
                <a:spcPct val="133000"/>
              </a:lnSpc>
              <a:buSzPct val="100000"/>
              <a:buChar char="•"/>
            </a:pPr>
            <a:r>
              <a:rPr lang="en-US" sz="1000" dirty="0">
                <a:solidFill>
                  <a:srgbClr val="F4CAB8"/>
                </a:solidFill>
                <a:latin typeface="Montserrat Medium" pitchFamily="34" charset="0"/>
                <a:ea typeface="Montserrat Medium" pitchFamily="34" charset="-122"/>
                <a:cs typeface="Montserrat Medium" pitchFamily="34" charset="-120"/>
              </a:rPr>
              <a:t>Delay rate of 20.4% across all delivered orders</a:t>
            </a:r>
            <a:endParaRPr lang="en-US" sz="1000" dirty="0"/>
          </a:p>
          <a:p>
            <a:pPr marL="203200" indent="-203200" algn="l">
              <a:lnSpc>
                <a:spcPct val="133000"/>
              </a:lnSpc>
              <a:buSzPct val="100000"/>
              <a:buChar char="•"/>
            </a:pPr>
            <a:r>
              <a:rPr lang="en-US" sz="1000" dirty="0">
                <a:solidFill>
                  <a:srgbClr val="F4CAB8"/>
                </a:solidFill>
                <a:latin typeface="Montserrat Medium" pitchFamily="34" charset="0"/>
                <a:ea typeface="Montserrat Medium" pitchFamily="34" charset="-122"/>
                <a:cs typeface="Montserrat Medium" pitchFamily="34" charset="-120"/>
              </a:rPr>
              <a:t>Aging vehicle fleet contributing to frequent breakdowns</a:t>
            </a:r>
            <a:endParaRPr lang="en-US" sz="1000" dirty="0"/>
          </a:p>
          <a:p>
            <a:pPr marL="203200" indent="-203200" algn="l">
              <a:lnSpc>
                <a:spcPct val="133000"/>
              </a:lnSpc>
              <a:buSzPct val="100000"/>
              <a:buChar char="•"/>
            </a:pPr>
            <a:r>
              <a:rPr lang="en-US" sz="1000" dirty="0">
                <a:solidFill>
                  <a:srgbClr val="F4CAB8"/>
                </a:solidFill>
                <a:latin typeface="Montserrat Medium" pitchFamily="34" charset="0"/>
                <a:ea typeface="Montserrat Medium" pitchFamily="34" charset="-122"/>
                <a:cs typeface="Montserrat Medium" pitchFamily="34" charset="-120"/>
              </a:rPr>
              <a:t>Uneven workload distribution across hubs</a:t>
            </a:r>
            <a:endParaRPr lang="en-US" sz="1000" dirty="0"/>
          </a:p>
          <a:p>
            <a:pPr marL="203200" indent="-203200" algn="l">
              <a:lnSpc>
                <a:spcPct val="133000"/>
              </a:lnSpc>
              <a:buSzPct val="100000"/>
              <a:buChar char="•"/>
            </a:pPr>
            <a:r>
              <a:rPr lang="en-US" sz="1000" dirty="0">
                <a:solidFill>
                  <a:srgbClr val="F4CAB8"/>
                </a:solidFill>
                <a:latin typeface="Montserrat Medium" pitchFamily="34" charset="0"/>
                <a:ea typeface="Montserrat Medium" pitchFamily="34" charset="-122"/>
                <a:cs typeface="Montserrat Medium" pitchFamily="34" charset="-120"/>
              </a:rPr>
              <a:t>Absence of centralized system for tracking driver-level performance</a:t>
            </a:r>
            <a:endParaRPr lang="en-US" sz="1000" dirty="0"/>
          </a:p>
        </p:txBody>
      </p:sp>
      <p:sp>
        <p:nvSpPr>
          <p:cNvPr id="7" name="Text 5"/>
          <p:cNvSpPr/>
          <p:nvPr/>
        </p:nvSpPr>
        <p:spPr>
          <a:xfrm>
            <a:off x="458969" y="4694985"/>
            <a:ext cx="3240104" cy="432753"/>
          </a:xfrm>
          <a:prstGeom prst="rect">
            <a:avLst/>
          </a:prstGeom>
          <a:noFill/>
          <a:ln/>
        </p:spPr>
        <p:txBody>
          <a:bodyPr wrap="none" lIns="0" tIns="0" rIns="0" bIns="0" rtlCol="0" anchor="t"/>
          <a:lstStyle/>
          <a:p>
            <a:pPr marL="0" indent="0" algn="ctr">
              <a:lnSpc>
                <a:spcPct val="83000"/>
              </a:lnSpc>
              <a:buNone/>
            </a:pPr>
            <a:r>
              <a:rPr lang="en-US" sz="3400" b="1" dirty="0">
                <a:solidFill>
                  <a:srgbClr val="F4CAB8"/>
                </a:solidFill>
                <a:latin typeface="Brygada 1918 Bold" pitchFamily="34" charset="0"/>
                <a:ea typeface="Brygada 1918 Bold" pitchFamily="34" charset="-122"/>
                <a:cs typeface="Brygada 1918 Bold" pitchFamily="34" charset="-120"/>
              </a:rPr>
              <a:t>25,852</a:t>
            </a:r>
            <a:endParaRPr lang="en-US" sz="3400" dirty="0"/>
          </a:p>
        </p:txBody>
      </p:sp>
      <p:sp>
        <p:nvSpPr>
          <p:cNvPr id="8" name="Text 6"/>
          <p:cNvSpPr/>
          <p:nvPr/>
        </p:nvSpPr>
        <p:spPr>
          <a:xfrm>
            <a:off x="1204777" y="5291620"/>
            <a:ext cx="1748425" cy="218530"/>
          </a:xfrm>
          <a:prstGeom prst="rect">
            <a:avLst/>
          </a:prstGeom>
          <a:noFill/>
          <a:ln/>
        </p:spPr>
        <p:txBody>
          <a:bodyPr wrap="none" lIns="0" tIns="0" rIns="0" bIns="0" rtlCol="0" anchor="t"/>
          <a:lstStyle/>
          <a:p>
            <a:pPr marL="0" indent="0" algn="ctr">
              <a:lnSpc>
                <a:spcPct val="104000"/>
              </a:lnSpc>
              <a:buNone/>
            </a:pPr>
            <a:r>
              <a:rPr lang="en-US" sz="1350" b="1" dirty="0">
                <a:solidFill>
                  <a:srgbClr val="F4CAB8"/>
                </a:solidFill>
                <a:latin typeface="Brygada 1918 Bold" pitchFamily="34" charset="0"/>
                <a:ea typeface="Brygada 1918 Bold" pitchFamily="34" charset="-122"/>
                <a:cs typeface="Brygada 1918 Bold" pitchFamily="34" charset="-120"/>
              </a:rPr>
              <a:t>Total Orders</a:t>
            </a:r>
            <a:endParaRPr lang="en-US" sz="1350" dirty="0"/>
          </a:p>
        </p:txBody>
      </p:sp>
      <p:sp>
        <p:nvSpPr>
          <p:cNvPr id="9" name="Text 7"/>
          <p:cNvSpPr/>
          <p:nvPr/>
        </p:nvSpPr>
        <p:spPr>
          <a:xfrm>
            <a:off x="458969" y="5588799"/>
            <a:ext cx="3240104" cy="419583"/>
          </a:xfrm>
          <a:prstGeom prst="rect">
            <a:avLst/>
          </a:prstGeom>
          <a:noFill/>
          <a:ln/>
        </p:spPr>
        <p:txBody>
          <a:bodyPr wrap="square" lIns="0" tIns="0" rIns="0" bIns="0" rtlCol="0" anchor="t">
            <a:normAutofit/>
          </a:bodyPr>
          <a:lstStyle/>
          <a:p>
            <a:pPr marL="0" indent="0" algn="ctr">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Across all six hubs, January 2023 – December 2024</a:t>
            </a:r>
            <a:endParaRPr lang="en-US" sz="1000" dirty="0"/>
          </a:p>
        </p:txBody>
      </p:sp>
      <p:sp>
        <p:nvSpPr>
          <p:cNvPr id="10" name="Text 8"/>
          <p:cNvSpPr/>
          <p:nvPr/>
        </p:nvSpPr>
        <p:spPr>
          <a:xfrm>
            <a:off x="3862954" y="4694985"/>
            <a:ext cx="3240104" cy="432753"/>
          </a:xfrm>
          <a:prstGeom prst="rect">
            <a:avLst/>
          </a:prstGeom>
          <a:noFill/>
          <a:ln/>
        </p:spPr>
        <p:txBody>
          <a:bodyPr wrap="none" lIns="0" tIns="0" rIns="0" bIns="0" rtlCol="0" anchor="t"/>
          <a:lstStyle/>
          <a:p>
            <a:pPr marL="0" indent="0" algn="ctr">
              <a:lnSpc>
                <a:spcPct val="83000"/>
              </a:lnSpc>
              <a:buNone/>
            </a:pPr>
            <a:r>
              <a:rPr lang="en-US" sz="3400" b="1" dirty="0">
                <a:solidFill>
                  <a:srgbClr val="F4CAB8"/>
                </a:solidFill>
                <a:latin typeface="Brygada 1918 Bold" pitchFamily="34" charset="0"/>
                <a:ea typeface="Brygada 1918 Bold" pitchFamily="34" charset="-122"/>
                <a:cs typeface="Brygada 1918 Bold" pitchFamily="34" charset="-120"/>
              </a:rPr>
              <a:t>20.4%</a:t>
            </a:r>
            <a:endParaRPr lang="en-US" sz="3400" dirty="0"/>
          </a:p>
        </p:txBody>
      </p:sp>
      <p:sp>
        <p:nvSpPr>
          <p:cNvPr id="11" name="Text 9"/>
          <p:cNvSpPr/>
          <p:nvPr/>
        </p:nvSpPr>
        <p:spPr>
          <a:xfrm>
            <a:off x="4608763" y="5291620"/>
            <a:ext cx="1748425" cy="218530"/>
          </a:xfrm>
          <a:prstGeom prst="rect">
            <a:avLst/>
          </a:prstGeom>
          <a:noFill/>
          <a:ln/>
        </p:spPr>
        <p:txBody>
          <a:bodyPr wrap="none" lIns="0" tIns="0" rIns="0" bIns="0" rtlCol="0" anchor="t"/>
          <a:lstStyle/>
          <a:p>
            <a:pPr marL="0" indent="0" algn="ctr">
              <a:lnSpc>
                <a:spcPct val="104000"/>
              </a:lnSpc>
              <a:buNone/>
            </a:pPr>
            <a:r>
              <a:rPr lang="en-US" sz="1350" b="1" dirty="0">
                <a:solidFill>
                  <a:srgbClr val="F4CAB8"/>
                </a:solidFill>
                <a:latin typeface="Brygada 1918 Bold" pitchFamily="34" charset="0"/>
                <a:ea typeface="Brygada 1918 Bold" pitchFamily="34" charset="-122"/>
                <a:cs typeface="Brygada 1918 Bold" pitchFamily="34" charset="-120"/>
              </a:rPr>
              <a:t>Delay Rate</a:t>
            </a:r>
            <a:endParaRPr lang="en-US" sz="1350" dirty="0"/>
          </a:p>
        </p:txBody>
      </p:sp>
      <p:sp>
        <p:nvSpPr>
          <p:cNvPr id="12" name="Text 10"/>
          <p:cNvSpPr/>
          <p:nvPr/>
        </p:nvSpPr>
        <p:spPr>
          <a:xfrm>
            <a:off x="3862954" y="5588799"/>
            <a:ext cx="3240104" cy="419583"/>
          </a:xfrm>
          <a:prstGeom prst="rect">
            <a:avLst/>
          </a:prstGeom>
          <a:noFill/>
          <a:ln/>
        </p:spPr>
        <p:txBody>
          <a:bodyPr wrap="square" lIns="0" tIns="0" rIns="0" bIns="0" rtlCol="0" anchor="t">
            <a:normAutofit/>
          </a:bodyPr>
          <a:lstStyle/>
          <a:p>
            <a:pPr marL="0" indent="0" algn="ctr">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5,219 orders delivered late across the two-year period</a:t>
            </a:r>
            <a:endParaRPr lang="en-US" sz="1000" dirty="0"/>
          </a:p>
        </p:txBody>
      </p:sp>
      <p:sp>
        <p:nvSpPr>
          <p:cNvPr id="13" name="Text 11"/>
          <p:cNvSpPr/>
          <p:nvPr/>
        </p:nvSpPr>
        <p:spPr>
          <a:xfrm>
            <a:off x="458969" y="6336147"/>
            <a:ext cx="3240104" cy="432753"/>
          </a:xfrm>
          <a:prstGeom prst="rect">
            <a:avLst/>
          </a:prstGeom>
          <a:noFill/>
          <a:ln/>
        </p:spPr>
        <p:txBody>
          <a:bodyPr wrap="none" lIns="0" tIns="0" rIns="0" bIns="0" rtlCol="0" anchor="t"/>
          <a:lstStyle/>
          <a:p>
            <a:pPr marL="0" indent="0" algn="ctr">
              <a:lnSpc>
                <a:spcPct val="83000"/>
              </a:lnSpc>
              <a:buNone/>
            </a:pPr>
            <a:r>
              <a:rPr lang="en-US" sz="3400" b="1" dirty="0">
                <a:solidFill>
                  <a:srgbClr val="F4CAB8"/>
                </a:solidFill>
                <a:latin typeface="Brygada 1918 Bold" pitchFamily="34" charset="0"/>
                <a:ea typeface="Brygada 1918 Bold" pitchFamily="34" charset="-122"/>
                <a:cs typeface="Brygada 1918 Bold" pitchFamily="34" charset="-120"/>
              </a:rPr>
              <a:t>84.4%</a:t>
            </a:r>
            <a:endParaRPr lang="en-US" sz="3400" dirty="0"/>
          </a:p>
        </p:txBody>
      </p:sp>
      <p:sp>
        <p:nvSpPr>
          <p:cNvPr id="14" name="Text 12"/>
          <p:cNvSpPr/>
          <p:nvPr/>
        </p:nvSpPr>
        <p:spPr>
          <a:xfrm>
            <a:off x="1204777" y="6932782"/>
            <a:ext cx="1748425" cy="218530"/>
          </a:xfrm>
          <a:prstGeom prst="rect">
            <a:avLst/>
          </a:prstGeom>
          <a:noFill/>
          <a:ln/>
        </p:spPr>
        <p:txBody>
          <a:bodyPr wrap="none" lIns="0" tIns="0" rIns="0" bIns="0" rtlCol="0" anchor="t"/>
          <a:lstStyle/>
          <a:p>
            <a:pPr marL="0" indent="0" algn="ctr">
              <a:lnSpc>
                <a:spcPct val="104000"/>
              </a:lnSpc>
              <a:buNone/>
            </a:pPr>
            <a:r>
              <a:rPr lang="en-US" sz="1350" b="1" dirty="0">
                <a:solidFill>
                  <a:srgbClr val="F4CAB8"/>
                </a:solidFill>
                <a:latin typeface="Brygada 1918 Bold" pitchFamily="34" charset="0"/>
                <a:ea typeface="Brygada 1918 Bold" pitchFamily="34" charset="-122"/>
                <a:cs typeface="Brygada 1918 Bold" pitchFamily="34" charset="-120"/>
              </a:rPr>
              <a:t>CSAT Score</a:t>
            </a:r>
            <a:endParaRPr lang="en-US" sz="1350" dirty="0"/>
          </a:p>
        </p:txBody>
      </p:sp>
      <p:sp>
        <p:nvSpPr>
          <p:cNvPr id="15" name="Text 13"/>
          <p:cNvSpPr/>
          <p:nvPr/>
        </p:nvSpPr>
        <p:spPr>
          <a:xfrm>
            <a:off x="458969" y="7229961"/>
            <a:ext cx="3240104" cy="209792"/>
          </a:xfrm>
          <a:prstGeom prst="rect">
            <a:avLst/>
          </a:prstGeom>
          <a:noFill/>
          <a:ln/>
        </p:spPr>
        <p:txBody>
          <a:bodyPr wrap="none" lIns="0" tIns="0" rIns="0" bIns="0" rtlCol="0" anchor="t"/>
          <a:lstStyle/>
          <a:p>
            <a:pPr marL="0" indent="0" algn="ctr">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Percentage of orders receiving a score of 4 or 5</a:t>
            </a:r>
            <a:endParaRPr lang="en-US" sz="1000" dirty="0"/>
          </a:p>
        </p:txBody>
      </p:sp>
      <p:sp>
        <p:nvSpPr>
          <p:cNvPr id="16" name="Text 14"/>
          <p:cNvSpPr/>
          <p:nvPr/>
        </p:nvSpPr>
        <p:spPr>
          <a:xfrm>
            <a:off x="3862954" y="6336147"/>
            <a:ext cx="3240104" cy="432753"/>
          </a:xfrm>
          <a:prstGeom prst="rect">
            <a:avLst/>
          </a:prstGeom>
          <a:noFill/>
          <a:ln/>
        </p:spPr>
        <p:txBody>
          <a:bodyPr wrap="none" lIns="0" tIns="0" rIns="0" bIns="0" rtlCol="0" anchor="t"/>
          <a:lstStyle/>
          <a:p>
            <a:pPr marL="0" indent="0" algn="ctr">
              <a:lnSpc>
                <a:spcPct val="83000"/>
              </a:lnSpc>
              <a:buNone/>
            </a:pPr>
            <a:r>
              <a:rPr lang="en-US" sz="3400" b="1" dirty="0">
                <a:solidFill>
                  <a:srgbClr val="F4CAB8"/>
                </a:solidFill>
                <a:latin typeface="Brygada 1918 Bold" pitchFamily="34" charset="0"/>
                <a:ea typeface="Brygada 1918 Bold" pitchFamily="34" charset="-122"/>
                <a:cs typeface="Brygada 1918 Bold" pitchFamily="34" charset="-120"/>
              </a:rPr>
              <a:t>73.33%</a:t>
            </a:r>
            <a:endParaRPr lang="en-US" sz="3400" dirty="0"/>
          </a:p>
        </p:txBody>
      </p:sp>
      <p:sp>
        <p:nvSpPr>
          <p:cNvPr id="17" name="Text 15"/>
          <p:cNvSpPr/>
          <p:nvPr/>
        </p:nvSpPr>
        <p:spPr>
          <a:xfrm>
            <a:off x="4608763" y="6932782"/>
            <a:ext cx="1748425" cy="218530"/>
          </a:xfrm>
          <a:prstGeom prst="rect">
            <a:avLst/>
          </a:prstGeom>
          <a:noFill/>
          <a:ln/>
        </p:spPr>
        <p:txBody>
          <a:bodyPr wrap="none" lIns="0" tIns="0" rIns="0" bIns="0" rtlCol="0" anchor="t"/>
          <a:lstStyle/>
          <a:p>
            <a:pPr marL="0" indent="0" algn="ctr">
              <a:lnSpc>
                <a:spcPct val="104000"/>
              </a:lnSpc>
              <a:buNone/>
            </a:pPr>
            <a:r>
              <a:rPr lang="en-US" sz="1350" b="1" dirty="0">
                <a:solidFill>
                  <a:srgbClr val="F4CAB8"/>
                </a:solidFill>
                <a:latin typeface="Brygada 1918 Bold" pitchFamily="34" charset="0"/>
                <a:ea typeface="Brygada 1918 Bold" pitchFamily="34" charset="-122"/>
                <a:cs typeface="Brygada 1918 Bold" pitchFamily="34" charset="-120"/>
              </a:rPr>
              <a:t>Active Vehicles</a:t>
            </a:r>
            <a:endParaRPr lang="en-US" sz="1350" dirty="0"/>
          </a:p>
        </p:txBody>
      </p:sp>
      <p:sp>
        <p:nvSpPr>
          <p:cNvPr id="18" name="Text 16"/>
          <p:cNvSpPr/>
          <p:nvPr/>
        </p:nvSpPr>
        <p:spPr>
          <a:xfrm>
            <a:off x="3862954" y="7229961"/>
            <a:ext cx="3240104" cy="209792"/>
          </a:xfrm>
          <a:prstGeom prst="rect">
            <a:avLst/>
          </a:prstGeom>
          <a:noFill/>
          <a:ln/>
        </p:spPr>
        <p:txBody>
          <a:bodyPr wrap="none" lIns="0" tIns="0" rIns="0" bIns="0" rtlCol="0" anchor="t"/>
          <a:lstStyle/>
          <a:p>
            <a:pPr marL="0" indent="0" algn="ctr">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33 out of 45 vehicles available for dispatch</a:t>
            </a:r>
            <a:endParaRPr lang="en-US" sz="1000" dirty="0"/>
          </a:p>
        </p:txBody>
      </p:sp>
      <p:sp>
        <p:nvSpPr>
          <p:cNvPr id="19" name="TextBox 18">
            <a:extLst>
              <a:ext uri="{FF2B5EF4-FFF2-40B4-BE49-F238E27FC236}">
                <a16:creationId xmlns:a16="http://schemas.microsoft.com/office/drawing/2014/main" id="{C33AEEFC-541B-85A1-7C30-5D52AF3F4DC2}"/>
              </a:ext>
            </a:extLst>
          </p:cNvPr>
          <p:cNvSpPr txBox="1"/>
          <p:nvPr/>
        </p:nvSpPr>
        <p:spPr>
          <a:xfrm>
            <a:off x="7103058" y="10008499"/>
            <a:ext cx="238646" cy="369332"/>
          </a:xfrm>
          <a:prstGeom prst="rect">
            <a:avLst/>
          </a:prstGeom>
          <a:noFill/>
        </p:spPr>
        <p:txBody>
          <a:bodyPr wrap="square" rtlCol="0">
            <a:spAutoFit/>
          </a:bodyPr>
          <a:lstStyle/>
          <a:p>
            <a:fld id="{6099DB01-7836-4811-A39D-41C6662561A3}" type="slidenum">
              <a:rPr lang="en-US" smtClean="0">
                <a:solidFill>
                  <a:srgbClr val="F4CAB8"/>
                </a:solidFill>
                <a:latin typeface="Brygada 1918" pitchFamily="2" charset="0"/>
                <a:ea typeface="Brygada 1918" pitchFamily="2" charset="0"/>
              </a:rPr>
              <a:t>2</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8969" y="360566"/>
            <a:ext cx="3875016" cy="437061"/>
          </a:xfrm>
          <a:prstGeom prst="rect">
            <a:avLst/>
          </a:prstGeom>
          <a:noFill/>
          <a:ln/>
        </p:spPr>
        <p:txBody>
          <a:bodyPr wrap="none" lIns="0" tIns="0" rIns="0" bIns="0" rtlCol="0" anchor="t"/>
          <a:lstStyle/>
          <a:p>
            <a:pPr marL="0" indent="0" algn="l">
              <a:lnSpc>
                <a:spcPct val="104000"/>
              </a:lnSpc>
              <a:buNone/>
            </a:pPr>
            <a:r>
              <a:rPr lang="en-US" sz="2750" b="1" dirty="0">
                <a:solidFill>
                  <a:srgbClr val="FFB393"/>
                </a:solidFill>
                <a:latin typeface="Brygada 1918 Bold" pitchFamily="34" charset="0"/>
                <a:ea typeface="Brygada 1918 Bold" pitchFamily="34" charset="-122"/>
                <a:cs typeface="Brygada 1918 Bold" pitchFamily="34" charset="-120"/>
              </a:rPr>
              <a:t>Project Methodology</a:t>
            </a:r>
            <a:endParaRPr lang="en-US" sz="2750" dirty="0"/>
          </a:p>
        </p:txBody>
      </p:sp>
      <p:sp>
        <p:nvSpPr>
          <p:cNvPr id="3" name="Text 1"/>
          <p:cNvSpPr/>
          <p:nvPr/>
        </p:nvSpPr>
        <p:spPr>
          <a:xfrm>
            <a:off x="458969" y="1059850"/>
            <a:ext cx="262224" cy="163882"/>
          </a:xfrm>
          <a:prstGeom prst="rect">
            <a:avLst/>
          </a:prstGeom>
          <a:noFill/>
          <a:ln/>
        </p:spPr>
        <p:txBody>
          <a:bodyPr wrap="none" lIns="0" tIns="0" rIns="0" bIns="0" rtlCol="0" anchor="ctr"/>
          <a:lstStyle/>
          <a:p>
            <a:pPr marL="0" indent="0" algn="l">
              <a:lnSpc>
                <a:spcPct val="100000"/>
              </a:lnSpc>
              <a:buNone/>
            </a:pPr>
            <a:r>
              <a:rPr lang="en-US" sz="1000" dirty="0">
                <a:solidFill>
                  <a:srgbClr val="F4CAB8"/>
                </a:solidFill>
                <a:latin typeface="Brygada 1918 Light" pitchFamily="34" charset="0"/>
                <a:ea typeface="Brygada 1918 Light" pitchFamily="34" charset="-122"/>
                <a:cs typeface="Brygada 1918 Light" pitchFamily="34" charset="-120"/>
              </a:rPr>
              <a:t>01</a:t>
            </a:r>
            <a:endParaRPr lang="en-US" sz="1000" dirty="0"/>
          </a:p>
        </p:txBody>
      </p:sp>
      <p:sp>
        <p:nvSpPr>
          <p:cNvPr id="4" name="Shape 2"/>
          <p:cNvSpPr/>
          <p:nvPr/>
        </p:nvSpPr>
        <p:spPr>
          <a:xfrm>
            <a:off x="458969" y="1266934"/>
            <a:ext cx="3256473" cy="15754"/>
          </a:xfrm>
          <a:prstGeom prst="rect">
            <a:avLst/>
          </a:prstGeom>
          <a:solidFill>
            <a:srgbClr val="FFB393"/>
          </a:solidFill>
          <a:ln/>
        </p:spPr>
        <p:txBody>
          <a:bodyPr/>
          <a:lstStyle/>
          <a:p>
            <a:endParaRPr lang="en-US"/>
          </a:p>
        </p:txBody>
      </p:sp>
      <p:sp>
        <p:nvSpPr>
          <p:cNvPr id="5" name="Text 3"/>
          <p:cNvSpPr/>
          <p:nvPr/>
        </p:nvSpPr>
        <p:spPr>
          <a:xfrm>
            <a:off x="458969" y="1363983"/>
            <a:ext cx="1748425" cy="218530"/>
          </a:xfrm>
          <a:prstGeom prst="rect">
            <a:avLst/>
          </a:prstGeom>
          <a:noFill/>
          <a:ln/>
        </p:spPr>
        <p:txBody>
          <a:bodyPr wrap="none" lIns="0" tIns="0" rIns="0" bIns="0" rtlCol="0" anchor="t"/>
          <a:lstStyle/>
          <a:p>
            <a:pPr marL="0" indent="0" algn="l">
              <a:lnSpc>
                <a:spcPct val="104000"/>
              </a:lnSpc>
              <a:buNone/>
            </a:pPr>
            <a:r>
              <a:rPr lang="en-US" sz="1350" b="1" dirty="0">
                <a:solidFill>
                  <a:srgbClr val="F4CAB8"/>
                </a:solidFill>
                <a:latin typeface="Brygada 1918 Bold" pitchFamily="34" charset="0"/>
                <a:ea typeface="Brygada 1918 Bold" pitchFamily="34" charset="-122"/>
                <a:cs typeface="Brygada 1918 Bold" pitchFamily="34" charset="-120"/>
              </a:rPr>
              <a:t>Data Preparation</a:t>
            </a:r>
            <a:endParaRPr lang="en-US" sz="1350" dirty="0"/>
          </a:p>
        </p:txBody>
      </p:sp>
      <p:sp>
        <p:nvSpPr>
          <p:cNvPr id="6" name="Text 4"/>
          <p:cNvSpPr/>
          <p:nvPr/>
        </p:nvSpPr>
        <p:spPr>
          <a:xfrm>
            <a:off x="458969" y="1661162"/>
            <a:ext cx="3256473" cy="1048958"/>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Four source CSV files imported and processed using Power Query. Standardized date formats, renamed columns for consistency, handled null values, and created calculated columns: Vehicle Age, Driver Tenure, and Experience Segment.</a:t>
            </a:r>
            <a:endParaRPr lang="en-US" sz="1000" dirty="0"/>
          </a:p>
        </p:txBody>
      </p:sp>
      <p:sp>
        <p:nvSpPr>
          <p:cNvPr id="7" name="Text 5"/>
          <p:cNvSpPr/>
          <p:nvPr/>
        </p:nvSpPr>
        <p:spPr>
          <a:xfrm>
            <a:off x="3846523" y="1059850"/>
            <a:ext cx="262224" cy="163882"/>
          </a:xfrm>
          <a:prstGeom prst="rect">
            <a:avLst/>
          </a:prstGeom>
          <a:noFill/>
          <a:ln/>
        </p:spPr>
        <p:txBody>
          <a:bodyPr wrap="none" lIns="0" tIns="0" rIns="0" bIns="0" rtlCol="0" anchor="ctr"/>
          <a:lstStyle/>
          <a:p>
            <a:pPr marL="0" indent="0" algn="l">
              <a:lnSpc>
                <a:spcPct val="100000"/>
              </a:lnSpc>
              <a:buNone/>
            </a:pPr>
            <a:r>
              <a:rPr lang="en-US" sz="1000" dirty="0">
                <a:solidFill>
                  <a:srgbClr val="F4CAB8"/>
                </a:solidFill>
                <a:latin typeface="Brygada 1918 Light" pitchFamily="34" charset="0"/>
                <a:ea typeface="Brygada 1918 Light" pitchFamily="34" charset="-122"/>
                <a:cs typeface="Brygada 1918 Light" pitchFamily="34" charset="-120"/>
              </a:rPr>
              <a:t>02</a:t>
            </a:r>
            <a:endParaRPr lang="en-US" sz="1000" dirty="0"/>
          </a:p>
        </p:txBody>
      </p:sp>
      <p:sp>
        <p:nvSpPr>
          <p:cNvPr id="8" name="Shape 6"/>
          <p:cNvSpPr/>
          <p:nvPr/>
        </p:nvSpPr>
        <p:spPr>
          <a:xfrm>
            <a:off x="3846523" y="1266934"/>
            <a:ext cx="3256535" cy="15754"/>
          </a:xfrm>
          <a:prstGeom prst="rect">
            <a:avLst/>
          </a:prstGeom>
          <a:solidFill>
            <a:srgbClr val="FFB393"/>
          </a:solidFill>
          <a:ln/>
        </p:spPr>
        <p:txBody>
          <a:bodyPr/>
          <a:lstStyle/>
          <a:p>
            <a:endParaRPr lang="en-US"/>
          </a:p>
        </p:txBody>
      </p:sp>
      <p:sp>
        <p:nvSpPr>
          <p:cNvPr id="9" name="Text 7"/>
          <p:cNvSpPr/>
          <p:nvPr/>
        </p:nvSpPr>
        <p:spPr>
          <a:xfrm>
            <a:off x="3846523" y="1363983"/>
            <a:ext cx="1748425" cy="218530"/>
          </a:xfrm>
          <a:prstGeom prst="rect">
            <a:avLst/>
          </a:prstGeom>
          <a:noFill/>
          <a:ln/>
        </p:spPr>
        <p:txBody>
          <a:bodyPr wrap="none" lIns="0" tIns="0" rIns="0" bIns="0" rtlCol="0" anchor="t"/>
          <a:lstStyle/>
          <a:p>
            <a:pPr marL="0" indent="0" algn="l">
              <a:lnSpc>
                <a:spcPct val="104000"/>
              </a:lnSpc>
              <a:buNone/>
            </a:pPr>
            <a:r>
              <a:rPr lang="en-US" sz="1350" b="1" dirty="0">
                <a:solidFill>
                  <a:srgbClr val="F4CAB8"/>
                </a:solidFill>
                <a:latin typeface="Brygada 1918 Bold" pitchFamily="34" charset="0"/>
                <a:ea typeface="Brygada 1918 Bold" pitchFamily="34" charset="-122"/>
                <a:cs typeface="Brygada 1918 Bold" pitchFamily="34" charset="-120"/>
              </a:rPr>
              <a:t>Data Modeling</a:t>
            </a:r>
            <a:endParaRPr lang="en-US" sz="1350" dirty="0"/>
          </a:p>
        </p:txBody>
      </p:sp>
      <p:sp>
        <p:nvSpPr>
          <p:cNvPr id="10" name="Text 8"/>
          <p:cNvSpPr/>
          <p:nvPr/>
        </p:nvSpPr>
        <p:spPr>
          <a:xfrm>
            <a:off x="3846523" y="1661162"/>
            <a:ext cx="3256535" cy="1048958"/>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Constructed star schema with Orders table at center as fact table. Drivers, Hubs, and Vehicles tables connected as dimension tables via matching keys. Ensures filters propagate correctly across all visuals.</a:t>
            </a:r>
            <a:endParaRPr lang="en-US" sz="1000" dirty="0"/>
          </a:p>
        </p:txBody>
      </p:sp>
      <p:sp>
        <p:nvSpPr>
          <p:cNvPr id="11" name="Text 9"/>
          <p:cNvSpPr/>
          <p:nvPr/>
        </p:nvSpPr>
        <p:spPr>
          <a:xfrm>
            <a:off x="458969" y="2939543"/>
            <a:ext cx="262224" cy="163882"/>
          </a:xfrm>
          <a:prstGeom prst="rect">
            <a:avLst/>
          </a:prstGeom>
          <a:noFill/>
          <a:ln/>
        </p:spPr>
        <p:txBody>
          <a:bodyPr wrap="none" lIns="0" tIns="0" rIns="0" bIns="0" rtlCol="0" anchor="ctr"/>
          <a:lstStyle/>
          <a:p>
            <a:pPr marL="0" indent="0" algn="l">
              <a:lnSpc>
                <a:spcPct val="100000"/>
              </a:lnSpc>
              <a:buNone/>
            </a:pPr>
            <a:r>
              <a:rPr lang="en-US" sz="1000" dirty="0">
                <a:solidFill>
                  <a:srgbClr val="F4CAB8"/>
                </a:solidFill>
                <a:latin typeface="Brygada 1918 Light" pitchFamily="34" charset="0"/>
                <a:ea typeface="Brygada 1918 Light" pitchFamily="34" charset="-122"/>
                <a:cs typeface="Brygada 1918 Light" pitchFamily="34" charset="-120"/>
              </a:rPr>
              <a:t>03</a:t>
            </a:r>
            <a:endParaRPr lang="en-US" sz="1000" dirty="0"/>
          </a:p>
        </p:txBody>
      </p:sp>
      <p:sp>
        <p:nvSpPr>
          <p:cNvPr id="12" name="Shape 10"/>
          <p:cNvSpPr/>
          <p:nvPr/>
        </p:nvSpPr>
        <p:spPr>
          <a:xfrm>
            <a:off x="458969" y="3146627"/>
            <a:ext cx="3256473" cy="15754"/>
          </a:xfrm>
          <a:prstGeom prst="rect">
            <a:avLst/>
          </a:prstGeom>
          <a:solidFill>
            <a:srgbClr val="FFB393"/>
          </a:solidFill>
          <a:ln/>
        </p:spPr>
        <p:txBody>
          <a:bodyPr/>
          <a:lstStyle/>
          <a:p>
            <a:endParaRPr lang="en-US"/>
          </a:p>
        </p:txBody>
      </p:sp>
      <p:sp>
        <p:nvSpPr>
          <p:cNvPr id="13" name="Text 11"/>
          <p:cNvSpPr/>
          <p:nvPr/>
        </p:nvSpPr>
        <p:spPr>
          <a:xfrm>
            <a:off x="458969" y="3243676"/>
            <a:ext cx="2187331" cy="218530"/>
          </a:xfrm>
          <a:prstGeom prst="rect">
            <a:avLst/>
          </a:prstGeom>
          <a:noFill/>
          <a:ln/>
        </p:spPr>
        <p:txBody>
          <a:bodyPr wrap="none" lIns="0" tIns="0" rIns="0" bIns="0" rtlCol="0" anchor="t"/>
          <a:lstStyle/>
          <a:p>
            <a:pPr marL="0" indent="0" algn="l">
              <a:lnSpc>
                <a:spcPct val="104000"/>
              </a:lnSpc>
              <a:buNone/>
            </a:pPr>
            <a:r>
              <a:rPr lang="en-US" sz="1350" b="1" dirty="0">
                <a:solidFill>
                  <a:srgbClr val="F4CAB8"/>
                </a:solidFill>
                <a:latin typeface="Brygada 1918 Bold" pitchFamily="34" charset="0"/>
                <a:ea typeface="Brygada 1918 Bold" pitchFamily="34" charset="-122"/>
                <a:cs typeface="Brygada 1918 Bold" pitchFamily="34" charset="-120"/>
              </a:rPr>
              <a:t>Exploratory Data Analysis</a:t>
            </a:r>
            <a:endParaRPr lang="en-US" sz="1350" dirty="0"/>
          </a:p>
        </p:txBody>
      </p:sp>
      <p:sp>
        <p:nvSpPr>
          <p:cNvPr id="14" name="Text 12"/>
          <p:cNvSpPr/>
          <p:nvPr/>
        </p:nvSpPr>
        <p:spPr>
          <a:xfrm>
            <a:off x="458969" y="3540855"/>
            <a:ext cx="3256473" cy="1048958"/>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Studied relationships between driver experience and delivery performance, analyzed vehicle age versus breakdown frequency, examined delivery time effects on customer satisfaction, and identified peak order months.</a:t>
            </a:r>
            <a:endParaRPr lang="en-US" sz="1000" dirty="0"/>
          </a:p>
        </p:txBody>
      </p:sp>
      <p:sp>
        <p:nvSpPr>
          <p:cNvPr id="15" name="Text 13"/>
          <p:cNvSpPr/>
          <p:nvPr/>
        </p:nvSpPr>
        <p:spPr>
          <a:xfrm>
            <a:off x="3846523" y="2939543"/>
            <a:ext cx="262224" cy="163882"/>
          </a:xfrm>
          <a:prstGeom prst="rect">
            <a:avLst/>
          </a:prstGeom>
          <a:noFill/>
          <a:ln/>
        </p:spPr>
        <p:txBody>
          <a:bodyPr wrap="none" lIns="0" tIns="0" rIns="0" bIns="0" rtlCol="0" anchor="ctr"/>
          <a:lstStyle/>
          <a:p>
            <a:pPr marL="0" indent="0" algn="l">
              <a:lnSpc>
                <a:spcPct val="100000"/>
              </a:lnSpc>
              <a:buNone/>
            </a:pPr>
            <a:r>
              <a:rPr lang="en-US" sz="1000" dirty="0">
                <a:solidFill>
                  <a:srgbClr val="F4CAB8"/>
                </a:solidFill>
                <a:latin typeface="Brygada 1918 Light" pitchFamily="34" charset="0"/>
                <a:ea typeface="Brygada 1918 Light" pitchFamily="34" charset="-122"/>
                <a:cs typeface="Brygada 1918 Light" pitchFamily="34" charset="-120"/>
              </a:rPr>
              <a:t>04</a:t>
            </a:r>
            <a:endParaRPr lang="en-US" sz="1000" dirty="0"/>
          </a:p>
        </p:txBody>
      </p:sp>
      <p:sp>
        <p:nvSpPr>
          <p:cNvPr id="16" name="Shape 14"/>
          <p:cNvSpPr/>
          <p:nvPr/>
        </p:nvSpPr>
        <p:spPr>
          <a:xfrm>
            <a:off x="3846523" y="3146627"/>
            <a:ext cx="3256535" cy="15754"/>
          </a:xfrm>
          <a:prstGeom prst="rect">
            <a:avLst/>
          </a:prstGeom>
          <a:solidFill>
            <a:srgbClr val="FFB393"/>
          </a:solidFill>
          <a:ln/>
        </p:spPr>
        <p:txBody>
          <a:bodyPr/>
          <a:lstStyle/>
          <a:p>
            <a:endParaRPr lang="en-US"/>
          </a:p>
        </p:txBody>
      </p:sp>
      <p:sp>
        <p:nvSpPr>
          <p:cNvPr id="17" name="Text 15"/>
          <p:cNvSpPr/>
          <p:nvPr/>
        </p:nvSpPr>
        <p:spPr>
          <a:xfrm>
            <a:off x="3846523" y="3243676"/>
            <a:ext cx="2088744" cy="218530"/>
          </a:xfrm>
          <a:prstGeom prst="rect">
            <a:avLst/>
          </a:prstGeom>
          <a:noFill/>
          <a:ln/>
        </p:spPr>
        <p:txBody>
          <a:bodyPr wrap="none" lIns="0" tIns="0" rIns="0" bIns="0" rtlCol="0" anchor="t"/>
          <a:lstStyle/>
          <a:p>
            <a:pPr marL="0" indent="0" algn="l">
              <a:lnSpc>
                <a:spcPct val="104000"/>
              </a:lnSpc>
              <a:buNone/>
            </a:pPr>
            <a:r>
              <a:rPr lang="en-US" sz="1350" b="1" dirty="0">
                <a:solidFill>
                  <a:srgbClr val="F4CAB8"/>
                </a:solidFill>
                <a:latin typeface="Brygada 1918 Bold" pitchFamily="34" charset="0"/>
                <a:ea typeface="Brygada 1918 Bold" pitchFamily="34" charset="-122"/>
                <a:cs typeface="Brygada 1918 Bold" pitchFamily="34" charset="-120"/>
              </a:rPr>
              <a:t>Dashboard Development</a:t>
            </a:r>
            <a:endParaRPr lang="en-US" sz="1350" dirty="0"/>
          </a:p>
        </p:txBody>
      </p:sp>
      <p:sp>
        <p:nvSpPr>
          <p:cNvPr id="18" name="Text 16"/>
          <p:cNvSpPr/>
          <p:nvPr/>
        </p:nvSpPr>
        <p:spPr>
          <a:xfrm>
            <a:off x="3846523" y="3540855"/>
            <a:ext cx="3256535" cy="1048958"/>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Built nine interactive report pages in Power BI, each targeting specific audience and analytical questions. All pages include slicers for Year, Month, Hub, Vehicle Type, and Driver Name with MoM comparisons.</a:t>
            </a:r>
            <a:endParaRPr lang="en-US" sz="1000" dirty="0"/>
          </a:p>
        </p:txBody>
      </p:sp>
      <p:sp>
        <p:nvSpPr>
          <p:cNvPr id="19" name="Text 17"/>
          <p:cNvSpPr/>
          <p:nvPr/>
        </p:nvSpPr>
        <p:spPr>
          <a:xfrm>
            <a:off x="458969" y="4884837"/>
            <a:ext cx="3930526" cy="437061"/>
          </a:xfrm>
          <a:prstGeom prst="rect">
            <a:avLst/>
          </a:prstGeom>
          <a:noFill/>
          <a:ln/>
        </p:spPr>
        <p:txBody>
          <a:bodyPr wrap="none" lIns="0" tIns="0" rIns="0" bIns="0" rtlCol="0" anchor="t"/>
          <a:lstStyle/>
          <a:p>
            <a:pPr marL="0" indent="0" algn="l">
              <a:lnSpc>
                <a:spcPct val="104000"/>
              </a:lnSpc>
              <a:buNone/>
            </a:pPr>
            <a:r>
              <a:rPr lang="en-US" sz="2750" b="1" dirty="0">
                <a:solidFill>
                  <a:srgbClr val="FFB393"/>
                </a:solidFill>
                <a:latin typeface="Brygada 1918 Bold" pitchFamily="34" charset="0"/>
                <a:ea typeface="Brygada 1918 Bold" pitchFamily="34" charset="-122"/>
                <a:cs typeface="Brygada 1918 Bold" pitchFamily="34" charset="-120"/>
              </a:rPr>
              <a:t>Stakeholder Analysis</a:t>
            </a:r>
            <a:endParaRPr lang="en-US" sz="2750" dirty="0"/>
          </a:p>
        </p:txBody>
      </p:sp>
      <p:sp>
        <p:nvSpPr>
          <p:cNvPr id="20" name="Text 18"/>
          <p:cNvSpPr/>
          <p:nvPr/>
        </p:nvSpPr>
        <p:spPr>
          <a:xfrm>
            <a:off x="458969" y="5518581"/>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Understanding who uses the dashboards and what metrics matter most to their decision-making:</a:t>
            </a:r>
            <a:endParaRPr lang="en-US" sz="1000" dirty="0"/>
          </a:p>
        </p:txBody>
      </p:sp>
      <p:sp>
        <p:nvSpPr>
          <p:cNvPr id="21" name="Shape 19"/>
          <p:cNvSpPr/>
          <p:nvPr/>
        </p:nvSpPr>
        <p:spPr>
          <a:xfrm>
            <a:off x="458969" y="5875885"/>
            <a:ext cx="6644089" cy="4408083"/>
          </a:xfrm>
          <a:prstGeom prst="roundRect">
            <a:avLst>
              <a:gd name="adj" fmla="val 446"/>
            </a:avLst>
          </a:prstGeom>
          <a:noFill/>
          <a:ln w="7877">
            <a:solidFill>
              <a:srgbClr val="FFFFFF">
                <a:alpha val="24000"/>
              </a:srgbClr>
            </a:solidFill>
            <a:prstDash val="solid"/>
          </a:ln>
        </p:spPr>
        <p:txBody>
          <a:bodyPr/>
          <a:lstStyle/>
          <a:p>
            <a:endParaRPr lang="en-US"/>
          </a:p>
        </p:txBody>
      </p:sp>
      <p:sp>
        <p:nvSpPr>
          <p:cNvPr id="22" name="Shape 20"/>
          <p:cNvSpPr/>
          <p:nvPr/>
        </p:nvSpPr>
        <p:spPr>
          <a:xfrm>
            <a:off x="466846" y="5883763"/>
            <a:ext cx="6627658" cy="374966"/>
          </a:xfrm>
          <a:prstGeom prst="rect">
            <a:avLst/>
          </a:prstGeom>
          <a:solidFill>
            <a:srgbClr val="FFFFFF">
              <a:alpha val="4000"/>
            </a:srgbClr>
          </a:solidFill>
          <a:ln/>
        </p:spPr>
        <p:txBody>
          <a:bodyPr/>
          <a:lstStyle/>
          <a:p>
            <a:endParaRPr lang="en-US"/>
          </a:p>
        </p:txBody>
      </p:sp>
      <p:sp>
        <p:nvSpPr>
          <p:cNvPr id="23" name="Text 21"/>
          <p:cNvSpPr/>
          <p:nvPr/>
        </p:nvSpPr>
        <p:spPr>
          <a:xfrm>
            <a:off x="598604" y="5966350"/>
            <a:ext cx="2322967" cy="209792"/>
          </a:xfrm>
          <a:prstGeom prst="rect">
            <a:avLst/>
          </a:prstGeom>
          <a:noFill/>
          <a:ln/>
        </p:spPr>
        <p:txBody>
          <a:bodyPr wrap="none" lIns="0" tIns="0" rIns="0" bIns="0" rtlCol="0" anchor="t"/>
          <a:lstStyle/>
          <a:p>
            <a:pPr marL="0" indent="0" algn="l">
              <a:lnSpc>
                <a:spcPct val="133000"/>
              </a:lnSpc>
              <a:buNone/>
            </a:pPr>
            <a:r>
              <a:rPr lang="en-US" sz="1000" b="1" dirty="0">
                <a:solidFill>
                  <a:srgbClr val="F4CAB8"/>
                </a:solidFill>
                <a:latin typeface="Montserrat Bold" pitchFamily="34" charset="0"/>
                <a:ea typeface="Montserrat Bold" pitchFamily="34" charset="-122"/>
                <a:cs typeface="Montserrat Bold" pitchFamily="34" charset="-120"/>
              </a:rPr>
              <a:t>Stakeholder</a:t>
            </a:r>
            <a:endParaRPr lang="en-US" sz="1000" dirty="0"/>
          </a:p>
        </p:txBody>
      </p:sp>
      <p:sp>
        <p:nvSpPr>
          <p:cNvPr id="24" name="Text 22"/>
          <p:cNvSpPr/>
          <p:nvPr/>
        </p:nvSpPr>
        <p:spPr>
          <a:xfrm>
            <a:off x="2809567" y="5966350"/>
            <a:ext cx="2320997" cy="209792"/>
          </a:xfrm>
          <a:prstGeom prst="rect">
            <a:avLst/>
          </a:prstGeom>
          <a:noFill/>
          <a:ln/>
        </p:spPr>
        <p:txBody>
          <a:bodyPr wrap="none" lIns="0" tIns="0" rIns="0" bIns="0" rtlCol="0" anchor="t"/>
          <a:lstStyle/>
          <a:p>
            <a:pPr marL="0" indent="0" algn="l">
              <a:lnSpc>
                <a:spcPct val="133000"/>
              </a:lnSpc>
              <a:buNone/>
            </a:pPr>
            <a:r>
              <a:rPr lang="en-US" sz="1000" b="1" dirty="0">
                <a:solidFill>
                  <a:srgbClr val="F4CAB8"/>
                </a:solidFill>
                <a:latin typeface="Montserrat Bold" pitchFamily="34" charset="0"/>
                <a:ea typeface="Montserrat Bold" pitchFamily="34" charset="-122"/>
                <a:cs typeface="Montserrat Bold" pitchFamily="34" charset="-120"/>
              </a:rPr>
              <a:t>Role</a:t>
            </a:r>
            <a:endParaRPr lang="en-US" sz="1000" dirty="0"/>
          </a:p>
        </p:txBody>
      </p:sp>
      <p:sp>
        <p:nvSpPr>
          <p:cNvPr id="25" name="Text 23"/>
          <p:cNvSpPr/>
          <p:nvPr/>
        </p:nvSpPr>
        <p:spPr>
          <a:xfrm>
            <a:off x="5018561" y="5966350"/>
            <a:ext cx="2322967" cy="209792"/>
          </a:xfrm>
          <a:prstGeom prst="rect">
            <a:avLst/>
          </a:prstGeom>
          <a:noFill/>
          <a:ln/>
        </p:spPr>
        <p:txBody>
          <a:bodyPr wrap="none" lIns="0" tIns="0" rIns="0" bIns="0" rtlCol="0" anchor="t"/>
          <a:lstStyle/>
          <a:p>
            <a:pPr marL="0" indent="0" algn="l">
              <a:lnSpc>
                <a:spcPct val="133000"/>
              </a:lnSpc>
              <a:buNone/>
            </a:pPr>
            <a:r>
              <a:rPr lang="en-US" sz="1000" b="1" dirty="0">
                <a:solidFill>
                  <a:srgbClr val="F4CAB8"/>
                </a:solidFill>
                <a:latin typeface="Montserrat Bold" pitchFamily="34" charset="0"/>
                <a:ea typeface="Montserrat Bold" pitchFamily="34" charset="-122"/>
                <a:cs typeface="Montserrat Bold" pitchFamily="34" charset="-120"/>
              </a:rPr>
              <a:t>Key Metrics Needed</a:t>
            </a:r>
            <a:endParaRPr lang="en-US" sz="1000" dirty="0"/>
          </a:p>
        </p:txBody>
      </p:sp>
      <p:sp>
        <p:nvSpPr>
          <p:cNvPr id="26" name="Shape 24"/>
          <p:cNvSpPr/>
          <p:nvPr/>
        </p:nvSpPr>
        <p:spPr>
          <a:xfrm>
            <a:off x="466846" y="6258729"/>
            <a:ext cx="6627658" cy="1004341"/>
          </a:xfrm>
          <a:prstGeom prst="rect">
            <a:avLst/>
          </a:prstGeom>
          <a:solidFill>
            <a:srgbClr val="000000">
              <a:alpha val="4000"/>
            </a:srgbClr>
          </a:solidFill>
          <a:ln/>
        </p:spPr>
        <p:txBody>
          <a:bodyPr/>
          <a:lstStyle/>
          <a:p>
            <a:endParaRPr lang="en-US"/>
          </a:p>
        </p:txBody>
      </p:sp>
      <p:sp>
        <p:nvSpPr>
          <p:cNvPr id="27" name="Text 25"/>
          <p:cNvSpPr/>
          <p:nvPr/>
        </p:nvSpPr>
        <p:spPr>
          <a:xfrm>
            <a:off x="598604" y="6341316"/>
            <a:ext cx="1944862"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Logistics Operations Manager</a:t>
            </a:r>
            <a:endParaRPr lang="en-US" sz="1000" dirty="0"/>
          </a:p>
        </p:txBody>
      </p:sp>
      <p:sp>
        <p:nvSpPr>
          <p:cNvPr id="28" name="Text 26"/>
          <p:cNvSpPr/>
          <p:nvPr/>
        </p:nvSpPr>
        <p:spPr>
          <a:xfrm>
            <a:off x="2809567" y="6341316"/>
            <a:ext cx="2320997"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Strategic decision-maker</a:t>
            </a:r>
            <a:endParaRPr lang="en-US" sz="1000" dirty="0"/>
          </a:p>
        </p:txBody>
      </p:sp>
      <p:sp>
        <p:nvSpPr>
          <p:cNvPr id="29" name="Text 27"/>
          <p:cNvSpPr/>
          <p:nvPr/>
        </p:nvSpPr>
        <p:spPr>
          <a:xfrm>
            <a:off x="5018561" y="6341316"/>
            <a:ext cx="1944862" cy="839166"/>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Network-wide KPIs, hub performance comparisons, monthly trends across full two-year period</a:t>
            </a:r>
            <a:endParaRPr lang="en-US" sz="1000" dirty="0"/>
          </a:p>
        </p:txBody>
      </p:sp>
      <p:sp>
        <p:nvSpPr>
          <p:cNvPr id="30" name="Shape 28"/>
          <p:cNvSpPr/>
          <p:nvPr/>
        </p:nvSpPr>
        <p:spPr>
          <a:xfrm>
            <a:off x="466846" y="7263070"/>
            <a:ext cx="6627658" cy="1004341"/>
          </a:xfrm>
          <a:prstGeom prst="rect">
            <a:avLst/>
          </a:prstGeom>
          <a:solidFill>
            <a:srgbClr val="FFFFFF">
              <a:alpha val="4000"/>
            </a:srgbClr>
          </a:solidFill>
          <a:ln/>
        </p:spPr>
        <p:txBody>
          <a:bodyPr/>
          <a:lstStyle/>
          <a:p>
            <a:endParaRPr lang="en-US"/>
          </a:p>
        </p:txBody>
      </p:sp>
      <p:sp>
        <p:nvSpPr>
          <p:cNvPr id="31" name="Text 29"/>
          <p:cNvSpPr/>
          <p:nvPr/>
        </p:nvSpPr>
        <p:spPr>
          <a:xfrm>
            <a:off x="598604" y="7345657"/>
            <a:ext cx="2322967"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Hub Supervisors</a:t>
            </a:r>
            <a:endParaRPr lang="en-US" sz="1000" dirty="0"/>
          </a:p>
        </p:txBody>
      </p:sp>
      <p:sp>
        <p:nvSpPr>
          <p:cNvPr id="32" name="Text 30"/>
          <p:cNvSpPr/>
          <p:nvPr/>
        </p:nvSpPr>
        <p:spPr>
          <a:xfrm>
            <a:off x="2809567" y="7345657"/>
            <a:ext cx="2320997"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Operational management</a:t>
            </a:r>
            <a:endParaRPr lang="en-US" sz="1000" dirty="0"/>
          </a:p>
        </p:txBody>
      </p:sp>
      <p:sp>
        <p:nvSpPr>
          <p:cNvPr id="33" name="Text 31"/>
          <p:cNvSpPr/>
          <p:nvPr/>
        </p:nvSpPr>
        <p:spPr>
          <a:xfrm>
            <a:off x="5018561" y="7345657"/>
            <a:ext cx="1944862" cy="839166"/>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Hub processing time and correlation with CSAT, ranking, workload rebalancing</a:t>
            </a:r>
            <a:endParaRPr lang="en-US" sz="1000" dirty="0"/>
          </a:p>
        </p:txBody>
      </p:sp>
      <p:sp>
        <p:nvSpPr>
          <p:cNvPr id="34" name="Shape 32"/>
          <p:cNvSpPr/>
          <p:nvPr/>
        </p:nvSpPr>
        <p:spPr>
          <a:xfrm>
            <a:off x="466846" y="8267410"/>
            <a:ext cx="6627658" cy="1004341"/>
          </a:xfrm>
          <a:prstGeom prst="rect">
            <a:avLst/>
          </a:prstGeom>
          <a:solidFill>
            <a:srgbClr val="000000">
              <a:alpha val="4000"/>
            </a:srgbClr>
          </a:solidFill>
          <a:ln/>
        </p:spPr>
        <p:txBody>
          <a:bodyPr/>
          <a:lstStyle/>
          <a:p>
            <a:endParaRPr lang="en-US"/>
          </a:p>
        </p:txBody>
      </p:sp>
      <p:sp>
        <p:nvSpPr>
          <p:cNvPr id="35" name="Text 33"/>
          <p:cNvSpPr/>
          <p:nvPr/>
        </p:nvSpPr>
        <p:spPr>
          <a:xfrm>
            <a:off x="598604" y="8349998"/>
            <a:ext cx="2322967"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Driver Manager</a:t>
            </a:r>
            <a:endParaRPr lang="en-US" sz="1000" dirty="0"/>
          </a:p>
        </p:txBody>
      </p:sp>
      <p:sp>
        <p:nvSpPr>
          <p:cNvPr id="36" name="Text 34"/>
          <p:cNvSpPr/>
          <p:nvPr/>
        </p:nvSpPr>
        <p:spPr>
          <a:xfrm>
            <a:off x="2809567" y="8349998"/>
            <a:ext cx="1942893"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Driver performance oversight</a:t>
            </a:r>
            <a:endParaRPr lang="en-US" sz="1000" dirty="0"/>
          </a:p>
        </p:txBody>
      </p:sp>
      <p:sp>
        <p:nvSpPr>
          <p:cNvPr id="37" name="Text 35"/>
          <p:cNvSpPr/>
          <p:nvPr/>
        </p:nvSpPr>
        <p:spPr>
          <a:xfrm>
            <a:off x="5018561" y="8349998"/>
            <a:ext cx="1944862" cy="839166"/>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Driver performance ratings, top delayed orders by driver name, individual driver drill-down profiles</a:t>
            </a:r>
            <a:endParaRPr lang="en-US" sz="1000" dirty="0"/>
          </a:p>
        </p:txBody>
      </p:sp>
      <p:sp>
        <p:nvSpPr>
          <p:cNvPr id="38" name="Shape 36"/>
          <p:cNvSpPr/>
          <p:nvPr/>
        </p:nvSpPr>
        <p:spPr>
          <a:xfrm>
            <a:off x="466846" y="9271751"/>
            <a:ext cx="6627658" cy="1004341"/>
          </a:xfrm>
          <a:prstGeom prst="rect">
            <a:avLst/>
          </a:prstGeom>
          <a:solidFill>
            <a:srgbClr val="FFFFFF">
              <a:alpha val="4000"/>
            </a:srgbClr>
          </a:solidFill>
          <a:ln/>
        </p:spPr>
        <p:txBody>
          <a:bodyPr/>
          <a:lstStyle/>
          <a:p>
            <a:endParaRPr lang="en-US"/>
          </a:p>
        </p:txBody>
      </p:sp>
      <p:sp>
        <p:nvSpPr>
          <p:cNvPr id="39" name="Text 37"/>
          <p:cNvSpPr/>
          <p:nvPr/>
        </p:nvSpPr>
        <p:spPr>
          <a:xfrm>
            <a:off x="598604" y="9354338"/>
            <a:ext cx="2322967"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Fleet Manager</a:t>
            </a:r>
            <a:endParaRPr lang="en-US" sz="1000" dirty="0"/>
          </a:p>
        </p:txBody>
      </p:sp>
      <p:sp>
        <p:nvSpPr>
          <p:cNvPr id="40" name="Text 38"/>
          <p:cNvSpPr/>
          <p:nvPr/>
        </p:nvSpPr>
        <p:spPr>
          <a:xfrm>
            <a:off x="2809567" y="9354338"/>
            <a:ext cx="1942893"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Vehicle and maintenance oversight</a:t>
            </a:r>
            <a:endParaRPr lang="en-US" sz="1000" dirty="0"/>
          </a:p>
        </p:txBody>
      </p:sp>
      <p:sp>
        <p:nvSpPr>
          <p:cNvPr id="41" name="Text 39"/>
          <p:cNvSpPr/>
          <p:nvPr/>
        </p:nvSpPr>
        <p:spPr>
          <a:xfrm>
            <a:off x="5018561" y="9354338"/>
            <a:ext cx="1944862" cy="839166"/>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Breakdown rates by vehicle model, current maintenance rate, active versus unavailable fleet status</a:t>
            </a:r>
            <a:endParaRPr lang="en-US" sz="1000" dirty="0"/>
          </a:p>
        </p:txBody>
      </p:sp>
      <p:sp>
        <p:nvSpPr>
          <p:cNvPr id="43" name="TextBox 42">
            <a:extLst>
              <a:ext uri="{FF2B5EF4-FFF2-40B4-BE49-F238E27FC236}">
                <a16:creationId xmlns:a16="http://schemas.microsoft.com/office/drawing/2014/main" id="{40D992CC-7381-550B-333B-A899C1AF2EC1}"/>
              </a:ext>
            </a:extLst>
          </p:cNvPr>
          <p:cNvSpPr txBox="1"/>
          <p:nvPr/>
        </p:nvSpPr>
        <p:spPr>
          <a:xfrm>
            <a:off x="7120832" y="10193504"/>
            <a:ext cx="517740" cy="369332"/>
          </a:xfrm>
          <a:prstGeom prst="rect">
            <a:avLst/>
          </a:prstGeom>
          <a:noFill/>
        </p:spPr>
        <p:txBody>
          <a:bodyPr wrap="square" rtlCol="0">
            <a:spAutoFit/>
          </a:bodyPr>
          <a:lstStyle/>
          <a:p>
            <a:fld id="{D229F3D1-9D5A-41A6-881D-C67129A394EE}" type="slidenum">
              <a:rPr lang="en-US">
                <a:solidFill>
                  <a:srgbClr val="F4CAB8"/>
                </a:solidFill>
                <a:latin typeface="Brygada 1918" pitchFamily="2" charset="0"/>
                <a:ea typeface="Brygada 1918" pitchFamily="2" charset="0"/>
              </a:rPr>
              <a:t>3</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8969" y="360566"/>
            <a:ext cx="5319185" cy="430291"/>
          </a:xfrm>
          <a:prstGeom prst="rect">
            <a:avLst/>
          </a:prstGeom>
          <a:noFill/>
          <a:ln/>
        </p:spPr>
        <p:txBody>
          <a:bodyPr wrap="none" lIns="0" tIns="0" rIns="0" bIns="0" rtlCol="0" anchor="t"/>
          <a:lstStyle/>
          <a:p>
            <a:pPr marL="0" indent="0" algn="l">
              <a:lnSpc>
                <a:spcPct val="104000"/>
              </a:lnSpc>
              <a:buNone/>
            </a:pPr>
            <a:r>
              <a:rPr lang="en-US" sz="2700" b="1" dirty="0">
                <a:solidFill>
                  <a:srgbClr val="FFB393"/>
                </a:solidFill>
                <a:latin typeface="Brygada 1918 Bold" pitchFamily="34" charset="0"/>
                <a:ea typeface="Brygada 1918 Bold" pitchFamily="34" charset="-122"/>
                <a:cs typeface="Brygada 1918 Bold" pitchFamily="34" charset="-120"/>
              </a:rPr>
              <a:t>Dataset Overview &amp; Structure</a:t>
            </a:r>
            <a:endParaRPr lang="en-US" sz="2700" dirty="0"/>
          </a:p>
        </p:txBody>
      </p:sp>
      <p:sp>
        <p:nvSpPr>
          <p:cNvPr id="3" name="Text 1"/>
          <p:cNvSpPr/>
          <p:nvPr/>
        </p:nvSpPr>
        <p:spPr>
          <a:xfrm>
            <a:off x="458969" y="1044957"/>
            <a:ext cx="6644089" cy="409860"/>
          </a:xfrm>
          <a:prstGeom prst="rect">
            <a:avLst/>
          </a:prstGeom>
          <a:noFill/>
          <a:ln/>
        </p:spPr>
        <p:txBody>
          <a:bodyPr wrap="square" lIns="0" tIns="0" rIns="0" bIns="0" rtlCol="0" anchor="t">
            <a:normAutofit/>
          </a:bodyPr>
          <a:lstStyle/>
          <a:p>
            <a:pPr marL="0" indent="0" algn="l">
              <a:lnSpc>
                <a:spcPct val="132000"/>
              </a:lnSpc>
              <a:buNone/>
            </a:pPr>
            <a:r>
              <a:rPr lang="en-US" sz="1000" dirty="0">
                <a:solidFill>
                  <a:srgbClr val="F4CAB8"/>
                </a:solidFill>
                <a:latin typeface="Montserrat Medium" pitchFamily="34" charset="0"/>
                <a:ea typeface="Montserrat Medium" pitchFamily="34" charset="-122"/>
                <a:cs typeface="Montserrat Medium" pitchFamily="34" charset="-120"/>
              </a:rPr>
              <a:t>All data provided as CSV files covering January 2023 to December 2024. Dataset structured across four tables describing every aspect of logistics operations:</a:t>
            </a:r>
            <a:endParaRPr lang="en-US" sz="1000" dirty="0"/>
          </a:p>
        </p:txBody>
      </p:sp>
      <p:sp>
        <p:nvSpPr>
          <p:cNvPr id="4" name="Shape 2"/>
          <p:cNvSpPr/>
          <p:nvPr/>
        </p:nvSpPr>
        <p:spPr>
          <a:xfrm>
            <a:off x="458969" y="1597714"/>
            <a:ext cx="6644089" cy="2866310"/>
          </a:xfrm>
          <a:prstGeom prst="roundRect">
            <a:avLst>
              <a:gd name="adj" fmla="val 676"/>
            </a:avLst>
          </a:prstGeom>
          <a:noFill/>
          <a:ln w="7877">
            <a:solidFill>
              <a:srgbClr val="FFFFFF">
                <a:alpha val="24000"/>
              </a:srgbClr>
            </a:solidFill>
            <a:prstDash val="solid"/>
          </a:ln>
        </p:spPr>
        <p:txBody>
          <a:bodyPr/>
          <a:lstStyle/>
          <a:p>
            <a:endParaRPr lang="en-US"/>
          </a:p>
        </p:txBody>
      </p:sp>
      <p:sp>
        <p:nvSpPr>
          <p:cNvPr id="5" name="Shape 3"/>
          <p:cNvSpPr/>
          <p:nvPr/>
        </p:nvSpPr>
        <p:spPr>
          <a:xfrm>
            <a:off x="466846" y="1605591"/>
            <a:ext cx="6627658" cy="365181"/>
          </a:xfrm>
          <a:prstGeom prst="rect">
            <a:avLst/>
          </a:prstGeom>
          <a:solidFill>
            <a:srgbClr val="FFFFFF">
              <a:alpha val="4000"/>
            </a:srgbClr>
          </a:solidFill>
          <a:ln/>
        </p:spPr>
        <p:txBody>
          <a:bodyPr/>
          <a:lstStyle/>
          <a:p>
            <a:endParaRPr lang="en-US"/>
          </a:p>
        </p:txBody>
      </p:sp>
      <p:sp>
        <p:nvSpPr>
          <p:cNvPr id="6" name="Text 4"/>
          <p:cNvSpPr/>
          <p:nvPr/>
        </p:nvSpPr>
        <p:spPr>
          <a:xfrm>
            <a:off x="596573" y="1685717"/>
            <a:ext cx="2327028" cy="204930"/>
          </a:xfrm>
          <a:prstGeom prst="rect">
            <a:avLst/>
          </a:prstGeom>
          <a:noFill/>
          <a:ln/>
        </p:spPr>
        <p:txBody>
          <a:bodyPr wrap="none" lIns="0" tIns="0" rIns="0" bIns="0" rtlCol="0" anchor="t"/>
          <a:lstStyle/>
          <a:p>
            <a:pPr marL="0" indent="0" algn="l">
              <a:lnSpc>
                <a:spcPct val="132000"/>
              </a:lnSpc>
              <a:buNone/>
            </a:pPr>
            <a:r>
              <a:rPr lang="en-US" sz="1000" b="1" dirty="0">
                <a:solidFill>
                  <a:srgbClr val="F4CAB8"/>
                </a:solidFill>
                <a:latin typeface="Montserrat Bold" pitchFamily="34" charset="0"/>
                <a:ea typeface="Montserrat Bold" pitchFamily="34" charset="-122"/>
                <a:cs typeface="Montserrat Bold" pitchFamily="34" charset="-120"/>
              </a:rPr>
              <a:t>Table</a:t>
            </a:r>
            <a:endParaRPr lang="en-US" sz="1000" dirty="0"/>
          </a:p>
        </p:txBody>
      </p:sp>
      <p:sp>
        <p:nvSpPr>
          <p:cNvPr id="7" name="Text 5"/>
          <p:cNvSpPr/>
          <p:nvPr/>
        </p:nvSpPr>
        <p:spPr>
          <a:xfrm>
            <a:off x="2807536" y="1685717"/>
            <a:ext cx="2325059" cy="204930"/>
          </a:xfrm>
          <a:prstGeom prst="rect">
            <a:avLst/>
          </a:prstGeom>
          <a:noFill/>
          <a:ln/>
        </p:spPr>
        <p:txBody>
          <a:bodyPr wrap="none" lIns="0" tIns="0" rIns="0" bIns="0" rtlCol="0" anchor="t"/>
          <a:lstStyle/>
          <a:p>
            <a:pPr marL="0" indent="0" algn="l">
              <a:lnSpc>
                <a:spcPct val="132000"/>
              </a:lnSpc>
              <a:buNone/>
            </a:pPr>
            <a:r>
              <a:rPr lang="en-US" sz="1000" b="1" dirty="0">
                <a:solidFill>
                  <a:srgbClr val="F4CAB8"/>
                </a:solidFill>
                <a:latin typeface="Montserrat Bold" pitchFamily="34" charset="0"/>
                <a:ea typeface="Montserrat Bold" pitchFamily="34" charset="-122"/>
                <a:cs typeface="Montserrat Bold" pitchFamily="34" charset="-120"/>
              </a:rPr>
              <a:t>Records</a:t>
            </a:r>
            <a:endParaRPr lang="en-US" sz="1000" dirty="0"/>
          </a:p>
        </p:txBody>
      </p:sp>
      <p:sp>
        <p:nvSpPr>
          <p:cNvPr id="8" name="Text 6"/>
          <p:cNvSpPr/>
          <p:nvPr/>
        </p:nvSpPr>
        <p:spPr>
          <a:xfrm>
            <a:off x="5016530" y="1685717"/>
            <a:ext cx="2327028" cy="204930"/>
          </a:xfrm>
          <a:prstGeom prst="rect">
            <a:avLst/>
          </a:prstGeom>
          <a:noFill/>
          <a:ln/>
        </p:spPr>
        <p:txBody>
          <a:bodyPr wrap="none" lIns="0" tIns="0" rIns="0" bIns="0" rtlCol="0" anchor="t"/>
          <a:lstStyle/>
          <a:p>
            <a:pPr marL="0" indent="0" algn="l">
              <a:lnSpc>
                <a:spcPct val="132000"/>
              </a:lnSpc>
              <a:buNone/>
            </a:pPr>
            <a:r>
              <a:rPr lang="en-US" sz="1000" b="1" dirty="0">
                <a:solidFill>
                  <a:srgbClr val="F4CAB8"/>
                </a:solidFill>
                <a:latin typeface="Montserrat Bold" pitchFamily="34" charset="0"/>
                <a:ea typeface="Montserrat Bold" pitchFamily="34" charset="-122"/>
                <a:cs typeface="Montserrat Bold" pitchFamily="34" charset="-120"/>
              </a:rPr>
              <a:t>Description</a:t>
            </a:r>
            <a:endParaRPr lang="en-US" sz="1000" dirty="0"/>
          </a:p>
        </p:txBody>
      </p:sp>
      <p:sp>
        <p:nvSpPr>
          <p:cNvPr id="9" name="Shape 7"/>
          <p:cNvSpPr/>
          <p:nvPr/>
        </p:nvSpPr>
        <p:spPr>
          <a:xfrm>
            <a:off x="466846" y="1970772"/>
            <a:ext cx="6627658" cy="570111"/>
          </a:xfrm>
          <a:prstGeom prst="rect">
            <a:avLst/>
          </a:prstGeom>
          <a:solidFill>
            <a:srgbClr val="000000">
              <a:alpha val="4000"/>
            </a:srgbClr>
          </a:solidFill>
          <a:ln/>
        </p:spPr>
        <p:txBody>
          <a:bodyPr/>
          <a:lstStyle/>
          <a:p>
            <a:endParaRPr lang="en-US"/>
          </a:p>
        </p:txBody>
      </p:sp>
      <p:sp>
        <p:nvSpPr>
          <p:cNvPr id="10" name="Text 8"/>
          <p:cNvSpPr/>
          <p:nvPr/>
        </p:nvSpPr>
        <p:spPr>
          <a:xfrm>
            <a:off x="596573" y="2050898"/>
            <a:ext cx="2327028" cy="204930"/>
          </a:xfrm>
          <a:prstGeom prst="rect">
            <a:avLst/>
          </a:prstGeom>
          <a:noFill/>
          <a:ln/>
        </p:spPr>
        <p:txBody>
          <a:bodyPr wrap="none" lIns="0" tIns="0" rIns="0" bIns="0" rtlCol="0" anchor="t"/>
          <a:lstStyle/>
          <a:p>
            <a:pPr marL="0" indent="0" algn="l">
              <a:lnSpc>
                <a:spcPct val="132000"/>
              </a:lnSpc>
              <a:buNone/>
            </a:pPr>
            <a:r>
              <a:rPr lang="en-US" sz="1000" dirty="0">
                <a:solidFill>
                  <a:srgbClr val="F4CAB8"/>
                </a:solidFill>
                <a:latin typeface="Montserrat Medium" pitchFamily="34" charset="0"/>
                <a:ea typeface="Montserrat Medium" pitchFamily="34" charset="-122"/>
                <a:cs typeface="Montserrat Medium" pitchFamily="34" charset="-120"/>
              </a:rPr>
              <a:t>Orders</a:t>
            </a:r>
            <a:endParaRPr lang="en-US" sz="1000" dirty="0"/>
          </a:p>
        </p:txBody>
      </p:sp>
      <p:sp>
        <p:nvSpPr>
          <p:cNvPr id="11" name="Text 9"/>
          <p:cNvSpPr/>
          <p:nvPr/>
        </p:nvSpPr>
        <p:spPr>
          <a:xfrm>
            <a:off x="2807536" y="2050898"/>
            <a:ext cx="2325059" cy="204930"/>
          </a:xfrm>
          <a:prstGeom prst="rect">
            <a:avLst/>
          </a:prstGeom>
          <a:noFill/>
          <a:ln/>
        </p:spPr>
        <p:txBody>
          <a:bodyPr wrap="none" lIns="0" tIns="0" rIns="0" bIns="0" rtlCol="0" anchor="t"/>
          <a:lstStyle/>
          <a:p>
            <a:pPr marL="0" indent="0" algn="l">
              <a:lnSpc>
                <a:spcPct val="132000"/>
              </a:lnSpc>
              <a:buNone/>
            </a:pPr>
            <a:r>
              <a:rPr lang="en-US" sz="1000" dirty="0">
                <a:solidFill>
                  <a:srgbClr val="F4CAB8"/>
                </a:solidFill>
                <a:latin typeface="Montserrat Medium" pitchFamily="34" charset="0"/>
                <a:ea typeface="Montserrat Medium" pitchFamily="34" charset="-122"/>
                <a:cs typeface="Montserrat Medium" pitchFamily="34" charset="-120"/>
              </a:rPr>
              <a:t>25,852</a:t>
            </a:r>
            <a:endParaRPr lang="en-US" sz="1000" dirty="0"/>
          </a:p>
        </p:txBody>
      </p:sp>
      <p:sp>
        <p:nvSpPr>
          <p:cNvPr id="12" name="Text 10"/>
          <p:cNvSpPr/>
          <p:nvPr/>
        </p:nvSpPr>
        <p:spPr>
          <a:xfrm>
            <a:off x="5016530" y="2050898"/>
            <a:ext cx="1948924" cy="409860"/>
          </a:xfrm>
          <a:prstGeom prst="rect">
            <a:avLst/>
          </a:prstGeom>
          <a:noFill/>
          <a:ln/>
        </p:spPr>
        <p:txBody>
          <a:bodyPr wrap="square" lIns="0" tIns="0" rIns="0" bIns="0" rtlCol="0" anchor="t">
            <a:normAutofit/>
          </a:bodyPr>
          <a:lstStyle/>
          <a:p>
            <a:pPr marL="0" indent="0" algn="l">
              <a:lnSpc>
                <a:spcPct val="132000"/>
              </a:lnSpc>
              <a:buNone/>
            </a:pPr>
            <a:r>
              <a:rPr lang="en-US" sz="1000" dirty="0">
                <a:solidFill>
                  <a:srgbClr val="F4CAB8"/>
                </a:solidFill>
                <a:latin typeface="Montserrat Medium" pitchFamily="34" charset="0"/>
                <a:ea typeface="Montserrat Medium" pitchFamily="34" charset="-122"/>
                <a:cs typeface="Montserrat Medium" pitchFamily="34" charset="-120"/>
              </a:rPr>
              <a:t>Central fact table — one row per delivery order</a:t>
            </a:r>
            <a:endParaRPr lang="en-US" sz="1000" dirty="0"/>
          </a:p>
        </p:txBody>
      </p:sp>
      <p:sp>
        <p:nvSpPr>
          <p:cNvPr id="13" name="Shape 11"/>
          <p:cNvSpPr/>
          <p:nvPr/>
        </p:nvSpPr>
        <p:spPr>
          <a:xfrm>
            <a:off x="466846" y="2540884"/>
            <a:ext cx="6627658" cy="775041"/>
          </a:xfrm>
          <a:prstGeom prst="rect">
            <a:avLst/>
          </a:prstGeom>
          <a:solidFill>
            <a:srgbClr val="FFFFFF">
              <a:alpha val="4000"/>
            </a:srgbClr>
          </a:solidFill>
          <a:ln/>
        </p:spPr>
        <p:txBody>
          <a:bodyPr/>
          <a:lstStyle/>
          <a:p>
            <a:endParaRPr lang="en-US"/>
          </a:p>
        </p:txBody>
      </p:sp>
      <p:sp>
        <p:nvSpPr>
          <p:cNvPr id="14" name="Text 12"/>
          <p:cNvSpPr/>
          <p:nvPr/>
        </p:nvSpPr>
        <p:spPr>
          <a:xfrm>
            <a:off x="596573" y="2621009"/>
            <a:ext cx="2327028" cy="204930"/>
          </a:xfrm>
          <a:prstGeom prst="rect">
            <a:avLst/>
          </a:prstGeom>
          <a:noFill/>
          <a:ln/>
        </p:spPr>
        <p:txBody>
          <a:bodyPr wrap="none" lIns="0" tIns="0" rIns="0" bIns="0" rtlCol="0" anchor="t"/>
          <a:lstStyle/>
          <a:p>
            <a:pPr marL="0" indent="0" algn="l">
              <a:lnSpc>
                <a:spcPct val="132000"/>
              </a:lnSpc>
              <a:buNone/>
            </a:pPr>
            <a:r>
              <a:rPr lang="en-US" sz="1000" dirty="0">
                <a:solidFill>
                  <a:srgbClr val="F4CAB8"/>
                </a:solidFill>
                <a:latin typeface="Montserrat Medium" pitchFamily="34" charset="0"/>
                <a:ea typeface="Montserrat Medium" pitchFamily="34" charset="-122"/>
                <a:cs typeface="Montserrat Medium" pitchFamily="34" charset="-120"/>
              </a:rPr>
              <a:t>Drivers</a:t>
            </a:r>
            <a:endParaRPr lang="en-US" sz="1000" dirty="0"/>
          </a:p>
        </p:txBody>
      </p:sp>
      <p:sp>
        <p:nvSpPr>
          <p:cNvPr id="15" name="Text 13"/>
          <p:cNvSpPr/>
          <p:nvPr/>
        </p:nvSpPr>
        <p:spPr>
          <a:xfrm>
            <a:off x="2807536" y="2621009"/>
            <a:ext cx="2325059" cy="204930"/>
          </a:xfrm>
          <a:prstGeom prst="rect">
            <a:avLst/>
          </a:prstGeom>
          <a:noFill/>
          <a:ln/>
        </p:spPr>
        <p:txBody>
          <a:bodyPr wrap="none" lIns="0" tIns="0" rIns="0" bIns="0" rtlCol="0" anchor="t"/>
          <a:lstStyle/>
          <a:p>
            <a:pPr marL="0" indent="0" algn="l">
              <a:lnSpc>
                <a:spcPct val="132000"/>
              </a:lnSpc>
              <a:buNone/>
            </a:pPr>
            <a:r>
              <a:rPr lang="en-US" sz="1000" dirty="0">
                <a:solidFill>
                  <a:srgbClr val="F4CAB8"/>
                </a:solidFill>
                <a:latin typeface="Montserrat Medium" pitchFamily="34" charset="0"/>
                <a:ea typeface="Montserrat Medium" pitchFamily="34" charset="-122"/>
                <a:cs typeface="Montserrat Medium" pitchFamily="34" charset="-120"/>
              </a:rPr>
              <a:t>53</a:t>
            </a:r>
            <a:endParaRPr lang="en-US" sz="1000" dirty="0"/>
          </a:p>
        </p:txBody>
      </p:sp>
      <p:sp>
        <p:nvSpPr>
          <p:cNvPr id="16" name="Text 14"/>
          <p:cNvSpPr/>
          <p:nvPr/>
        </p:nvSpPr>
        <p:spPr>
          <a:xfrm>
            <a:off x="5016530" y="2621009"/>
            <a:ext cx="1948924" cy="614789"/>
          </a:xfrm>
          <a:prstGeom prst="rect">
            <a:avLst/>
          </a:prstGeom>
          <a:noFill/>
          <a:ln/>
        </p:spPr>
        <p:txBody>
          <a:bodyPr wrap="square" lIns="0" tIns="0" rIns="0" bIns="0" rtlCol="0" anchor="t">
            <a:normAutofit/>
          </a:bodyPr>
          <a:lstStyle/>
          <a:p>
            <a:pPr marL="0" indent="0" algn="l">
              <a:lnSpc>
                <a:spcPct val="132000"/>
              </a:lnSpc>
              <a:buNone/>
            </a:pPr>
            <a:r>
              <a:rPr lang="en-US" sz="1000" dirty="0">
                <a:solidFill>
                  <a:srgbClr val="F4CAB8"/>
                </a:solidFill>
                <a:latin typeface="Montserrat Medium" pitchFamily="34" charset="0"/>
                <a:ea typeface="Montserrat Medium" pitchFamily="34" charset="-122"/>
                <a:cs typeface="Montserrat Medium" pitchFamily="34" charset="-120"/>
              </a:rPr>
              <a:t>One row per driver with employment and performance data</a:t>
            </a:r>
            <a:endParaRPr lang="en-US" sz="1000" dirty="0"/>
          </a:p>
        </p:txBody>
      </p:sp>
      <p:sp>
        <p:nvSpPr>
          <p:cNvPr id="17" name="Shape 15"/>
          <p:cNvSpPr/>
          <p:nvPr/>
        </p:nvSpPr>
        <p:spPr>
          <a:xfrm>
            <a:off x="466846" y="3315924"/>
            <a:ext cx="6627658" cy="570111"/>
          </a:xfrm>
          <a:prstGeom prst="rect">
            <a:avLst/>
          </a:prstGeom>
          <a:solidFill>
            <a:srgbClr val="000000">
              <a:alpha val="4000"/>
            </a:srgbClr>
          </a:solidFill>
          <a:ln/>
        </p:spPr>
        <p:txBody>
          <a:bodyPr/>
          <a:lstStyle/>
          <a:p>
            <a:endParaRPr lang="en-US"/>
          </a:p>
        </p:txBody>
      </p:sp>
      <p:sp>
        <p:nvSpPr>
          <p:cNvPr id="18" name="Text 16"/>
          <p:cNvSpPr/>
          <p:nvPr/>
        </p:nvSpPr>
        <p:spPr>
          <a:xfrm>
            <a:off x="596573" y="3396050"/>
            <a:ext cx="2327028" cy="204930"/>
          </a:xfrm>
          <a:prstGeom prst="rect">
            <a:avLst/>
          </a:prstGeom>
          <a:noFill/>
          <a:ln/>
        </p:spPr>
        <p:txBody>
          <a:bodyPr wrap="none" lIns="0" tIns="0" rIns="0" bIns="0" rtlCol="0" anchor="t"/>
          <a:lstStyle/>
          <a:p>
            <a:pPr marL="0" indent="0" algn="l">
              <a:lnSpc>
                <a:spcPct val="132000"/>
              </a:lnSpc>
              <a:buNone/>
            </a:pPr>
            <a:r>
              <a:rPr lang="en-US" sz="1000" dirty="0">
                <a:solidFill>
                  <a:srgbClr val="F4CAB8"/>
                </a:solidFill>
                <a:latin typeface="Montserrat Medium" pitchFamily="34" charset="0"/>
                <a:ea typeface="Montserrat Medium" pitchFamily="34" charset="-122"/>
                <a:cs typeface="Montserrat Medium" pitchFamily="34" charset="-120"/>
              </a:rPr>
              <a:t>Vehicles</a:t>
            </a:r>
            <a:endParaRPr lang="en-US" sz="1000" dirty="0"/>
          </a:p>
        </p:txBody>
      </p:sp>
      <p:sp>
        <p:nvSpPr>
          <p:cNvPr id="19" name="Text 17"/>
          <p:cNvSpPr/>
          <p:nvPr/>
        </p:nvSpPr>
        <p:spPr>
          <a:xfrm>
            <a:off x="2807536" y="3396050"/>
            <a:ext cx="2325059" cy="204930"/>
          </a:xfrm>
          <a:prstGeom prst="rect">
            <a:avLst/>
          </a:prstGeom>
          <a:noFill/>
          <a:ln/>
        </p:spPr>
        <p:txBody>
          <a:bodyPr wrap="none" lIns="0" tIns="0" rIns="0" bIns="0" rtlCol="0" anchor="t"/>
          <a:lstStyle/>
          <a:p>
            <a:pPr marL="0" indent="0" algn="l">
              <a:lnSpc>
                <a:spcPct val="132000"/>
              </a:lnSpc>
              <a:buNone/>
            </a:pPr>
            <a:r>
              <a:rPr lang="en-US" sz="1000" dirty="0">
                <a:solidFill>
                  <a:srgbClr val="F4CAB8"/>
                </a:solidFill>
                <a:latin typeface="Montserrat Medium" pitchFamily="34" charset="0"/>
                <a:ea typeface="Montserrat Medium" pitchFamily="34" charset="-122"/>
                <a:cs typeface="Montserrat Medium" pitchFamily="34" charset="-120"/>
              </a:rPr>
              <a:t>45</a:t>
            </a:r>
            <a:endParaRPr lang="en-US" sz="1000" dirty="0"/>
          </a:p>
        </p:txBody>
      </p:sp>
      <p:sp>
        <p:nvSpPr>
          <p:cNvPr id="20" name="Text 18"/>
          <p:cNvSpPr/>
          <p:nvPr/>
        </p:nvSpPr>
        <p:spPr>
          <a:xfrm>
            <a:off x="5016530" y="3396050"/>
            <a:ext cx="1948924" cy="409860"/>
          </a:xfrm>
          <a:prstGeom prst="rect">
            <a:avLst/>
          </a:prstGeom>
          <a:noFill/>
          <a:ln/>
        </p:spPr>
        <p:txBody>
          <a:bodyPr wrap="square" lIns="0" tIns="0" rIns="0" bIns="0" rtlCol="0" anchor="t">
            <a:normAutofit/>
          </a:bodyPr>
          <a:lstStyle/>
          <a:p>
            <a:pPr marL="0" indent="0" algn="l">
              <a:lnSpc>
                <a:spcPct val="132000"/>
              </a:lnSpc>
              <a:buNone/>
            </a:pPr>
            <a:r>
              <a:rPr lang="en-US" sz="1000" dirty="0">
                <a:solidFill>
                  <a:srgbClr val="F4CAB8"/>
                </a:solidFill>
                <a:latin typeface="Montserrat Medium" pitchFamily="34" charset="0"/>
                <a:ea typeface="Montserrat Medium" pitchFamily="34" charset="-122"/>
                <a:cs typeface="Montserrat Medium" pitchFamily="34" charset="-120"/>
              </a:rPr>
              <a:t>One row per vehicle with status and breakdown history</a:t>
            </a:r>
            <a:endParaRPr lang="en-US" sz="1000" dirty="0"/>
          </a:p>
        </p:txBody>
      </p:sp>
      <p:sp>
        <p:nvSpPr>
          <p:cNvPr id="21" name="Shape 19"/>
          <p:cNvSpPr/>
          <p:nvPr/>
        </p:nvSpPr>
        <p:spPr>
          <a:xfrm>
            <a:off x="466846" y="3886035"/>
            <a:ext cx="6627658" cy="570111"/>
          </a:xfrm>
          <a:prstGeom prst="rect">
            <a:avLst/>
          </a:prstGeom>
          <a:solidFill>
            <a:srgbClr val="FFFFFF">
              <a:alpha val="4000"/>
            </a:srgbClr>
          </a:solidFill>
          <a:ln/>
        </p:spPr>
        <p:txBody>
          <a:bodyPr/>
          <a:lstStyle/>
          <a:p>
            <a:endParaRPr lang="en-US"/>
          </a:p>
        </p:txBody>
      </p:sp>
      <p:sp>
        <p:nvSpPr>
          <p:cNvPr id="22" name="Text 20"/>
          <p:cNvSpPr/>
          <p:nvPr/>
        </p:nvSpPr>
        <p:spPr>
          <a:xfrm>
            <a:off x="596573" y="3966161"/>
            <a:ext cx="2327028" cy="204930"/>
          </a:xfrm>
          <a:prstGeom prst="rect">
            <a:avLst/>
          </a:prstGeom>
          <a:noFill/>
          <a:ln/>
        </p:spPr>
        <p:txBody>
          <a:bodyPr wrap="none" lIns="0" tIns="0" rIns="0" bIns="0" rtlCol="0" anchor="t"/>
          <a:lstStyle/>
          <a:p>
            <a:pPr marL="0" indent="0" algn="l">
              <a:lnSpc>
                <a:spcPct val="132000"/>
              </a:lnSpc>
              <a:buNone/>
            </a:pPr>
            <a:r>
              <a:rPr lang="en-US" sz="1000" dirty="0">
                <a:solidFill>
                  <a:srgbClr val="F4CAB8"/>
                </a:solidFill>
                <a:latin typeface="Montserrat Medium" pitchFamily="34" charset="0"/>
                <a:ea typeface="Montserrat Medium" pitchFamily="34" charset="-122"/>
                <a:cs typeface="Montserrat Medium" pitchFamily="34" charset="-120"/>
              </a:rPr>
              <a:t>Hubs</a:t>
            </a:r>
            <a:endParaRPr lang="en-US" sz="1000" dirty="0"/>
          </a:p>
        </p:txBody>
      </p:sp>
      <p:sp>
        <p:nvSpPr>
          <p:cNvPr id="23" name="Text 21"/>
          <p:cNvSpPr/>
          <p:nvPr/>
        </p:nvSpPr>
        <p:spPr>
          <a:xfrm>
            <a:off x="2807536" y="3966161"/>
            <a:ext cx="2325059" cy="204930"/>
          </a:xfrm>
          <a:prstGeom prst="rect">
            <a:avLst/>
          </a:prstGeom>
          <a:noFill/>
          <a:ln/>
        </p:spPr>
        <p:txBody>
          <a:bodyPr wrap="none" lIns="0" tIns="0" rIns="0" bIns="0" rtlCol="0" anchor="t"/>
          <a:lstStyle/>
          <a:p>
            <a:pPr marL="0" indent="0" algn="l">
              <a:lnSpc>
                <a:spcPct val="132000"/>
              </a:lnSpc>
              <a:buNone/>
            </a:pPr>
            <a:r>
              <a:rPr lang="en-US" sz="1000" dirty="0">
                <a:solidFill>
                  <a:srgbClr val="F4CAB8"/>
                </a:solidFill>
                <a:latin typeface="Montserrat Medium" pitchFamily="34" charset="0"/>
                <a:ea typeface="Montserrat Medium" pitchFamily="34" charset="-122"/>
                <a:cs typeface="Montserrat Medium" pitchFamily="34" charset="-120"/>
              </a:rPr>
              <a:t>6</a:t>
            </a:r>
            <a:endParaRPr lang="en-US" sz="1000" dirty="0"/>
          </a:p>
        </p:txBody>
      </p:sp>
      <p:sp>
        <p:nvSpPr>
          <p:cNvPr id="24" name="Text 22"/>
          <p:cNvSpPr/>
          <p:nvPr/>
        </p:nvSpPr>
        <p:spPr>
          <a:xfrm>
            <a:off x="5016530" y="3966161"/>
            <a:ext cx="1948924" cy="409860"/>
          </a:xfrm>
          <a:prstGeom prst="rect">
            <a:avLst/>
          </a:prstGeom>
          <a:noFill/>
          <a:ln/>
        </p:spPr>
        <p:txBody>
          <a:bodyPr wrap="square" lIns="0" tIns="0" rIns="0" bIns="0" rtlCol="0" anchor="t">
            <a:normAutofit/>
          </a:bodyPr>
          <a:lstStyle/>
          <a:p>
            <a:pPr marL="0" indent="0" algn="l">
              <a:lnSpc>
                <a:spcPct val="132000"/>
              </a:lnSpc>
              <a:buNone/>
            </a:pPr>
            <a:r>
              <a:rPr lang="en-US" sz="1000" dirty="0">
                <a:solidFill>
                  <a:srgbClr val="F4CAB8"/>
                </a:solidFill>
                <a:latin typeface="Montserrat Medium" pitchFamily="34" charset="0"/>
                <a:ea typeface="Montserrat Medium" pitchFamily="34" charset="-122"/>
                <a:cs typeface="Montserrat Medium" pitchFamily="34" charset="-120"/>
              </a:rPr>
              <a:t>One row per hub with location and capacity</a:t>
            </a:r>
            <a:endParaRPr lang="en-US" sz="1000" dirty="0"/>
          </a:p>
        </p:txBody>
      </p:sp>
      <p:sp>
        <p:nvSpPr>
          <p:cNvPr id="25" name="Text 23"/>
          <p:cNvSpPr/>
          <p:nvPr/>
        </p:nvSpPr>
        <p:spPr>
          <a:xfrm>
            <a:off x="458969" y="4606921"/>
            <a:ext cx="6644089" cy="1679686"/>
          </a:xfrm>
          <a:prstGeom prst="rect">
            <a:avLst/>
          </a:prstGeom>
          <a:noFill/>
          <a:ln/>
        </p:spPr>
        <p:txBody>
          <a:bodyPr wrap="square" lIns="0" tIns="0" rIns="0" bIns="0" rtlCol="0" anchor="t"/>
          <a:lstStyle/>
          <a:p>
            <a:pPr marL="0" indent="0" algn="l">
              <a:lnSpc>
                <a:spcPct val="132000"/>
              </a:lnSpc>
              <a:spcAft>
                <a:spcPts val="1100"/>
              </a:spcAft>
              <a:buNone/>
            </a:pPr>
            <a:r>
              <a:rPr lang="en-US" sz="1250" b="1" dirty="0">
                <a:solidFill>
                  <a:srgbClr val="F4CAB8"/>
                </a:solidFill>
                <a:latin typeface="Montserrat Bold" pitchFamily="34" charset="0"/>
                <a:ea typeface="Montserrat Bold" pitchFamily="34" charset="-122"/>
                <a:cs typeface="Montserrat Bold" pitchFamily="34" charset="-120"/>
              </a:rPr>
              <a:t>Data Modelling and Relationships:</a:t>
            </a:r>
            <a:endParaRPr lang="en-US" sz="1250" dirty="0"/>
          </a:p>
          <a:p>
            <a:pPr marL="0" indent="0" algn="l">
              <a:lnSpc>
                <a:spcPct val="132000"/>
              </a:lnSpc>
              <a:buNone/>
            </a:pPr>
            <a:r>
              <a:rPr lang="en-US" sz="1250" dirty="0">
                <a:solidFill>
                  <a:srgbClr val="F4CAB8"/>
                </a:solidFill>
                <a:latin typeface="Montserrat Medium" pitchFamily="34" charset="0"/>
                <a:ea typeface="Montserrat Medium" pitchFamily="34" charset="-122"/>
                <a:cs typeface="Montserrat Medium" pitchFamily="34" charset="-120"/>
              </a:rPr>
              <a:t>The four tables are connected using a star schema. The Orders table serves as the central fact table, while Drivers, Vehicles, and Hubs act as dimension tables connected to it via their respective keys. This architecture ensures that any filter applied on the report — such as selecting a specific hub or a date range — automatically propagates to all visuals across the page.</a:t>
            </a:r>
            <a:endParaRPr lang="en-US" sz="1250" dirty="0"/>
          </a:p>
        </p:txBody>
      </p:sp>
      <p:pic>
        <p:nvPicPr>
          <p:cNvPr id="26" name="Image 0" descr="preencoded.png"/>
          <p:cNvPicPr>
            <a:picLocks noChangeAspect="1"/>
          </p:cNvPicPr>
          <p:nvPr/>
        </p:nvPicPr>
        <p:blipFill>
          <a:blip r:embed="rId3"/>
          <a:stretch>
            <a:fillRect/>
          </a:stretch>
        </p:blipFill>
        <p:spPr>
          <a:xfrm>
            <a:off x="924276" y="6429504"/>
            <a:ext cx="5713413" cy="3557902"/>
          </a:xfrm>
          <a:prstGeom prst="rect">
            <a:avLst/>
          </a:prstGeom>
        </p:spPr>
      </p:pic>
      <p:sp>
        <p:nvSpPr>
          <p:cNvPr id="27" name="TextBox 26">
            <a:extLst>
              <a:ext uri="{FF2B5EF4-FFF2-40B4-BE49-F238E27FC236}">
                <a16:creationId xmlns:a16="http://schemas.microsoft.com/office/drawing/2014/main" id="{525A93A9-F0DB-D679-03FF-D7C91E562F97}"/>
              </a:ext>
            </a:extLst>
          </p:cNvPr>
          <p:cNvSpPr txBox="1"/>
          <p:nvPr/>
        </p:nvSpPr>
        <p:spPr>
          <a:xfrm>
            <a:off x="7103058" y="10124661"/>
            <a:ext cx="459792" cy="369332"/>
          </a:xfrm>
          <a:prstGeom prst="rect">
            <a:avLst/>
          </a:prstGeom>
          <a:noFill/>
        </p:spPr>
        <p:txBody>
          <a:bodyPr wrap="square" rtlCol="0">
            <a:spAutoFit/>
          </a:bodyPr>
          <a:lstStyle/>
          <a:p>
            <a:fld id="{9AC1AB63-F39A-4CA1-97E8-F233C191DACD}" type="slidenum">
              <a:rPr lang="en-US" smtClean="0">
                <a:solidFill>
                  <a:srgbClr val="F4CAB8"/>
                </a:solidFill>
                <a:latin typeface="Brygada 1918" pitchFamily="2" charset="0"/>
                <a:ea typeface="Brygada 1918" pitchFamily="2" charset="0"/>
              </a:rPr>
              <a:t>4</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8969" y="360566"/>
            <a:ext cx="3177394" cy="349673"/>
          </a:xfrm>
          <a:prstGeom prst="rect">
            <a:avLst/>
          </a:prstGeom>
          <a:noFill/>
          <a:ln/>
        </p:spPr>
        <p:txBody>
          <a:bodyPr wrap="none" lIns="0" tIns="0" rIns="0" bIns="0" rtlCol="0" anchor="t"/>
          <a:lstStyle/>
          <a:p>
            <a:pPr marL="0" indent="0" algn="l">
              <a:lnSpc>
                <a:spcPct val="104000"/>
              </a:lnSpc>
              <a:buNone/>
            </a:pPr>
            <a:r>
              <a:rPr lang="en-US" sz="2200" b="1" dirty="0">
                <a:solidFill>
                  <a:srgbClr val="FFB393"/>
                </a:solidFill>
                <a:latin typeface="Brygada 1918 Bold" pitchFamily="34" charset="0"/>
                <a:ea typeface="Brygada 1918 Bold" pitchFamily="34" charset="-122"/>
                <a:cs typeface="Brygada 1918 Bold" pitchFamily="34" charset="-120"/>
              </a:rPr>
              <a:t>Overview Dashboard</a:t>
            </a:r>
            <a:endParaRPr lang="en-US" sz="2200" dirty="0"/>
          </a:p>
        </p:txBody>
      </p:sp>
      <p:sp>
        <p:nvSpPr>
          <p:cNvPr id="3" name="Text 1"/>
          <p:cNvSpPr/>
          <p:nvPr/>
        </p:nvSpPr>
        <p:spPr>
          <a:xfrm>
            <a:off x="458969" y="972463"/>
            <a:ext cx="6644089" cy="2950620"/>
          </a:xfrm>
          <a:prstGeom prst="rect">
            <a:avLst/>
          </a:prstGeom>
          <a:noFill/>
          <a:ln/>
        </p:spPr>
        <p:txBody>
          <a:bodyPr wrap="square" lIns="0" tIns="0" rIns="0" bIns="0" rtlCol="0" anchor="t">
            <a:normAutofit/>
          </a:bodyPr>
          <a:lstStyle/>
          <a:p>
            <a:pPr marL="0" indent="0" algn="l">
              <a:lnSpc>
                <a:spcPct val="133000"/>
              </a:lnSpc>
              <a:spcAft>
                <a:spcPts val="1150"/>
              </a:spcAft>
              <a:buNone/>
            </a:pPr>
            <a:r>
              <a:rPr lang="en-US" sz="1250" dirty="0">
                <a:solidFill>
                  <a:srgbClr val="F4CAB8"/>
                </a:solidFill>
                <a:latin typeface="Montserrat Medium" pitchFamily="34" charset="0"/>
                <a:ea typeface="Montserrat Medium" pitchFamily="34" charset="-122"/>
                <a:cs typeface="Montserrat Medium" pitchFamily="34" charset="-120"/>
              </a:rPr>
              <a:t>Hub utilization imbalance: Gap between hub capacity and actual orders, especially in Dallas and Houston, indicating inefficient resource use.</a:t>
            </a:r>
            <a:endParaRPr lang="en-US" sz="1250" dirty="0"/>
          </a:p>
          <a:p>
            <a:pPr marL="0" indent="0" algn="l">
              <a:lnSpc>
                <a:spcPct val="133000"/>
              </a:lnSpc>
              <a:spcAft>
                <a:spcPts val="1150"/>
              </a:spcAft>
              <a:buNone/>
            </a:pPr>
            <a:r>
              <a:rPr lang="en-US" sz="1250" dirty="0">
                <a:solidFill>
                  <a:srgbClr val="F4CAB8"/>
                </a:solidFill>
                <a:latin typeface="Montserrat Medium" pitchFamily="34" charset="0"/>
                <a:ea typeface="Montserrat Medium" pitchFamily="34" charset="-122"/>
                <a:cs typeface="Montserrat Medium" pitchFamily="34" charset="-120"/>
              </a:rPr>
              <a:t>Best vs worst hub: El Paso has the highest on-time delivery rate (~81%), while Austin is the lowest (~78.7%), pointing to operational issues.</a:t>
            </a:r>
            <a:endParaRPr lang="en-US" sz="1250" dirty="0"/>
          </a:p>
          <a:p>
            <a:pPr marL="0" indent="0" algn="l">
              <a:lnSpc>
                <a:spcPct val="133000"/>
              </a:lnSpc>
              <a:spcAft>
                <a:spcPts val="1150"/>
              </a:spcAft>
              <a:buNone/>
            </a:pPr>
            <a:r>
              <a:rPr lang="en-US" sz="1250" dirty="0">
                <a:solidFill>
                  <a:srgbClr val="F4CAB8"/>
                </a:solidFill>
                <a:latin typeface="Montserrat Medium" pitchFamily="34" charset="0"/>
                <a:ea typeface="Montserrat Medium" pitchFamily="34" charset="-122"/>
                <a:cs typeface="Montserrat Medium" pitchFamily="34" charset="-120"/>
              </a:rPr>
              <a:t>Driver performance variation: A few drivers have high delay rates (~24–25%), hurting overall efficiency.</a:t>
            </a:r>
            <a:endParaRPr lang="en-US" sz="1250" dirty="0"/>
          </a:p>
          <a:p>
            <a:pPr marL="0" indent="0" algn="l">
              <a:lnSpc>
                <a:spcPct val="133000"/>
              </a:lnSpc>
              <a:spcAft>
                <a:spcPts val="1150"/>
              </a:spcAft>
              <a:buNone/>
            </a:pPr>
            <a:r>
              <a:rPr lang="en-US" sz="1250" dirty="0">
                <a:solidFill>
                  <a:srgbClr val="F4CAB8"/>
                </a:solidFill>
                <a:latin typeface="Montserrat Medium" pitchFamily="34" charset="0"/>
                <a:ea typeface="Montserrat Medium" pitchFamily="34" charset="-122"/>
                <a:cs typeface="Montserrat Medium" pitchFamily="34" charset="-120"/>
              </a:rPr>
              <a:t>Around 73.33% of vehicles are active, while 26.7% are under maintenance.</a:t>
            </a:r>
            <a:endParaRPr lang="en-US" sz="1250" dirty="0"/>
          </a:p>
          <a:p>
            <a:pPr marL="0" indent="0" algn="l">
              <a:lnSpc>
                <a:spcPct val="133000"/>
              </a:lnSpc>
              <a:buNone/>
            </a:pPr>
            <a:r>
              <a:rPr lang="en-US" sz="1250" dirty="0">
                <a:solidFill>
                  <a:srgbClr val="F4CAB8"/>
                </a:solidFill>
                <a:latin typeface="Montserrat Medium" pitchFamily="34" charset="0"/>
                <a:ea typeface="Montserrat Medium" pitchFamily="34" charset="-122"/>
                <a:cs typeface="Montserrat Medium" pitchFamily="34" charset="-120"/>
              </a:rPr>
              <a:t>This is a relatively high maintenance ratio and may affect delivery capacity and speed.</a:t>
            </a:r>
            <a:endParaRPr lang="en-US" sz="1250" dirty="0"/>
          </a:p>
        </p:txBody>
      </p:sp>
      <p:pic>
        <p:nvPicPr>
          <p:cNvPr id="4" name="Image 0" descr="preencoded.png"/>
          <p:cNvPicPr>
            <a:picLocks noChangeAspect="1"/>
          </p:cNvPicPr>
          <p:nvPr/>
        </p:nvPicPr>
        <p:blipFill>
          <a:blip r:embed="rId3"/>
          <a:stretch>
            <a:fillRect/>
          </a:stretch>
        </p:blipFill>
        <p:spPr>
          <a:xfrm>
            <a:off x="1032771" y="4070595"/>
            <a:ext cx="5496483" cy="3088163"/>
          </a:xfrm>
          <a:prstGeom prst="rect">
            <a:avLst/>
          </a:prstGeom>
        </p:spPr>
      </p:pic>
      <p:sp>
        <p:nvSpPr>
          <p:cNvPr id="5" name="Text 2"/>
          <p:cNvSpPr/>
          <p:nvPr/>
        </p:nvSpPr>
        <p:spPr>
          <a:xfrm>
            <a:off x="458969" y="7306271"/>
            <a:ext cx="7022194" cy="262286"/>
          </a:xfrm>
          <a:prstGeom prst="rect">
            <a:avLst/>
          </a:prstGeom>
          <a:noFill/>
          <a:ln/>
        </p:spPr>
        <p:txBody>
          <a:bodyPr wrap="none" lIns="0" tIns="0" rIns="0" bIns="0" rtlCol="0" anchor="t"/>
          <a:lstStyle/>
          <a:p>
            <a:pPr marL="0" indent="0" algn="l">
              <a:lnSpc>
                <a:spcPct val="133000"/>
              </a:lnSpc>
              <a:buNone/>
            </a:pPr>
            <a:r>
              <a:rPr lang="en-US" sz="1250" dirty="0">
                <a:solidFill>
                  <a:srgbClr val="F4CAB8"/>
                </a:solidFill>
                <a:latin typeface="Montserrat Medium" pitchFamily="34" charset="0"/>
                <a:ea typeface="Montserrat Medium" pitchFamily="34" charset="-122"/>
                <a:cs typeface="Montserrat Medium" pitchFamily="34" charset="-120"/>
              </a:rPr>
              <a:t>Network-Wide Performance Metrics</a:t>
            </a:r>
            <a:endParaRPr lang="en-US" sz="1250" dirty="0"/>
          </a:p>
        </p:txBody>
      </p:sp>
      <p:sp>
        <p:nvSpPr>
          <p:cNvPr id="6" name="Shape 3"/>
          <p:cNvSpPr/>
          <p:nvPr/>
        </p:nvSpPr>
        <p:spPr>
          <a:xfrm>
            <a:off x="458969" y="7716069"/>
            <a:ext cx="2127268" cy="1993173"/>
          </a:xfrm>
          <a:prstGeom prst="roundRect">
            <a:avLst>
              <a:gd name="adj" fmla="val 987"/>
            </a:avLst>
          </a:prstGeom>
          <a:solidFill>
            <a:srgbClr val="4D1529"/>
          </a:solidFill>
          <a:ln/>
        </p:spPr>
        <p:txBody>
          <a:bodyPr/>
          <a:lstStyle/>
          <a:p>
            <a:endParaRPr lang="en-US"/>
          </a:p>
        </p:txBody>
      </p:sp>
      <p:sp>
        <p:nvSpPr>
          <p:cNvPr id="7" name="Text 4"/>
          <p:cNvSpPr/>
          <p:nvPr/>
        </p:nvSpPr>
        <p:spPr>
          <a:xfrm>
            <a:off x="590050" y="7847150"/>
            <a:ext cx="1865106" cy="1731011"/>
          </a:xfrm>
          <a:prstGeom prst="rect">
            <a:avLst/>
          </a:prstGeom>
          <a:noFill/>
          <a:ln/>
        </p:spPr>
        <p:txBody>
          <a:bodyPr wrap="square" lIns="0" tIns="0" rIns="0" bIns="0" rtlCol="0" anchor="t">
            <a:normAutofit/>
          </a:bodyPr>
          <a:lstStyle/>
          <a:p>
            <a:pPr marL="0" indent="0" algn="l">
              <a:lnSpc>
                <a:spcPct val="133000"/>
              </a:lnSpc>
              <a:spcAft>
                <a:spcPts val="600"/>
              </a:spcAft>
              <a:buNone/>
            </a:pPr>
            <a:r>
              <a:rPr lang="en-US" sz="1250" dirty="0">
                <a:solidFill>
                  <a:srgbClr val="F4CAB8"/>
                </a:solidFill>
                <a:latin typeface="Montserrat Medium" pitchFamily="34" charset="0"/>
                <a:ea typeface="Montserrat Medium" pitchFamily="34" charset="-122"/>
                <a:cs typeface="Montserrat Medium" pitchFamily="34" charset="-120"/>
              </a:rPr>
              <a:t>On-Time Delivery Rate</a:t>
            </a:r>
            <a:endParaRPr lang="en-US" sz="1250" dirty="0"/>
          </a:p>
          <a:p>
            <a:pPr marL="0" indent="0" algn="l">
              <a:lnSpc>
                <a:spcPct val="133000"/>
              </a:lnSpc>
              <a:buNone/>
            </a:pPr>
            <a:r>
              <a:rPr lang="en-US" sz="1250" b="1" dirty="0">
                <a:solidFill>
                  <a:srgbClr val="F4CAB8"/>
                </a:solidFill>
                <a:latin typeface="Montserrat Bold" pitchFamily="34" charset="0"/>
                <a:ea typeface="Montserrat Bold" pitchFamily="34" charset="-122"/>
                <a:cs typeface="Montserrat Bold" pitchFamily="34" charset="-120"/>
              </a:rPr>
              <a:t>79.6%</a:t>
            </a:r>
            <a:r>
              <a:rPr lang="en-US" sz="1250" dirty="0">
                <a:solidFill>
                  <a:srgbClr val="F4CAB8"/>
                </a:solidFill>
                <a:latin typeface="Montserrat Medium" pitchFamily="34" charset="0"/>
                <a:ea typeface="Montserrat Medium" pitchFamily="34" charset="-122"/>
                <a:cs typeface="Montserrat Medium" pitchFamily="34" charset="-120"/>
              </a:rPr>
              <a:t> network-wide OTD</a:t>
            </a:r>
            <a:endParaRPr lang="en-US" sz="1250" dirty="0"/>
          </a:p>
          <a:p>
            <a:pPr marL="0" indent="0" algn="l">
              <a:lnSpc>
                <a:spcPct val="133000"/>
              </a:lnSpc>
              <a:buNone/>
            </a:pPr>
            <a:r>
              <a:rPr lang="en-US" sz="1250" dirty="0">
                <a:solidFill>
                  <a:srgbClr val="F4CAB8"/>
                </a:solidFill>
                <a:latin typeface="Montserrat Medium" pitchFamily="34" charset="0"/>
                <a:ea typeface="Montserrat Medium" pitchFamily="34" charset="-122"/>
                <a:cs typeface="Montserrat Medium" pitchFamily="34" charset="-120"/>
              </a:rPr>
              <a:t>Approximately 1 in 5 orders delayed</a:t>
            </a:r>
            <a:endParaRPr lang="en-US" sz="1250" dirty="0"/>
          </a:p>
        </p:txBody>
      </p:sp>
      <p:sp>
        <p:nvSpPr>
          <p:cNvPr id="8" name="Shape 5"/>
          <p:cNvSpPr/>
          <p:nvPr/>
        </p:nvSpPr>
        <p:spPr>
          <a:xfrm>
            <a:off x="2717318" y="7716069"/>
            <a:ext cx="2127330" cy="1993173"/>
          </a:xfrm>
          <a:prstGeom prst="roundRect">
            <a:avLst>
              <a:gd name="adj" fmla="val 987"/>
            </a:avLst>
          </a:prstGeom>
          <a:solidFill>
            <a:srgbClr val="4D1529"/>
          </a:solidFill>
          <a:ln/>
        </p:spPr>
        <p:txBody>
          <a:bodyPr/>
          <a:lstStyle/>
          <a:p>
            <a:endParaRPr lang="en-US"/>
          </a:p>
        </p:txBody>
      </p:sp>
      <p:sp>
        <p:nvSpPr>
          <p:cNvPr id="9" name="Text 6"/>
          <p:cNvSpPr/>
          <p:nvPr/>
        </p:nvSpPr>
        <p:spPr>
          <a:xfrm>
            <a:off x="2848399" y="7847150"/>
            <a:ext cx="1865167" cy="1468725"/>
          </a:xfrm>
          <a:prstGeom prst="rect">
            <a:avLst/>
          </a:prstGeom>
          <a:noFill/>
          <a:ln/>
        </p:spPr>
        <p:txBody>
          <a:bodyPr wrap="square" lIns="0" tIns="0" rIns="0" bIns="0" rtlCol="0" anchor="t"/>
          <a:lstStyle/>
          <a:p>
            <a:pPr marL="0" indent="0" algn="l">
              <a:lnSpc>
                <a:spcPct val="133000"/>
              </a:lnSpc>
              <a:spcAft>
                <a:spcPts val="600"/>
              </a:spcAft>
              <a:buNone/>
            </a:pPr>
            <a:r>
              <a:rPr lang="en-US" sz="1250" dirty="0">
                <a:solidFill>
                  <a:srgbClr val="F4CAB8"/>
                </a:solidFill>
                <a:latin typeface="Montserrat Medium" pitchFamily="34" charset="0"/>
                <a:ea typeface="Montserrat Medium" pitchFamily="34" charset="-122"/>
                <a:cs typeface="Montserrat Medium" pitchFamily="34" charset="-120"/>
              </a:rPr>
              <a:t>Average Delivery Time</a:t>
            </a:r>
            <a:endParaRPr lang="en-US" sz="1250" dirty="0"/>
          </a:p>
          <a:p>
            <a:pPr marL="0" indent="0" algn="l">
              <a:lnSpc>
                <a:spcPct val="133000"/>
              </a:lnSpc>
              <a:buNone/>
            </a:pPr>
            <a:r>
              <a:rPr lang="en-US" sz="1250" b="1" dirty="0">
                <a:solidFill>
                  <a:srgbClr val="F4CAB8"/>
                </a:solidFill>
                <a:latin typeface="Montserrat Bold" pitchFamily="34" charset="0"/>
                <a:ea typeface="Montserrat Bold" pitchFamily="34" charset="-122"/>
                <a:cs typeface="Montserrat Bold" pitchFamily="34" charset="-120"/>
              </a:rPr>
              <a:t>35.73 hours</a:t>
            </a:r>
            <a:r>
              <a:rPr lang="en-US" sz="1250" dirty="0">
                <a:solidFill>
                  <a:srgbClr val="F4CAB8"/>
                </a:solidFill>
                <a:latin typeface="Montserrat Medium" pitchFamily="34" charset="0"/>
                <a:ea typeface="Montserrat Medium" pitchFamily="34" charset="-122"/>
                <a:cs typeface="Montserrat Medium" pitchFamily="34" charset="-120"/>
              </a:rPr>
              <a:t> from order to delivery</a:t>
            </a:r>
            <a:endParaRPr lang="en-US" sz="1250" dirty="0"/>
          </a:p>
          <a:p>
            <a:pPr marL="0" indent="0" algn="l">
              <a:lnSpc>
                <a:spcPct val="133000"/>
              </a:lnSpc>
              <a:buNone/>
            </a:pPr>
            <a:r>
              <a:rPr lang="en-US" sz="1250" dirty="0">
                <a:solidFill>
                  <a:srgbClr val="F4CAB8"/>
                </a:solidFill>
                <a:latin typeface="Montserrat Medium" pitchFamily="34" charset="0"/>
                <a:ea typeface="Montserrat Medium" pitchFamily="34" charset="-122"/>
                <a:cs typeface="Montserrat Medium" pitchFamily="34" charset="-120"/>
              </a:rPr>
              <a:t>On-time: 35.59 hrs | Delayed: 42.48 hrs</a:t>
            </a:r>
            <a:endParaRPr lang="en-US" sz="1250" dirty="0"/>
          </a:p>
        </p:txBody>
      </p:sp>
      <p:sp>
        <p:nvSpPr>
          <p:cNvPr id="10" name="Shape 7"/>
          <p:cNvSpPr/>
          <p:nvPr/>
        </p:nvSpPr>
        <p:spPr>
          <a:xfrm>
            <a:off x="4975728" y="7716069"/>
            <a:ext cx="2127330" cy="1993173"/>
          </a:xfrm>
          <a:prstGeom prst="roundRect">
            <a:avLst>
              <a:gd name="adj" fmla="val 987"/>
            </a:avLst>
          </a:prstGeom>
          <a:solidFill>
            <a:srgbClr val="4D1529"/>
          </a:solidFill>
          <a:ln/>
        </p:spPr>
        <p:txBody>
          <a:bodyPr/>
          <a:lstStyle/>
          <a:p>
            <a:endParaRPr lang="en-US"/>
          </a:p>
        </p:txBody>
      </p:sp>
      <p:sp>
        <p:nvSpPr>
          <p:cNvPr id="11" name="Text 8"/>
          <p:cNvSpPr/>
          <p:nvPr/>
        </p:nvSpPr>
        <p:spPr>
          <a:xfrm>
            <a:off x="5106809" y="7847150"/>
            <a:ext cx="1865167" cy="1206440"/>
          </a:xfrm>
          <a:prstGeom prst="rect">
            <a:avLst/>
          </a:prstGeom>
          <a:noFill/>
          <a:ln/>
        </p:spPr>
        <p:txBody>
          <a:bodyPr wrap="square" lIns="0" tIns="0" rIns="0" bIns="0" rtlCol="0" anchor="t"/>
          <a:lstStyle/>
          <a:p>
            <a:pPr marL="0" indent="0" algn="l">
              <a:lnSpc>
                <a:spcPct val="133000"/>
              </a:lnSpc>
              <a:spcAft>
                <a:spcPts val="600"/>
              </a:spcAft>
              <a:buNone/>
            </a:pPr>
            <a:r>
              <a:rPr lang="en-US" sz="1250" dirty="0">
                <a:solidFill>
                  <a:srgbClr val="F4CAB8"/>
                </a:solidFill>
                <a:latin typeface="Montserrat Medium" pitchFamily="34" charset="0"/>
                <a:ea typeface="Montserrat Medium" pitchFamily="34" charset="-122"/>
                <a:cs typeface="Montserrat Medium" pitchFamily="34" charset="-120"/>
              </a:rPr>
              <a:t>Customer Satisfaction</a:t>
            </a:r>
            <a:endParaRPr lang="en-US" sz="1250" dirty="0"/>
          </a:p>
          <a:p>
            <a:pPr marL="0" indent="0" algn="l">
              <a:lnSpc>
                <a:spcPct val="133000"/>
              </a:lnSpc>
              <a:buNone/>
            </a:pPr>
            <a:r>
              <a:rPr lang="en-US" sz="1250" b="1" dirty="0">
                <a:solidFill>
                  <a:srgbClr val="F4CAB8"/>
                </a:solidFill>
                <a:latin typeface="Montserrat Bold" pitchFamily="34" charset="0"/>
                <a:ea typeface="Montserrat Bold" pitchFamily="34" charset="-122"/>
                <a:cs typeface="Montserrat Bold" pitchFamily="34" charset="-120"/>
              </a:rPr>
              <a:t>4.17/5</a:t>
            </a:r>
            <a:r>
              <a:rPr lang="en-US" sz="1250" dirty="0">
                <a:solidFill>
                  <a:srgbClr val="F4CAB8"/>
                </a:solidFill>
                <a:latin typeface="Montserrat Medium" pitchFamily="34" charset="0"/>
                <a:ea typeface="Montserrat Medium" pitchFamily="34" charset="-122"/>
                <a:cs typeface="Montserrat Medium" pitchFamily="34" charset="-120"/>
              </a:rPr>
              <a:t> average score</a:t>
            </a:r>
            <a:endParaRPr lang="en-US" sz="1250" dirty="0"/>
          </a:p>
          <a:p>
            <a:pPr marL="0" indent="0" algn="l">
              <a:lnSpc>
                <a:spcPct val="133000"/>
              </a:lnSpc>
              <a:buNone/>
            </a:pPr>
            <a:r>
              <a:rPr lang="en-US" sz="1250" dirty="0">
                <a:solidFill>
                  <a:srgbClr val="F4CAB8"/>
                </a:solidFill>
                <a:latin typeface="Montserrat Medium" pitchFamily="34" charset="0"/>
                <a:ea typeface="Montserrat Medium" pitchFamily="34" charset="-122"/>
                <a:cs typeface="Montserrat Medium" pitchFamily="34" charset="-120"/>
              </a:rPr>
              <a:t>84.4% of orders rated 4 or 5</a:t>
            </a:r>
            <a:endParaRPr lang="en-US" sz="1250" dirty="0"/>
          </a:p>
        </p:txBody>
      </p:sp>
      <p:sp>
        <p:nvSpPr>
          <p:cNvPr id="12" name="TextBox 11">
            <a:extLst>
              <a:ext uri="{FF2B5EF4-FFF2-40B4-BE49-F238E27FC236}">
                <a16:creationId xmlns:a16="http://schemas.microsoft.com/office/drawing/2014/main" id="{5C9132AE-DC30-E611-16B2-C48A90B7A198}"/>
              </a:ext>
            </a:extLst>
          </p:cNvPr>
          <p:cNvSpPr txBox="1"/>
          <p:nvPr/>
        </p:nvSpPr>
        <p:spPr>
          <a:xfrm>
            <a:off x="7103058" y="10059264"/>
            <a:ext cx="442722" cy="369332"/>
          </a:xfrm>
          <a:prstGeom prst="rect">
            <a:avLst/>
          </a:prstGeom>
          <a:noFill/>
        </p:spPr>
        <p:txBody>
          <a:bodyPr wrap="square" rtlCol="0">
            <a:spAutoFit/>
          </a:bodyPr>
          <a:lstStyle/>
          <a:p>
            <a:fld id="{48E3954D-3876-4781-ADB8-3B08A70EE114}" type="slidenum">
              <a:rPr lang="en-US" smtClean="0">
                <a:solidFill>
                  <a:srgbClr val="F4CAB8"/>
                </a:solidFill>
                <a:latin typeface="Brygada 1918" pitchFamily="2" charset="0"/>
                <a:ea typeface="Brygada 1918" pitchFamily="2" charset="0"/>
              </a:rPr>
              <a:t>5</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8969" y="360566"/>
            <a:ext cx="3937603" cy="349673"/>
          </a:xfrm>
          <a:prstGeom prst="rect">
            <a:avLst/>
          </a:prstGeom>
          <a:noFill/>
          <a:ln/>
        </p:spPr>
        <p:txBody>
          <a:bodyPr wrap="none" lIns="0" tIns="0" rIns="0" bIns="0" rtlCol="0" anchor="t"/>
          <a:lstStyle/>
          <a:p>
            <a:pPr marL="0" indent="0" algn="l">
              <a:lnSpc>
                <a:spcPct val="104000"/>
              </a:lnSpc>
              <a:buNone/>
            </a:pPr>
            <a:r>
              <a:rPr lang="en-US" sz="2200" b="1" dirty="0">
                <a:solidFill>
                  <a:srgbClr val="FFB393"/>
                </a:solidFill>
                <a:latin typeface="Brygada 1918 Bold" pitchFamily="34" charset="0"/>
                <a:ea typeface="Brygada 1918 Bold" pitchFamily="34" charset="-122"/>
                <a:cs typeface="Brygada 1918 Bold" pitchFamily="34" charset="-120"/>
              </a:rPr>
              <a:t>Hub Performance Analysis</a:t>
            </a:r>
            <a:endParaRPr lang="en-US" sz="2200" dirty="0"/>
          </a:p>
        </p:txBody>
      </p:sp>
      <p:sp>
        <p:nvSpPr>
          <p:cNvPr id="3" name="Text 1"/>
          <p:cNvSpPr/>
          <p:nvPr/>
        </p:nvSpPr>
        <p:spPr>
          <a:xfrm>
            <a:off x="458969" y="972463"/>
            <a:ext cx="6644089" cy="1311428"/>
          </a:xfrm>
          <a:prstGeom prst="rect">
            <a:avLst/>
          </a:prstGeom>
          <a:noFill/>
          <a:ln/>
        </p:spPr>
        <p:txBody>
          <a:bodyPr wrap="square" lIns="0" tIns="0" rIns="0" bIns="0" rtlCol="0" anchor="t">
            <a:normAutofit/>
          </a:bodyPr>
          <a:lstStyle/>
          <a:p>
            <a:pPr marL="0" indent="0" algn="l">
              <a:lnSpc>
                <a:spcPct val="133000"/>
              </a:lnSpc>
              <a:buNone/>
            </a:pPr>
            <a:r>
              <a:rPr lang="en-US" sz="1250" b="1" dirty="0">
                <a:solidFill>
                  <a:srgbClr val="F4CAB8"/>
                </a:solidFill>
                <a:latin typeface="Montserrat Bold" pitchFamily="34" charset="0"/>
                <a:ea typeface="Montserrat Bold" pitchFamily="34" charset="-122"/>
                <a:cs typeface="Montserrat Bold" pitchFamily="34" charset="-120"/>
              </a:rPr>
              <a:t>How to read it: </a:t>
            </a:r>
            <a:r>
              <a:rPr lang="en-US" sz="1250" dirty="0">
                <a:solidFill>
                  <a:srgbClr val="F4CAB8"/>
                </a:solidFill>
                <a:latin typeface="Montserrat Medium" pitchFamily="34" charset="0"/>
                <a:ea typeface="Montserrat Medium" pitchFamily="34" charset="-122"/>
                <a:cs typeface="Montserrat Medium" pitchFamily="34" charset="-120"/>
              </a:rPr>
              <a:t>Start with the bar chart to see which hub has the highest absolute delay count. Move to the scatter to understand whether that hub's delays correlate with longer processing times. Use the matrix to identify which day of the week creates the worst bottleneck. The line chart at the bottom shows whether hub performance is improving or declining over time.</a:t>
            </a:r>
            <a:endParaRPr lang="en-US" sz="1250" dirty="0"/>
          </a:p>
        </p:txBody>
      </p:sp>
      <p:pic>
        <p:nvPicPr>
          <p:cNvPr id="4" name="Image 0" descr="preencoded.png"/>
          <p:cNvPicPr>
            <a:picLocks noChangeAspect="1"/>
          </p:cNvPicPr>
          <p:nvPr/>
        </p:nvPicPr>
        <p:blipFill>
          <a:blip r:embed="rId3"/>
          <a:stretch>
            <a:fillRect/>
          </a:stretch>
        </p:blipFill>
        <p:spPr>
          <a:xfrm>
            <a:off x="1053018" y="2431403"/>
            <a:ext cx="5455928" cy="3088163"/>
          </a:xfrm>
          <a:prstGeom prst="rect">
            <a:avLst/>
          </a:prstGeom>
        </p:spPr>
      </p:pic>
      <p:sp>
        <p:nvSpPr>
          <p:cNvPr id="5" name="Text 2"/>
          <p:cNvSpPr/>
          <p:nvPr/>
        </p:nvSpPr>
        <p:spPr>
          <a:xfrm>
            <a:off x="458969" y="5667079"/>
            <a:ext cx="6644089" cy="1049142"/>
          </a:xfrm>
          <a:prstGeom prst="rect">
            <a:avLst/>
          </a:prstGeom>
          <a:noFill/>
          <a:ln/>
        </p:spPr>
        <p:txBody>
          <a:bodyPr wrap="square" lIns="0" tIns="0" rIns="0" bIns="0" rtlCol="0" anchor="t">
            <a:normAutofit/>
          </a:bodyPr>
          <a:lstStyle/>
          <a:p>
            <a:pPr marL="0" indent="0" algn="l">
              <a:lnSpc>
                <a:spcPct val="133000"/>
              </a:lnSpc>
              <a:buNone/>
            </a:pPr>
            <a:r>
              <a:rPr lang="en-US" sz="1250" dirty="0">
                <a:solidFill>
                  <a:srgbClr val="F4CAB8"/>
                </a:solidFill>
                <a:latin typeface="Montserrat Medium" pitchFamily="34" charset="0"/>
                <a:ea typeface="Montserrat Medium" pitchFamily="34" charset="-122"/>
                <a:cs typeface="Montserrat Medium" pitchFamily="34" charset="-120"/>
              </a:rPr>
              <a:t> </a:t>
            </a:r>
            <a:r>
              <a:rPr lang="en-US" sz="1250" b="1" dirty="0">
                <a:solidFill>
                  <a:srgbClr val="F4CAB8"/>
                </a:solidFill>
                <a:latin typeface="Montserrat Bold" pitchFamily="34" charset="0"/>
                <a:ea typeface="Montserrat Bold" pitchFamily="34" charset="-122"/>
                <a:cs typeface="Montserrat Bold" pitchFamily="34" charset="-120"/>
              </a:rPr>
              <a:t>Why it matters: </a:t>
            </a:r>
            <a:r>
              <a:rPr lang="en-US" sz="1250" dirty="0">
                <a:solidFill>
                  <a:srgbClr val="F4CAB8"/>
                </a:solidFill>
                <a:latin typeface="Montserrat Medium" pitchFamily="34" charset="0"/>
                <a:ea typeface="Montserrat Medium" pitchFamily="34" charset="-122"/>
                <a:cs typeface="Montserrat Medium" pitchFamily="34" charset="-120"/>
              </a:rPr>
              <a:t>Hub-level delay data often reveals that individual driver delay counts are partially determined by the hub they are assigned to. Before attributing high delay counts to a driver, check whether other drivers at the same hub show similar patterns.</a:t>
            </a:r>
            <a:endParaRPr lang="en-US" sz="1250" dirty="0"/>
          </a:p>
        </p:txBody>
      </p:sp>
      <p:sp>
        <p:nvSpPr>
          <p:cNvPr id="6" name="Shape 3"/>
          <p:cNvSpPr/>
          <p:nvPr/>
        </p:nvSpPr>
        <p:spPr>
          <a:xfrm>
            <a:off x="458969" y="6863733"/>
            <a:ext cx="6644089" cy="1363676"/>
          </a:xfrm>
          <a:prstGeom prst="roundRect">
            <a:avLst>
              <a:gd name="adj" fmla="val 1442"/>
            </a:avLst>
          </a:prstGeom>
          <a:solidFill>
            <a:srgbClr val="F4CAB8"/>
          </a:solidFill>
          <a:ln/>
        </p:spPr>
        <p:txBody>
          <a:bodyPr/>
          <a:lstStyle/>
          <a:p>
            <a:endParaRPr lang="en-US"/>
          </a:p>
        </p:txBody>
      </p:sp>
      <p:pic>
        <p:nvPicPr>
          <p:cNvPr id="7" name="Image 1" descr="preencoded.png"/>
          <p:cNvPicPr>
            <a:picLocks noChangeAspect="1"/>
          </p:cNvPicPr>
          <p:nvPr/>
        </p:nvPicPr>
        <p:blipFill>
          <a:blip r:embed="rId4"/>
          <a:stretch>
            <a:fillRect/>
          </a:stretch>
        </p:blipFill>
        <p:spPr>
          <a:xfrm>
            <a:off x="590050" y="7073156"/>
            <a:ext cx="204868" cy="163882"/>
          </a:xfrm>
          <a:prstGeom prst="rect">
            <a:avLst/>
          </a:prstGeom>
        </p:spPr>
      </p:pic>
      <p:sp>
        <p:nvSpPr>
          <p:cNvPr id="8" name="Text 4"/>
          <p:cNvSpPr/>
          <p:nvPr/>
        </p:nvSpPr>
        <p:spPr>
          <a:xfrm>
            <a:off x="925999" y="7027554"/>
            <a:ext cx="6045978" cy="1049142"/>
          </a:xfrm>
          <a:prstGeom prst="rect">
            <a:avLst/>
          </a:prstGeom>
          <a:noFill/>
          <a:ln/>
        </p:spPr>
        <p:txBody>
          <a:bodyPr wrap="square" lIns="0" tIns="0" rIns="0" bIns="0" rtlCol="0" anchor="t">
            <a:normAutofit/>
          </a:bodyPr>
          <a:lstStyle/>
          <a:p>
            <a:pPr marL="0" indent="0" algn="l">
              <a:lnSpc>
                <a:spcPct val="133000"/>
              </a:lnSpc>
              <a:buNone/>
            </a:pPr>
            <a:r>
              <a:rPr lang="en-US" sz="1250" b="1" dirty="0">
                <a:solidFill>
                  <a:srgbClr val="000000"/>
                </a:solidFill>
                <a:latin typeface="Montserrat Bold" pitchFamily="34" charset="0"/>
                <a:ea typeface="Montserrat Bold" pitchFamily="34" charset="-122"/>
                <a:cs typeface="Montserrat Bold" pitchFamily="34" charset="-120"/>
              </a:rPr>
              <a:t>Key Finding:</a:t>
            </a:r>
            <a:r>
              <a:rPr lang="en-US" sz="1250" dirty="0">
                <a:solidFill>
                  <a:srgbClr val="000000"/>
                </a:solidFill>
                <a:latin typeface="Montserrat Medium" pitchFamily="34" charset="0"/>
                <a:ea typeface="Montserrat Medium" pitchFamily="34" charset="-122"/>
                <a:cs typeface="Montserrat Medium" pitchFamily="34" charset="-120"/>
              </a:rPr>
              <a:t> Hub processing time matrix reveals Mondays show consistently longer processing times at El Paso Hub (37 hours) compared to network's typical 35-36 hours, signaling mid-week capacity constraint.</a:t>
            </a:r>
            <a:endParaRPr lang="en-US" sz="1250" dirty="0"/>
          </a:p>
        </p:txBody>
      </p:sp>
      <p:sp>
        <p:nvSpPr>
          <p:cNvPr id="9" name="TextBox 8">
            <a:extLst>
              <a:ext uri="{FF2B5EF4-FFF2-40B4-BE49-F238E27FC236}">
                <a16:creationId xmlns:a16="http://schemas.microsoft.com/office/drawing/2014/main" id="{926E1938-15A3-6AAA-3172-29AC47C67E50}"/>
              </a:ext>
            </a:extLst>
          </p:cNvPr>
          <p:cNvSpPr txBox="1"/>
          <p:nvPr/>
        </p:nvSpPr>
        <p:spPr>
          <a:xfrm>
            <a:off x="7100356" y="10086544"/>
            <a:ext cx="462494" cy="369332"/>
          </a:xfrm>
          <a:prstGeom prst="rect">
            <a:avLst/>
          </a:prstGeom>
          <a:noFill/>
        </p:spPr>
        <p:txBody>
          <a:bodyPr wrap="square" rtlCol="0">
            <a:spAutoFit/>
          </a:bodyPr>
          <a:lstStyle/>
          <a:p>
            <a:fld id="{621B86FD-53B6-4BD0-A98D-D438F291BFF0}" type="slidenum">
              <a:rPr lang="en-US" smtClean="0">
                <a:solidFill>
                  <a:srgbClr val="F4CAB8"/>
                </a:solidFill>
                <a:latin typeface="Brygada 1918" pitchFamily="2" charset="0"/>
                <a:ea typeface="Brygada 1918" pitchFamily="2" charset="0"/>
              </a:rPr>
              <a:t>6</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8969" y="619959"/>
            <a:ext cx="2476202"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Vehicles Overview </a:t>
            </a:r>
            <a:endParaRPr lang="en-US" sz="1650" dirty="0"/>
          </a:p>
        </p:txBody>
      </p:sp>
      <p:sp>
        <p:nvSpPr>
          <p:cNvPr id="3" name="Text 1"/>
          <p:cNvSpPr/>
          <p:nvPr/>
        </p:nvSpPr>
        <p:spPr>
          <a:xfrm>
            <a:off x="458969" y="1144407"/>
            <a:ext cx="6644089" cy="2543961"/>
          </a:xfrm>
          <a:prstGeom prst="rect">
            <a:avLst/>
          </a:prstGeom>
          <a:noFill/>
          <a:ln/>
        </p:spPr>
        <p:txBody>
          <a:bodyPr wrap="square" lIns="0" tIns="0" rIns="0" bIns="0" rtlCol="0" anchor="t">
            <a:normAutofit/>
          </a:bodyPr>
          <a:lstStyle/>
          <a:p>
            <a:pPr marL="203200" indent="-203200" algn="l">
              <a:lnSpc>
                <a:spcPct val="133000"/>
              </a:lnSpc>
              <a:buSzPct val="100000"/>
              <a:buChar char="•"/>
            </a:pPr>
            <a:r>
              <a:rPr lang="en-US" sz="1000" dirty="0">
                <a:solidFill>
                  <a:srgbClr val="F4CAB8"/>
                </a:solidFill>
                <a:latin typeface="Montserrat Medium" pitchFamily="34" charset="0"/>
                <a:ea typeface="Montserrat Medium" pitchFamily="34" charset="-122"/>
                <a:cs typeface="Montserrat Medium" pitchFamily="34" charset="-120"/>
              </a:rPr>
              <a:t>The fleet consists of </a:t>
            </a:r>
            <a:r>
              <a:rPr lang="en-US" sz="1000" b="1" dirty="0">
                <a:solidFill>
                  <a:srgbClr val="F4CAB8"/>
                </a:solidFill>
                <a:latin typeface="Montserrat Bold" pitchFamily="34" charset="0"/>
                <a:ea typeface="Montserrat Bold" pitchFamily="34" charset="-122"/>
                <a:cs typeface="Montserrat Bold" pitchFamily="34" charset="-120"/>
              </a:rPr>
              <a:t>45 vehicles across 9 models</a:t>
            </a:r>
            <a:r>
              <a:rPr lang="en-US" sz="1000" dirty="0">
                <a:solidFill>
                  <a:srgbClr val="F4CAB8"/>
                </a:solidFill>
                <a:latin typeface="Montserrat Medium" pitchFamily="34" charset="0"/>
                <a:ea typeface="Montserrat Medium" pitchFamily="34" charset="-122"/>
                <a:cs typeface="Montserrat Medium" pitchFamily="34" charset="-120"/>
              </a:rPr>
              <a:t>, providing operational flexibility.</a:t>
            </a:r>
            <a:endParaRPr lang="en-US" sz="1000" dirty="0"/>
          </a:p>
          <a:p>
            <a:pPr marL="203200" indent="-203200" algn="l">
              <a:lnSpc>
                <a:spcPct val="133000"/>
              </a:lnSpc>
              <a:buSzPct val="100000"/>
              <a:buChar char="•"/>
            </a:pPr>
            <a:r>
              <a:rPr lang="en-US" sz="1000" b="1" dirty="0">
                <a:solidFill>
                  <a:srgbClr val="F4CAB8"/>
                </a:solidFill>
                <a:latin typeface="Montserrat Bold" pitchFamily="34" charset="0"/>
                <a:ea typeface="Montserrat Bold" pitchFamily="34" charset="-122"/>
                <a:cs typeface="Montserrat Bold" pitchFamily="34" charset="-120"/>
              </a:rPr>
              <a:t>26.7% of vehicles are under maintenance</a:t>
            </a:r>
            <a:r>
              <a:rPr lang="en-US" sz="1000" dirty="0">
                <a:solidFill>
                  <a:srgbClr val="F4CAB8"/>
                </a:solidFill>
                <a:latin typeface="Montserrat Medium" pitchFamily="34" charset="0"/>
                <a:ea typeface="Montserrat Medium" pitchFamily="34" charset="-122"/>
                <a:cs typeface="Montserrat Medium" pitchFamily="34" charset="-120"/>
              </a:rPr>
              <a:t>, reducing available fleet capacity.</a:t>
            </a:r>
            <a:endParaRPr lang="en-US" sz="1000" dirty="0"/>
          </a:p>
          <a:p>
            <a:pPr marL="203200" indent="-203200" algn="l">
              <a:lnSpc>
                <a:spcPct val="133000"/>
              </a:lnSpc>
              <a:buSzPct val="100000"/>
              <a:buChar char="•"/>
            </a:pPr>
            <a:r>
              <a:rPr lang="en-US" sz="1000" b="1" dirty="0">
                <a:solidFill>
                  <a:srgbClr val="F4CAB8"/>
                </a:solidFill>
                <a:latin typeface="Montserrat Bold" pitchFamily="34" charset="0"/>
                <a:ea typeface="Montserrat Bold" pitchFamily="34" charset="-122"/>
                <a:cs typeface="Montserrat Bold" pitchFamily="34" charset="-120"/>
              </a:rPr>
              <a:t>Vans record the highest delayed order volume</a:t>
            </a:r>
            <a:r>
              <a:rPr lang="en-US" sz="1000" dirty="0">
                <a:solidFill>
                  <a:srgbClr val="F4CAB8"/>
                </a:solidFill>
                <a:latin typeface="Montserrat Medium" pitchFamily="34" charset="0"/>
                <a:ea typeface="Montserrat Medium" pitchFamily="34" charset="-122"/>
                <a:cs typeface="Montserrat Medium" pitchFamily="34" charset="-120"/>
              </a:rPr>
              <a:t>, suggesting heavier operational demand.</a:t>
            </a:r>
            <a:endParaRPr lang="en-US" sz="1000" dirty="0"/>
          </a:p>
          <a:p>
            <a:pPr marL="203200" indent="-203200" algn="l">
              <a:lnSpc>
                <a:spcPct val="133000"/>
              </a:lnSpc>
              <a:buSzPct val="100000"/>
              <a:buChar char="•"/>
            </a:pPr>
            <a:r>
              <a:rPr lang="en-US" sz="1000" dirty="0">
                <a:solidFill>
                  <a:srgbClr val="F4CAB8"/>
                </a:solidFill>
                <a:latin typeface="Montserrat Medium" pitchFamily="34" charset="0"/>
                <a:ea typeface="Montserrat Medium" pitchFamily="34" charset="-122"/>
                <a:cs typeface="Montserrat Medium" pitchFamily="34" charset="-120"/>
              </a:rPr>
              <a:t>Breakdown rates vary by vehicle model, with </a:t>
            </a:r>
            <a:r>
              <a:rPr lang="en-US" sz="1000" b="1" dirty="0">
                <a:solidFill>
                  <a:srgbClr val="F4CAB8"/>
                </a:solidFill>
                <a:latin typeface="Montserrat Bold" pitchFamily="34" charset="0"/>
                <a:ea typeface="Montserrat Bold" pitchFamily="34" charset="-122"/>
                <a:cs typeface="Montserrat Bold" pitchFamily="34" charset="-120"/>
              </a:rPr>
              <a:t>Freightliner M2</a:t>
            </a:r>
            <a:r>
              <a:rPr lang="en-US" sz="1000" dirty="0">
                <a:solidFill>
                  <a:srgbClr val="F4CAB8"/>
                </a:solidFill>
                <a:latin typeface="Montserrat Medium" pitchFamily="34" charset="0"/>
                <a:ea typeface="Montserrat Medium" pitchFamily="34" charset="-122"/>
                <a:cs typeface="Montserrat Medium" pitchFamily="34" charset="-120"/>
              </a:rPr>
              <a:t> and </a:t>
            </a:r>
            <a:r>
              <a:rPr lang="en-US" sz="1000" b="1" dirty="0">
                <a:solidFill>
                  <a:srgbClr val="F4CAB8"/>
                </a:solidFill>
                <a:latin typeface="Montserrat Bold" pitchFamily="34" charset="0"/>
                <a:ea typeface="Montserrat Bold" pitchFamily="34" charset="-122"/>
                <a:cs typeface="Montserrat Bold" pitchFamily="34" charset="-120"/>
              </a:rPr>
              <a:t>Ford F-150</a:t>
            </a:r>
            <a:r>
              <a:rPr lang="en-US" sz="1000" dirty="0">
                <a:solidFill>
                  <a:srgbClr val="F4CAB8"/>
                </a:solidFill>
                <a:latin typeface="Montserrat Medium" pitchFamily="34" charset="0"/>
                <a:ea typeface="Montserrat Medium" pitchFamily="34" charset="-122"/>
                <a:cs typeface="Montserrat Medium" pitchFamily="34" charset="-120"/>
              </a:rPr>
              <a:t> showing the highest maintenance needs.</a:t>
            </a:r>
            <a:endParaRPr lang="en-US" sz="1000" dirty="0"/>
          </a:p>
          <a:p>
            <a:pPr marL="203200" indent="-203200" algn="l">
              <a:lnSpc>
                <a:spcPct val="133000"/>
              </a:lnSpc>
              <a:buSzPct val="100000"/>
              <a:buChar char="•"/>
            </a:pPr>
            <a:r>
              <a:rPr lang="en-US" sz="1000" dirty="0">
                <a:solidFill>
                  <a:srgbClr val="F4CAB8"/>
                </a:solidFill>
                <a:latin typeface="Montserrat Medium" pitchFamily="34" charset="0"/>
                <a:ea typeface="Montserrat Medium" pitchFamily="34" charset="-122"/>
                <a:cs typeface="Montserrat Medium" pitchFamily="34" charset="-120"/>
              </a:rPr>
              <a:t>Models with fewer breakdowns generally achieve </a:t>
            </a:r>
            <a:r>
              <a:rPr lang="en-US" sz="1000" b="1" dirty="0">
                <a:solidFill>
                  <a:srgbClr val="F4CAB8"/>
                </a:solidFill>
                <a:latin typeface="Montserrat Bold" pitchFamily="34" charset="0"/>
                <a:ea typeface="Montserrat Bold" pitchFamily="34" charset="-122"/>
                <a:cs typeface="Montserrat Bold" pitchFamily="34" charset="-120"/>
              </a:rPr>
              <a:t>better on-time delivery performance</a:t>
            </a:r>
            <a:r>
              <a:rPr lang="en-US" sz="1000" dirty="0">
                <a:solidFill>
                  <a:srgbClr val="F4CAB8"/>
                </a:solidFill>
                <a:latin typeface="Montserrat Medium" pitchFamily="34" charset="0"/>
                <a:ea typeface="Montserrat Medium" pitchFamily="34" charset="-122"/>
                <a:cs typeface="Montserrat Medium" pitchFamily="34" charset="-120"/>
              </a:rPr>
              <a:t>.</a:t>
            </a:r>
            <a:endParaRPr lang="en-US" sz="1000" dirty="0"/>
          </a:p>
        </p:txBody>
      </p:sp>
      <p:pic>
        <p:nvPicPr>
          <p:cNvPr id="4" name="Image 0" descr="preencoded.png"/>
          <p:cNvPicPr>
            <a:picLocks noChangeAspect="1"/>
          </p:cNvPicPr>
          <p:nvPr/>
        </p:nvPicPr>
        <p:blipFill>
          <a:blip r:embed="rId3"/>
          <a:stretch>
            <a:fillRect/>
          </a:stretch>
        </p:blipFill>
        <p:spPr>
          <a:xfrm>
            <a:off x="1024771" y="3835880"/>
            <a:ext cx="5512484" cy="3088163"/>
          </a:xfrm>
          <a:prstGeom prst="rect">
            <a:avLst/>
          </a:prstGeom>
        </p:spPr>
      </p:pic>
      <p:sp>
        <p:nvSpPr>
          <p:cNvPr id="5" name="Text 2"/>
          <p:cNvSpPr/>
          <p:nvPr/>
        </p:nvSpPr>
        <p:spPr>
          <a:xfrm>
            <a:off x="458969" y="7071556"/>
            <a:ext cx="7022194" cy="209792"/>
          </a:xfrm>
          <a:prstGeom prst="rect">
            <a:avLst/>
          </a:prstGeom>
          <a:noFill/>
          <a:ln/>
        </p:spPr>
        <p:txBody>
          <a:bodyPr wrap="none" lIns="0" tIns="0" rIns="0" bIns="0" rtlCol="0" anchor="t"/>
          <a:lstStyle/>
          <a:p>
            <a:pPr marL="0" indent="0" algn="l">
              <a:lnSpc>
                <a:spcPct val="133000"/>
              </a:lnSpc>
              <a:buNone/>
            </a:pPr>
            <a:endParaRPr lang="en-US" sz="1000" dirty="0"/>
          </a:p>
        </p:txBody>
      </p:sp>
      <p:sp>
        <p:nvSpPr>
          <p:cNvPr id="6" name="Shape 3"/>
          <p:cNvSpPr/>
          <p:nvPr/>
        </p:nvSpPr>
        <p:spPr>
          <a:xfrm>
            <a:off x="458969" y="7428860"/>
            <a:ext cx="6644089" cy="2640518"/>
          </a:xfrm>
          <a:prstGeom prst="roundRect">
            <a:avLst>
              <a:gd name="adj" fmla="val 745"/>
            </a:avLst>
          </a:prstGeom>
          <a:noFill/>
          <a:ln w="7877">
            <a:solidFill>
              <a:srgbClr val="FFFFFF">
                <a:alpha val="24000"/>
              </a:srgbClr>
            </a:solidFill>
            <a:prstDash val="solid"/>
          </a:ln>
        </p:spPr>
        <p:txBody>
          <a:bodyPr/>
          <a:lstStyle/>
          <a:p>
            <a:endParaRPr lang="en-US"/>
          </a:p>
        </p:txBody>
      </p:sp>
      <p:sp>
        <p:nvSpPr>
          <p:cNvPr id="7" name="Shape 4"/>
          <p:cNvSpPr/>
          <p:nvPr/>
        </p:nvSpPr>
        <p:spPr>
          <a:xfrm>
            <a:off x="466846" y="7436737"/>
            <a:ext cx="6628335" cy="374966"/>
          </a:xfrm>
          <a:prstGeom prst="rect">
            <a:avLst/>
          </a:prstGeom>
          <a:solidFill>
            <a:srgbClr val="FFFFFF">
              <a:alpha val="4000"/>
            </a:srgbClr>
          </a:solidFill>
          <a:ln/>
        </p:spPr>
        <p:txBody>
          <a:bodyPr/>
          <a:lstStyle/>
          <a:p>
            <a:endParaRPr lang="en-US"/>
          </a:p>
        </p:txBody>
      </p:sp>
      <p:sp>
        <p:nvSpPr>
          <p:cNvPr id="8" name="Text 5"/>
          <p:cNvSpPr/>
          <p:nvPr/>
        </p:nvSpPr>
        <p:spPr>
          <a:xfrm>
            <a:off x="598050" y="7519324"/>
            <a:ext cx="2323828" cy="209792"/>
          </a:xfrm>
          <a:prstGeom prst="rect">
            <a:avLst/>
          </a:prstGeom>
          <a:noFill/>
          <a:ln/>
        </p:spPr>
        <p:txBody>
          <a:bodyPr wrap="none" lIns="0" tIns="0" rIns="0" bIns="0" rtlCol="0" anchor="t"/>
          <a:lstStyle/>
          <a:p>
            <a:pPr marL="0" indent="0" algn="l">
              <a:lnSpc>
                <a:spcPct val="133000"/>
              </a:lnSpc>
              <a:buNone/>
            </a:pPr>
            <a:r>
              <a:rPr lang="en-US" sz="1000" b="1" dirty="0">
                <a:solidFill>
                  <a:srgbClr val="F4CAB8"/>
                </a:solidFill>
                <a:latin typeface="Montserrat Bold" pitchFamily="34" charset="0"/>
                <a:ea typeface="Montserrat Bold" pitchFamily="34" charset="-122"/>
                <a:cs typeface="Montserrat Bold" pitchFamily="34" charset="-120"/>
              </a:rPr>
              <a:t>Model</a:t>
            </a:r>
            <a:endParaRPr lang="en-US" sz="1000" dirty="0"/>
          </a:p>
        </p:txBody>
      </p:sp>
      <p:sp>
        <p:nvSpPr>
          <p:cNvPr id="9" name="Text 6"/>
          <p:cNvSpPr/>
          <p:nvPr/>
        </p:nvSpPr>
        <p:spPr>
          <a:xfrm>
            <a:off x="2809874" y="7519324"/>
            <a:ext cx="2321182" cy="209792"/>
          </a:xfrm>
          <a:prstGeom prst="rect">
            <a:avLst/>
          </a:prstGeom>
          <a:noFill/>
          <a:ln/>
        </p:spPr>
        <p:txBody>
          <a:bodyPr wrap="none" lIns="0" tIns="0" rIns="0" bIns="0" rtlCol="0" anchor="t"/>
          <a:lstStyle/>
          <a:p>
            <a:pPr marL="0" indent="0" algn="l">
              <a:lnSpc>
                <a:spcPct val="133000"/>
              </a:lnSpc>
              <a:buNone/>
            </a:pPr>
            <a:r>
              <a:rPr lang="en-US" sz="1000" b="1" dirty="0">
                <a:solidFill>
                  <a:srgbClr val="F4CAB8"/>
                </a:solidFill>
                <a:latin typeface="Montserrat Bold" pitchFamily="34" charset="0"/>
                <a:ea typeface="Montserrat Bold" pitchFamily="34" charset="-122"/>
                <a:cs typeface="Montserrat Bold" pitchFamily="34" charset="-120"/>
              </a:rPr>
              <a:t>Count</a:t>
            </a:r>
            <a:endParaRPr lang="en-US" sz="1000" dirty="0"/>
          </a:p>
        </p:txBody>
      </p:sp>
      <p:sp>
        <p:nvSpPr>
          <p:cNvPr id="10" name="Text 7"/>
          <p:cNvSpPr/>
          <p:nvPr/>
        </p:nvSpPr>
        <p:spPr>
          <a:xfrm>
            <a:off x="5019053" y="7519324"/>
            <a:ext cx="2323151" cy="209792"/>
          </a:xfrm>
          <a:prstGeom prst="rect">
            <a:avLst/>
          </a:prstGeom>
          <a:noFill/>
          <a:ln/>
        </p:spPr>
        <p:txBody>
          <a:bodyPr wrap="none" lIns="0" tIns="0" rIns="0" bIns="0" rtlCol="0" anchor="t"/>
          <a:lstStyle/>
          <a:p>
            <a:pPr marL="0" indent="0" algn="l">
              <a:lnSpc>
                <a:spcPct val="133000"/>
              </a:lnSpc>
              <a:buNone/>
            </a:pPr>
            <a:r>
              <a:rPr lang="en-US" sz="1000" b="1" dirty="0">
                <a:solidFill>
                  <a:srgbClr val="F4CAB8"/>
                </a:solidFill>
                <a:latin typeface="Montserrat Bold" pitchFamily="34" charset="0"/>
                <a:ea typeface="Montserrat Bold" pitchFamily="34" charset="-122"/>
                <a:cs typeface="Montserrat Bold" pitchFamily="34" charset="-120"/>
              </a:rPr>
              <a:t>Avg Breakdowns</a:t>
            </a:r>
            <a:endParaRPr lang="en-US" sz="1000" dirty="0"/>
          </a:p>
        </p:txBody>
      </p:sp>
      <p:sp>
        <p:nvSpPr>
          <p:cNvPr id="11" name="Shape 8"/>
          <p:cNvSpPr/>
          <p:nvPr/>
        </p:nvSpPr>
        <p:spPr>
          <a:xfrm>
            <a:off x="466846" y="7811703"/>
            <a:ext cx="6628335" cy="374966"/>
          </a:xfrm>
          <a:prstGeom prst="rect">
            <a:avLst/>
          </a:prstGeom>
          <a:solidFill>
            <a:srgbClr val="000000">
              <a:alpha val="4000"/>
            </a:srgbClr>
          </a:solidFill>
          <a:ln/>
        </p:spPr>
        <p:txBody>
          <a:bodyPr/>
          <a:lstStyle/>
          <a:p>
            <a:endParaRPr lang="en-US"/>
          </a:p>
        </p:txBody>
      </p:sp>
      <p:sp>
        <p:nvSpPr>
          <p:cNvPr id="12" name="Text 9"/>
          <p:cNvSpPr/>
          <p:nvPr/>
        </p:nvSpPr>
        <p:spPr>
          <a:xfrm>
            <a:off x="598050" y="7894290"/>
            <a:ext cx="2323828"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Freightliner M2</a:t>
            </a:r>
            <a:endParaRPr lang="en-US" sz="1000" dirty="0"/>
          </a:p>
        </p:txBody>
      </p:sp>
      <p:sp>
        <p:nvSpPr>
          <p:cNvPr id="13" name="Text 10"/>
          <p:cNvSpPr/>
          <p:nvPr/>
        </p:nvSpPr>
        <p:spPr>
          <a:xfrm>
            <a:off x="2809874" y="7894290"/>
            <a:ext cx="2321182"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9</a:t>
            </a:r>
            <a:endParaRPr lang="en-US" sz="1000" dirty="0"/>
          </a:p>
        </p:txBody>
      </p:sp>
      <p:sp>
        <p:nvSpPr>
          <p:cNvPr id="14" name="Text 11"/>
          <p:cNvSpPr/>
          <p:nvPr/>
        </p:nvSpPr>
        <p:spPr>
          <a:xfrm>
            <a:off x="5019053" y="7894290"/>
            <a:ext cx="2323151"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17.0</a:t>
            </a:r>
            <a:endParaRPr lang="en-US" sz="1000" dirty="0"/>
          </a:p>
        </p:txBody>
      </p:sp>
      <p:sp>
        <p:nvSpPr>
          <p:cNvPr id="15" name="Shape 12"/>
          <p:cNvSpPr/>
          <p:nvPr/>
        </p:nvSpPr>
        <p:spPr>
          <a:xfrm>
            <a:off x="466846" y="8186669"/>
            <a:ext cx="6628335" cy="374966"/>
          </a:xfrm>
          <a:prstGeom prst="rect">
            <a:avLst/>
          </a:prstGeom>
          <a:solidFill>
            <a:srgbClr val="FFFFFF">
              <a:alpha val="4000"/>
            </a:srgbClr>
          </a:solidFill>
          <a:ln/>
        </p:spPr>
        <p:txBody>
          <a:bodyPr/>
          <a:lstStyle/>
          <a:p>
            <a:endParaRPr lang="en-US"/>
          </a:p>
        </p:txBody>
      </p:sp>
      <p:sp>
        <p:nvSpPr>
          <p:cNvPr id="16" name="Text 13"/>
          <p:cNvSpPr/>
          <p:nvPr/>
        </p:nvSpPr>
        <p:spPr>
          <a:xfrm>
            <a:off x="598050" y="8269256"/>
            <a:ext cx="2323828"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Ford F-150</a:t>
            </a:r>
            <a:endParaRPr lang="en-US" sz="1000" dirty="0"/>
          </a:p>
        </p:txBody>
      </p:sp>
      <p:sp>
        <p:nvSpPr>
          <p:cNvPr id="17" name="Text 14"/>
          <p:cNvSpPr/>
          <p:nvPr/>
        </p:nvSpPr>
        <p:spPr>
          <a:xfrm>
            <a:off x="2809874" y="8269256"/>
            <a:ext cx="2321182"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3</a:t>
            </a:r>
            <a:endParaRPr lang="en-US" sz="1000" dirty="0"/>
          </a:p>
        </p:txBody>
      </p:sp>
      <p:sp>
        <p:nvSpPr>
          <p:cNvPr id="18" name="Text 15"/>
          <p:cNvSpPr/>
          <p:nvPr/>
        </p:nvSpPr>
        <p:spPr>
          <a:xfrm>
            <a:off x="5019053" y="8269256"/>
            <a:ext cx="2323151"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15.3</a:t>
            </a:r>
            <a:endParaRPr lang="en-US" sz="1000" dirty="0"/>
          </a:p>
        </p:txBody>
      </p:sp>
      <p:sp>
        <p:nvSpPr>
          <p:cNvPr id="19" name="Shape 16"/>
          <p:cNvSpPr/>
          <p:nvPr/>
        </p:nvSpPr>
        <p:spPr>
          <a:xfrm>
            <a:off x="466846" y="8561635"/>
            <a:ext cx="6628335" cy="374966"/>
          </a:xfrm>
          <a:prstGeom prst="rect">
            <a:avLst/>
          </a:prstGeom>
          <a:solidFill>
            <a:srgbClr val="000000">
              <a:alpha val="4000"/>
            </a:srgbClr>
          </a:solidFill>
          <a:ln/>
        </p:spPr>
        <p:txBody>
          <a:bodyPr/>
          <a:lstStyle/>
          <a:p>
            <a:endParaRPr lang="en-US"/>
          </a:p>
        </p:txBody>
      </p:sp>
      <p:sp>
        <p:nvSpPr>
          <p:cNvPr id="20" name="Text 17"/>
          <p:cNvSpPr/>
          <p:nvPr/>
        </p:nvSpPr>
        <p:spPr>
          <a:xfrm>
            <a:off x="598050" y="8644223"/>
            <a:ext cx="2323828"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Isuzu NPR</a:t>
            </a:r>
            <a:endParaRPr lang="en-US" sz="1000" dirty="0"/>
          </a:p>
        </p:txBody>
      </p:sp>
      <p:sp>
        <p:nvSpPr>
          <p:cNvPr id="21" name="Text 18"/>
          <p:cNvSpPr/>
          <p:nvPr/>
        </p:nvSpPr>
        <p:spPr>
          <a:xfrm>
            <a:off x="2809874" y="8644223"/>
            <a:ext cx="2321182"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3</a:t>
            </a:r>
            <a:endParaRPr lang="en-US" sz="1000" dirty="0"/>
          </a:p>
        </p:txBody>
      </p:sp>
      <p:sp>
        <p:nvSpPr>
          <p:cNvPr id="22" name="Text 19"/>
          <p:cNvSpPr/>
          <p:nvPr/>
        </p:nvSpPr>
        <p:spPr>
          <a:xfrm>
            <a:off x="5019053" y="8644223"/>
            <a:ext cx="2323151"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14.7</a:t>
            </a:r>
            <a:endParaRPr lang="en-US" sz="1000" dirty="0"/>
          </a:p>
        </p:txBody>
      </p:sp>
      <p:sp>
        <p:nvSpPr>
          <p:cNvPr id="23" name="Shape 20"/>
          <p:cNvSpPr/>
          <p:nvPr/>
        </p:nvSpPr>
        <p:spPr>
          <a:xfrm>
            <a:off x="466846" y="8936601"/>
            <a:ext cx="6628335" cy="374966"/>
          </a:xfrm>
          <a:prstGeom prst="rect">
            <a:avLst/>
          </a:prstGeom>
          <a:solidFill>
            <a:srgbClr val="FFFFFF">
              <a:alpha val="4000"/>
            </a:srgbClr>
          </a:solidFill>
          <a:ln/>
        </p:spPr>
        <p:txBody>
          <a:bodyPr/>
          <a:lstStyle/>
          <a:p>
            <a:endParaRPr lang="en-US"/>
          </a:p>
        </p:txBody>
      </p:sp>
      <p:sp>
        <p:nvSpPr>
          <p:cNvPr id="24" name="Text 21"/>
          <p:cNvSpPr/>
          <p:nvPr/>
        </p:nvSpPr>
        <p:spPr>
          <a:xfrm>
            <a:off x="598050" y="9019189"/>
            <a:ext cx="2323828"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Ram ProMaster</a:t>
            </a:r>
            <a:endParaRPr lang="en-US" sz="1000" dirty="0"/>
          </a:p>
        </p:txBody>
      </p:sp>
      <p:sp>
        <p:nvSpPr>
          <p:cNvPr id="25" name="Text 22"/>
          <p:cNvSpPr/>
          <p:nvPr/>
        </p:nvSpPr>
        <p:spPr>
          <a:xfrm>
            <a:off x="2809874" y="9019189"/>
            <a:ext cx="2321182"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3</a:t>
            </a:r>
            <a:endParaRPr lang="en-US" sz="1000" dirty="0"/>
          </a:p>
        </p:txBody>
      </p:sp>
      <p:sp>
        <p:nvSpPr>
          <p:cNvPr id="26" name="Text 23"/>
          <p:cNvSpPr/>
          <p:nvPr/>
        </p:nvSpPr>
        <p:spPr>
          <a:xfrm>
            <a:off x="5019053" y="9019189"/>
            <a:ext cx="2323151"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14.7</a:t>
            </a:r>
            <a:endParaRPr lang="en-US" sz="1000" dirty="0"/>
          </a:p>
        </p:txBody>
      </p:sp>
      <p:sp>
        <p:nvSpPr>
          <p:cNvPr id="27" name="Shape 24"/>
          <p:cNvSpPr/>
          <p:nvPr/>
        </p:nvSpPr>
        <p:spPr>
          <a:xfrm>
            <a:off x="466846" y="9311568"/>
            <a:ext cx="6628335" cy="374966"/>
          </a:xfrm>
          <a:prstGeom prst="rect">
            <a:avLst/>
          </a:prstGeom>
          <a:solidFill>
            <a:srgbClr val="000000">
              <a:alpha val="4000"/>
            </a:srgbClr>
          </a:solidFill>
          <a:ln/>
        </p:spPr>
        <p:txBody>
          <a:bodyPr/>
          <a:lstStyle/>
          <a:p>
            <a:endParaRPr lang="en-US"/>
          </a:p>
        </p:txBody>
      </p:sp>
      <p:sp>
        <p:nvSpPr>
          <p:cNvPr id="28" name="Text 25"/>
          <p:cNvSpPr/>
          <p:nvPr/>
        </p:nvSpPr>
        <p:spPr>
          <a:xfrm>
            <a:off x="598050" y="9394155"/>
            <a:ext cx="2323828"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Mercedes Sprinter</a:t>
            </a:r>
            <a:endParaRPr lang="en-US" sz="1000" dirty="0"/>
          </a:p>
        </p:txBody>
      </p:sp>
      <p:sp>
        <p:nvSpPr>
          <p:cNvPr id="29" name="Text 26"/>
          <p:cNvSpPr/>
          <p:nvPr/>
        </p:nvSpPr>
        <p:spPr>
          <a:xfrm>
            <a:off x="2809874" y="9394155"/>
            <a:ext cx="2321182"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9</a:t>
            </a:r>
            <a:endParaRPr lang="en-US" sz="1000" dirty="0"/>
          </a:p>
        </p:txBody>
      </p:sp>
      <p:sp>
        <p:nvSpPr>
          <p:cNvPr id="30" name="Text 27"/>
          <p:cNvSpPr/>
          <p:nvPr/>
        </p:nvSpPr>
        <p:spPr>
          <a:xfrm>
            <a:off x="5019053" y="9394155"/>
            <a:ext cx="2323151"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10.2</a:t>
            </a:r>
            <a:endParaRPr lang="en-US" sz="1000" dirty="0"/>
          </a:p>
        </p:txBody>
      </p:sp>
      <p:sp>
        <p:nvSpPr>
          <p:cNvPr id="31" name="Shape 28"/>
          <p:cNvSpPr/>
          <p:nvPr/>
        </p:nvSpPr>
        <p:spPr>
          <a:xfrm>
            <a:off x="478661" y="9686534"/>
            <a:ext cx="6628335" cy="374966"/>
          </a:xfrm>
          <a:prstGeom prst="rect">
            <a:avLst/>
          </a:prstGeom>
          <a:solidFill>
            <a:srgbClr val="FFFFFF">
              <a:alpha val="4000"/>
            </a:srgbClr>
          </a:solidFill>
          <a:ln/>
        </p:spPr>
        <p:txBody>
          <a:bodyPr/>
          <a:lstStyle/>
          <a:p>
            <a:endParaRPr lang="en-US"/>
          </a:p>
        </p:txBody>
      </p:sp>
      <p:sp>
        <p:nvSpPr>
          <p:cNvPr id="32" name="Text 29"/>
          <p:cNvSpPr/>
          <p:nvPr/>
        </p:nvSpPr>
        <p:spPr>
          <a:xfrm>
            <a:off x="598050" y="9769121"/>
            <a:ext cx="2323828"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Chevrolet Express</a:t>
            </a:r>
            <a:endParaRPr lang="en-US" sz="1000" dirty="0"/>
          </a:p>
        </p:txBody>
      </p:sp>
      <p:sp>
        <p:nvSpPr>
          <p:cNvPr id="33" name="Text 30"/>
          <p:cNvSpPr/>
          <p:nvPr/>
        </p:nvSpPr>
        <p:spPr>
          <a:xfrm>
            <a:off x="2809874" y="9769121"/>
            <a:ext cx="2321182"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4</a:t>
            </a:r>
            <a:endParaRPr lang="en-US" sz="1000" dirty="0"/>
          </a:p>
        </p:txBody>
      </p:sp>
      <p:sp>
        <p:nvSpPr>
          <p:cNvPr id="34" name="Text 31"/>
          <p:cNvSpPr/>
          <p:nvPr/>
        </p:nvSpPr>
        <p:spPr>
          <a:xfrm>
            <a:off x="5019053" y="9769121"/>
            <a:ext cx="2323151"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5.5</a:t>
            </a:r>
            <a:endParaRPr lang="en-US" sz="1000" dirty="0"/>
          </a:p>
        </p:txBody>
      </p:sp>
      <p:sp>
        <p:nvSpPr>
          <p:cNvPr id="35" name="TextBox 34">
            <a:extLst>
              <a:ext uri="{FF2B5EF4-FFF2-40B4-BE49-F238E27FC236}">
                <a16:creationId xmlns:a16="http://schemas.microsoft.com/office/drawing/2014/main" id="{714659AD-C421-DF6C-ED2E-3571ED54F286}"/>
              </a:ext>
            </a:extLst>
          </p:cNvPr>
          <p:cNvSpPr txBox="1"/>
          <p:nvPr/>
        </p:nvSpPr>
        <p:spPr>
          <a:xfrm>
            <a:off x="7218691" y="10069378"/>
            <a:ext cx="247023" cy="369332"/>
          </a:xfrm>
          <a:prstGeom prst="rect">
            <a:avLst/>
          </a:prstGeom>
          <a:noFill/>
        </p:spPr>
        <p:txBody>
          <a:bodyPr wrap="square" rtlCol="0">
            <a:spAutoFit/>
          </a:bodyPr>
          <a:lstStyle/>
          <a:p>
            <a:fld id="{D533D60C-1DA2-43DD-BF37-73FA67DBE975}" type="slidenum">
              <a:rPr lang="en-US" smtClean="0">
                <a:solidFill>
                  <a:srgbClr val="F4CAB8"/>
                </a:solidFill>
                <a:latin typeface="Brygada 1918" pitchFamily="2" charset="0"/>
                <a:ea typeface="Brygada 1918" pitchFamily="2" charset="0"/>
              </a:rPr>
              <a:t>7</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8969" y="360566"/>
            <a:ext cx="3175609" cy="349673"/>
          </a:xfrm>
          <a:prstGeom prst="rect">
            <a:avLst/>
          </a:prstGeom>
          <a:noFill/>
          <a:ln/>
        </p:spPr>
        <p:txBody>
          <a:bodyPr wrap="none" lIns="0" tIns="0" rIns="0" bIns="0" rtlCol="0" anchor="t"/>
          <a:lstStyle/>
          <a:p>
            <a:pPr marL="0" indent="0" algn="l">
              <a:lnSpc>
                <a:spcPct val="104000"/>
              </a:lnSpc>
              <a:buNone/>
            </a:pPr>
            <a:r>
              <a:rPr lang="en-US" sz="2200" b="1" dirty="0">
                <a:solidFill>
                  <a:srgbClr val="FFB393"/>
                </a:solidFill>
                <a:latin typeface="Brygada 1918 Bold" pitchFamily="34" charset="0"/>
                <a:ea typeface="Brygada 1918 Bold" pitchFamily="34" charset="-122"/>
                <a:cs typeface="Brygada 1918 Bold" pitchFamily="34" charset="-120"/>
              </a:rPr>
              <a:t>Drivers Overview</a:t>
            </a:r>
            <a:endParaRPr lang="en-US" sz="2200" dirty="0"/>
          </a:p>
        </p:txBody>
      </p:sp>
      <p:sp>
        <p:nvSpPr>
          <p:cNvPr id="3" name="Text 1"/>
          <p:cNvSpPr/>
          <p:nvPr/>
        </p:nvSpPr>
        <p:spPr>
          <a:xfrm>
            <a:off x="458969" y="972463"/>
            <a:ext cx="6644089" cy="1983511"/>
          </a:xfrm>
          <a:prstGeom prst="rect">
            <a:avLst/>
          </a:prstGeom>
          <a:noFill/>
          <a:ln/>
        </p:spPr>
        <p:txBody>
          <a:bodyPr wrap="square" lIns="0" tIns="0" rIns="0" bIns="0" rtlCol="0" anchor="t">
            <a:normAutofit/>
          </a:bodyPr>
          <a:lstStyle/>
          <a:p>
            <a:pPr marL="0" indent="0" algn="l">
              <a:lnSpc>
                <a:spcPct val="133000"/>
              </a:lnSpc>
              <a:spcAft>
                <a:spcPts val="1150"/>
              </a:spcAft>
              <a:buNone/>
            </a:pPr>
            <a:r>
              <a:rPr lang="en-US" sz="1250" dirty="0">
                <a:solidFill>
                  <a:srgbClr val="F4CAB8"/>
                </a:solidFill>
                <a:latin typeface="Montserrat Medium" pitchFamily="34" charset="0"/>
                <a:ea typeface="Montserrat Medium" pitchFamily="34" charset="-122"/>
                <a:cs typeface="Montserrat Medium" pitchFamily="34" charset="-120"/>
              </a:rPr>
              <a:t>This section highlights individual driver profiles and performance metrics. It includes driver name, hire date, and years of experience (YOE), which help assess each driver’s capability. The average delivery time is 35 hours, and the delayed delivery rate is 19%, indicating variation in efficiency and reliability across drivers.</a:t>
            </a:r>
            <a:endParaRPr lang="en-US" sz="1250" dirty="0"/>
          </a:p>
          <a:p>
            <a:pPr marL="0" indent="0" algn="l">
              <a:lnSpc>
                <a:spcPct val="133000"/>
              </a:lnSpc>
              <a:buNone/>
            </a:pPr>
            <a:r>
              <a:rPr lang="en-US" sz="1250" dirty="0">
                <a:solidFill>
                  <a:srgbClr val="F4CAB8"/>
                </a:solidFill>
                <a:latin typeface="Montserrat Medium" pitchFamily="34" charset="0"/>
                <a:ea typeface="Montserrat Medium" pitchFamily="34" charset="-122"/>
                <a:cs typeface="Montserrat Medium" pitchFamily="34" charset="-120"/>
              </a:rPr>
              <a:t>Some drivers have higher numbers of delayed orders, with Christopher Martin recording the highest delays.</a:t>
            </a:r>
            <a:endParaRPr lang="en-US" sz="1250" dirty="0"/>
          </a:p>
        </p:txBody>
      </p:sp>
      <p:sp>
        <p:nvSpPr>
          <p:cNvPr id="4" name="Shape 2"/>
          <p:cNvSpPr/>
          <p:nvPr/>
        </p:nvSpPr>
        <p:spPr>
          <a:xfrm>
            <a:off x="458969" y="3103487"/>
            <a:ext cx="1620913" cy="246531"/>
          </a:xfrm>
          <a:prstGeom prst="roundRect">
            <a:avLst>
              <a:gd name="adj" fmla="val 6383"/>
            </a:avLst>
          </a:prstGeom>
          <a:solidFill>
            <a:srgbClr val="4D1700"/>
          </a:solidFill>
          <a:ln/>
        </p:spPr>
        <p:txBody>
          <a:bodyPr/>
          <a:lstStyle/>
          <a:p>
            <a:endParaRPr lang="en-US"/>
          </a:p>
        </p:txBody>
      </p:sp>
      <p:sp>
        <p:nvSpPr>
          <p:cNvPr id="5" name="Text 3"/>
          <p:cNvSpPr/>
          <p:nvPr/>
        </p:nvSpPr>
        <p:spPr>
          <a:xfrm>
            <a:off x="537617" y="3142811"/>
            <a:ext cx="1841720" cy="167882"/>
          </a:xfrm>
          <a:prstGeom prst="rect">
            <a:avLst/>
          </a:prstGeom>
          <a:noFill/>
          <a:ln/>
        </p:spPr>
        <p:txBody>
          <a:bodyPr wrap="none" lIns="0" tIns="0" rIns="0" bIns="0" rtlCol="0" anchor="t"/>
          <a:lstStyle/>
          <a:p>
            <a:pPr marL="0" indent="0" algn="l">
              <a:lnSpc>
                <a:spcPct val="133000"/>
              </a:lnSpc>
              <a:buNone/>
            </a:pPr>
            <a:r>
              <a:rPr lang="en-US" sz="800" dirty="0">
                <a:solidFill>
                  <a:srgbClr val="F4CAB8"/>
                </a:solidFill>
                <a:latin typeface="Montserrat Medium" pitchFamily="34" charset="0"/>
                <a:ea typeface="Montserrat Medium" pitchFamily="34" charset="-122"/>
                <a:cs typeface="Montserrat Medium" pitchFamily="34" charset="-120"/>
              </a:rPr>
              <a:t>YEAR 2023 FILTER APPLIED</a:t>
            </a:r>
            <a:endParaRPr lang="en-US" sz="800" dirty="0"/>
          </a:p>
        </p:txBody>
      </p:sp>
      <p:pic>
        <p:nvPicPr>
          <p:cNvPr id="6" name="Image 0" descr="preencoded.png"/>
          <p:cNvPicPr>
            <a:picLocks noChangeAspect="1"/>
          </p:cNvPicPr>
          <p:nvPr/>
        </p:nvPicPr>
        <p:blipFill>
          <a:blip r:embed="rId3"/>
          <a:stretch>
            <a:fillRect/>
          </a:stretch>
        </p:blipFill>
        <p:spPr>
          <a:xfrm>
            <a:off x="1024525" y="3497530"/>
            <a:ext cx="5512976" cy="3088163"/>
          </a:xfrm>
          <a:prstGeom prst="rect">
            <a:avLst/>
          </a:prstGeom>
        </p:spPr>
      </p:pic>
      <p:sp>
        <p:nvSpPr>
          <p:cNvPr id="7" name="Text 4"/>
          <p:cNvSpPr/>
          <p:nvPr/>
        </p:nvSpPr>
        <p:spPr>
          <a:xfrm>
            <a:off x="458969" y="6851179"/>
            <a:ext cx="3540175" cy="262286"/>
          </a:xfrm>
          <a:prstGeom prst="rect">
            <a:avLst/>
          </a:prstGeom>
          <a:noFill/>
          <a:ln/>
        </p:spPr>
        <p:txBody>
          <a:bodyPr wrap="none" lIns="0" tIns="0" rIns="0" bIns="0" rtlCol="0" anchor="t"/>
          <a:lstStyle/>
          <a:p>
            <a:pPr marL="0" indent="0" algn="l">
              <a:lnSpc>
                <a:spcPct val="133000"/>
              </a:lnSpc>
              <a:buNone/>
            </a:pPr>
            <a:r>
              <a:rPr lang="en-US" sz="1250" dirty="0">
                <a:solidFill>
                  <a:srgbClr val="F4CAB8"/>
                </a:solidFill>
                <a:latin typeface="Montserrat Medium" pitchFamily="34" charset="0"/>
                <a:ea typeface="Montserrat Medium" pitchFamily="34" charset="-122"/>
                <a:cs typeface="Montserrat Medium" pitchFamily="34" charset="-120"/>
              </a:rPr>
              <a:t>Top Delay Causes</a:t>
            </a:r>
            <a:endParaRPr lang="en-US" sz="1250" dirty="0"/>
          </a:p>
        </p:txBody>
      </p:sp>
      <p:sp>
        <p:nvSpPr>
          <p:cNvPr id="8" name="Text 5"/>
          <p:cNvSpPr/>
          <p:nvPr/>
        </p:nvSpPr>
        <p:spPr>
          <a:xfrm>
            <a:off x="458969" y="7231438"/>
            <a:ext cx="3162070" cy="1973542"/>
          </a:xfrm>
          <a:prstGeom prst="rect">
            <a:avLst/>
          </a:prstGeom>
          <a:noFill/>
          <a:ln/>
        </p:spPr>
        <p:txBody>
          <a:bodyPr wrap="square" lIns="0" tIns="0" rIns="0" bIns="0" rtlCol="0" anchor="t">
            <a:normAutofit/>
          </a:bodyPr>
          <a:lstStyle/>
          <a:p>
            <a:pPr marL="203200" indent="-203200" algn="l">
              <a:lnSpc>
                <a:spcPct val="133000"/>
              </a:lnSpc>
              <a:buSzPct val="100000"/>
              <a:buChar char="•"/>
            </a:pPr>
            <a:r>
              <a:rPr lang="en-US" sz="1000" b="1" dirty="0">
                <a:solidFill>
                  <a:srgbClr val="F4CAB8"/>
                </a:solidFill>
                <a:latin typeface="Montserrat Bold" pitchFamily="34" charset="0"/>
                <a:ea typeface="Montserrat Bold" pitchFamily="34" charset="-122"/>
                <a:cs typeface="Montserrat Bold" pitchFamily="34" charset="-120"/>
              </a:rPr>
              <a:t>Vehicle Breakdown:</a:t>
            </a:r>
            <a:r>
              <a:rPr lang="en-US" sz="1000" dirty="0">
                <a:solidFill>
                  <a:srgbClr val="F4CAB8"/>
                </a:solidFill>
                <a:latin typeface="Montserrat Medium" pitchFamily="34" charset="0"/>
                <a:ea typeface="Montserrat Medium" pitchFamily="34" charset="-122"/>
                <a:cs typeface="Montserrat Medium" pitchFamily="34" charset="-120"/>
              </a:rPr>
              <a:t> 578 cases (controllable through maintenance)</a:t>
            </a:r>
            <a:endParaRPr lang="en-US" sz="1000" dirty="0"/>
          </a:p>
          <a:p>
            <a:pPr marL="203200" indent="-203200" algn="l">
              <a:lnSpc>
                <a:spcPct val="133000"/>
              </a:lnSpc>
              <a:buSzPct val="100000"/>
              <a:buChar char="•"/>
            </a:pPr>
            <a:r>
              <a:rPr lang="en-US" sz="1000" b="1" dirty="0">
                <a:solidFill>
                  <a:srgbClr val="F4CAB8"/>
                </a:solidFill>
                <a:latin typeface="Montserrat Bold" pitchFamily="34" charset="0"/>
                <a:ea typeface="Montserrat Bold" pitchFamily="34" charset="-122"/>
                <a:cs typeface="Montserrat Bold" pitchFamily="34" charset="-120"/>
              </a:rPr>
              <a:t>Road Construction:</a:t>
            </a:r>
            <a:r>
              <a:rPr lang="en-US" sz="1000" dirty="0">
                <a:solidFill>
                  <a:srgbClr val="F4CAB8"/>
                </a:solidFill>
                <a:latin typeface="Montserrat Medium" pitchFamily="34" charset="0"/>
                <a:ea typeface="Montserrat Medium" pitchFamily="34" charset="-122"/>
                <a:cs typeface="Montserrat Medium" pitchFamily="34" charset="-120"/>
              </a:rPr>
              <a:t> 565 cases (external factor)</a:t>
            </a:r>
            <a:endParaRPr lang="en-US" sz="1000" dirty="0"/>
          </a:p>
          <a:p>
            <a:pPr marL="203200" indent="-203200" algn="l">
              <a:lnSpc>
                <a:spcPct val="133000"/>
              </a:lnSpc>
              <a:buSzPct val="100000"/>
              <a:buChar char="•"/>
            </a:pPr>
            <a:r>
              <a:rPr lang="en-US" sz="1000" dirty="0">
                <a:solidFill>
                  <a:srgbClr val="F4CAB8"/>
                </a:solidFill>
                <a:latin typeface="Montserrat Medium" pitchFamily="34" charset="0"/>
                <a:ea typeface="Montserrat Medium" pitchFamily="34" charset="-122"/>
                <a:cs typeface="Montserrat Medium" pitchFamily="34" charset="-120"/>
              </a:rPr>
              <a:t>Hub Processing Delays: 540 cases</a:t>
            </a:r>
            <a:endParaRPr lang="en-US" sz="1000" dirty="0"/>
          </a:p>
          <a:p>
            <a:pPr marL="203200" indent="-203200" algn="l">
              <a:lnSpc>
                <a:spcPct val="133000"/>
              </a:lnSpc>
              <a:buSzPct val="100000"/>
              <a:buChar char="•"/>
            </a:pPr>
            <a:r>
              <a:rPr lang="en-US" sz="1000" dirty="0">
                <a:solidFill>
                  <a:srgbClr val="F4CAB8"/>
                </a:solidFill>
                <a:latin typeface="Montserrat Medium" pitchFamily="34" charset="0"/>
                <a:ea typeface="Montserrat Medium" pitchFamily="34" charset="-122"/>
                <a:cs typeface="Montserrat Medium" pitchFamily="34" charset="-120"/>
              </a:rPr>
              <a:t>Weather Conditions: 535 cases</a:t>
            </a:r>
            <a:endParaRPr lang="en-US" sz="1000" dirty="0"/>
          </a:p>
        </p:txBody>
      </p:sp>
      <p:sp>
        <p:nvSpPr>
          <p:cNvPr id="9" name="Text 6"/>
          <p:cNvSpPr/>
          <p:nvPr/>
        </p:nvSpPr>
        <p:spPr>
          <a:xfrm>
            <a:off x="3944865" y="6851179"/>
            <a:ext cx="3540175" cy="262286"/>
          </a:xfrm>
          <a:prstGeom prst="rect">
            <a:avLst/>
          </a:prstGeom>
          <a:noFill/>
          <a:ln/>
        </p:spPr>
        <p:txBody>
          <a:bodyPr wrap="none" lIns="0" tIns="0" rIns="0" bIns="0" rtlCol="0" anchor="t"/>
          <a:lstStyle/>
          <a:p>
            <a:pPr marL="0" indent="0" algn="l">
              <a:lnSpc>
                <a:spcPct val="133000"/>
              </a:lnSpc>
              <a:buNone/>
            </a:pPr>
            <a:r>
              <a:rPr lang="en-US" sz="1250" dirty="0">
                <a:solidFill>
                  <a:srgbClr val="F4CAB8"/>
                </a:solidFill>
                <a:latin typeface="Montserrat Medium" pitchFamily="34" charset="0"/>
                <a:ea typeface="Montserrat Medium" pitchFamily="34" charset="-122"/>
                <a:cs typeface="Montserrat Medium" pitchFamily="34" charset="-120"/>
              </a:rPr>
              <a:t>Vehicle Fleet Status</a:t>
            </a:r>
            <a:endParaRPr lang="en-US" sz="1250" dirty="0"/>
          </a:p>
        </p:txBody>
      </p:sp>
      <p:sp>
        <p:nvSpPr>
          <p:cNvPr id="10" name="Text 7"/>
          <p:cNvSpPr/>
          <p:nvPr/>
        </p:nvSpPr>
        <p:spPr>
          <a:xfrm>
            <a:off x="3944865" y="7231438"/>
            <a:ext cx="3162070" cy="1186685"/>
          </a:xfrm>
          <a:prstGeom prst="rect">
            <a:avLst/>
          </a:prstGeom>
          <a:noFill/>
          <a:ln/>
        </p:spPr>
        <p:txBody>
          <a:bodyPr wrap="square" lIns="0" tIns="0" rIns="0" bIns="0" rtlCol="0" anchor="t">
            <a:normAutofit/>
          </a:bodyPr>
          <a:lstStyle/>
          <a:p>
            <a:pPr marL="203200" indent="-203200" algn="l">
              <a:lnSpc>
                <a:spcPct val="133000"/>
              </a:lnSpc>
              <a:buSzPct val="100000"/>
              <a:buChar char="•"/>
            </a:pPr>
            <a:r>
              <a:rPr lang="en-US" sz="1000" b="1" dirty="0">
                <a:solidFill>
                  <a:srgbClr val="F4CAB8"/>
                </a:solidFill>
                <a:latin typeface="Montserrat Bold" pitchFamily="34" charset="0"/>
                <a:ea typeface="Montserrat Bold" pitchFamily="34" charset="-122"/>
                <a:cs typeface="Montserrat Bold" pitchFamily="34" charset="-120"/>
              </a:rPr>
              <a:t>Total Vehicles:</a:t>
            </a:r>
            <a:r>
              <a:rPr lang="en-US" sz="1000" dirty="0">
                <a:solidFill>
                  <a:srgbClr val="F4CAB8"/>
                </a:solidFill>
                <a:latin typeface="Montserrat Medium" pitchFamily="34" charset="0"/>
                <a:ea typeface="Montserrat Medium" pitchFamily="34" charset="-122"/>
                <a:cs typeface="Montserrat Medium" pitchFamily="34" charset="-120"/>
              </a:rPr>
              <a:t> 45 across 9 models</a:t>
            </a:r>
            <a:endParaRPr lang="en-US" sz="1000" dirty="0"/>
          </a:p>
          <a:p>
            <a:pPr marL="203200" indent="-203200" algn="l">
              <a:lnSpc>
                <a:spcPct val="133000"/>
              </a:lnSpc>
              <a:buSzPct val="100000"/>
              <a:buChar char="•"/>
            </a:pPr>
            <a:r>
              <a:rPr lang="en-US" sz="1000" b="1" dirty="0">
                <a:solidFill>
                  <a:srgbClr val="F4CAB8"/>
                </a:solidFill>
                <a:latin typeface="Montserrat Bold" pitchFamily="34" charset="0"/>
                <a:ea typeface="Montserrat Bold" pitchFamily="34" charset="-122"/>
                <a:cs typeface="Montserrat Bold" pitchFamily="34" charset="-120"/>
              </a:rPr>
              <a:t>Active:</a:t>
            </a:r>
            <a:r>
              <a:rPr lang="en-US" sz="1000" dirty="0">
                <a:solidFill>
                  <a:srgbClr val="F4CAB8"/>
                </a:solidFill>
                <a:latin typeface="Montserrat Medium" pitchFamily="34" charset="0"/>
                <a:ea typeface="Montserrat Medium" pitchFamily="34" charset="-122"/>
                <a:cs typeface="Montserrat Medium" pitchFamily="34" charset="-120"/>
              </a:rPr>
              <a:t> 33 (73.33%)</a:t>
            </a:r>
            <a:endParaRPr lang="en-US" sz="1000" dirty="0"/>
          </a:p>
          <a:p>
            <a:pPr marL="203200" indent="-203200" algn="l">
              <a:lnSpc>
                <a:spcPct val="133000"/>
              </a:lnSpc>
              <a:buSzPct val="100000"/>
              <a:buChar char="•"/>
            </a:pPr>
            <a:r>
              <a:rPr lang="en-US" sz="1000" b="1" dirty="0">
                <a:solidFill>
                  <a:srgbClr val="F4CAB8"/>
                </a:solidFill>
                <a:latin typeface="Montserrat Bold" pitchFamily="34" charset="0"/>
                <a:ea typeface="Montserrat Bold" pitchFamily="34" charset="-122"/>
                <a:cs typeface="Montserrat Bold" pitchFamily="34" charset="-120"/>
              </a:rPr>
              <a:t>Under Maintenance:</a:t>
            </a:r>
            <a:r>
              <a:rPr lang="en-US" sz="1000" dirty="0">
                <a:solidFill>
                  <a:srgbClr val="F4CAB8"/>
                </a:solidFill>
                <a:latin typeface="Montserrat Medium" pitchFamily="34" charset="0"/>
                <a:ea typeface="Montserrat Medium" pitchFamily="34" charset="-122"/>
                <a:cs typeface="Montserrat Medium" pitchFamily="34" charset="-120"/>
              </a:rPr>
              <a:t> 12 (26.67%)</a:t>
            </a:r>
            <a:endParaRPr lang="en-US" sz="1000" dirty="0"/>
          </a:p>
          <a:p>
            <a:pPr marL="203200" indent="-203200" algn="l">
              <a:lnSpc>
                <a:spcPct val="133000"/>
              </a:lnSpc>
              <a:buSzPct val="100000"/>
              <a:buChar char="•"/>
            </a:pPr>
            <a:r>
              <a:rPr lang="en-US" sz="1000" b="1" dirty="0">
                <a:solidFill>
                  <a:srgbClr val="F4CAB8"/>
                </a:solidFill>
                <a:latin typeface="Montserrat Bold" pitchFamily="34" charset="0"/>
                <a:ea typeface="Montserrat Bold" pitchFamily="34" charset="-122"/>
                <a:cs typeface="Montserrat Bold" pitchFamily="34" charset="-120"/>
              </a:rPr>
              <a:t>Average Age:</a:t>
            </a:r>
            <a:r>
              <a:rPr lang="en-US" sz="1000" dirty="0">
                <a:solidFill>
                  <a:srgbClr val="F4CAB8"/>
                </a:solidFill>
                <a:latin typeface="Montserrat Medium" pitchFamily="34" charset="0"/>
                <a:ea typeface="Montserrat Medium" pitchFamily="34" charset="-122"/>
                <a:cs typeface="Montserrat Medium" pitchFamily="34" charset="-120"/>
              </a:rPr>
              <a:t> 5.2 years</a:t>
            </a:r>
            <a:endParaRPr lang="en-US" sz="1000" dirty="0"/>
          </a:p>
        </p:txBody>
      </p:sp>
      <p:sp>
        <p:nvSpPr>
          <p:cNvPr id="11" name="TextBox 10">
            <a:extLst>
              <a:ext uri="{FF2B5EF4-FFF2-40B4-BE49-F238E27FC236}">
                <a16:creationId xmlns:a16="http://schemas.microsoft.com/office/drawing/2014/main" id="{D54704D1-4012-092B-BCA6-2023A37341E1}"/>
              </a:ext>
            </a:extLst>
          </p:cNvPr>
          <p:cNvSpPr txBox="1"/>
          <p:nvPr/>
        </p:nvSpPr>
        <p:spPr>
          <a:xfrm>
            <a:off x="7106935" y="10006256"/>
            <a:ext cx="381982" cy="369332"/>
          </a:xfrm>
          <a:prstGeom prst="rect">
            <a:avLst/>
          </a:prstGeom>
          <a:noFill/>
        </p:spPr>
        <p:txBody>
          <a:bodyPr wrap="square" rtlCol="0">
            <a:spAutoFit/>
          </a:bodyPr>
          <a:lstStyle/>
          <a:p>
            <a:fld id="{258F4F6A-161F-4A70-85C5-5AC4C56B006A}" type="slidenum">
              <a:rPr lang="en-US" smtClean="0">
                <a:solidFill>
                  <a:srgbClr val="F4CAB8"/>
                </a:solidFill>
                <a:latin typeface="Brygada 1918" pitchFamily="2" charset="0"/>
                <a:ea typeface="Brygada 1918" pitchFamily="2" charset="0"/>
              </a:rPr>
              <a:t>8</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8969" y="360566"/>
            <a:ext cx="3000773" cy="327826"/>
          </a:xfrm>
          <a:prstGeom prst="rect">
            <a:avLst/>
          </a:prstGeom>
          <a:noFill/>
          <a:ln/>
        </p:spPr>
        <p:txBody>
          <a:bodyPr wrap="none" lIns="0" tIns="0" rIns="0" bIns="0" rtlCol="0" anchor="t"/>
          <a:lstStyle/>
          <a:p>
            <a:pPr marL="0" indent="0" algn="l">
              <a:lnSpc>
                <a:spcPct val="104000"/>
              </a:lnSpc>
              <a:buNone/>
            </a:pPr>
            <a:r>
              <a:rPr lang="en-US" sz="2050" b="1" dirty="0">
                <a:solidFill>
                  <a:srgbClr val="FFB393"/>
                </a:solidFill>
                <a:latin typeface="Brygada 1918 Bold" pitchFamily="34" charset="0"/>
                <a:ea typeface="Brygada 1918 Bold" pitchFamily="34" charset="-122"/>
                <a:cs typeface="Brygada 1918 Bold" pitchFamily="34" charset="-120"/>
              </a:rPr>
              <a:t>Logistics Insights</a:t>
            </a:r>
            <a:endParaRPr lang="en-US" sz="2050" dirty="0"/>
          </a:p>
        </p:txBody>
      </p:sp>
      <p:sp>
        <p:nvSpPr>
          <p:cNvPr id="3" name="Text 1"/>
          <p:cNvSpPr/>
          <p:nvPr/>
        </p:nvSpPr>
        <p:spPr>
          <a:xfrm>
            <a:off x="458969" y="861259"/>
            <a:ext cx="6644089" cy="510663"/>
          </a:xfrm>
          <a:prstGeom prst="rect">
            <a:avLst/>
          </a:prstGeom>
          <a:noFill/>
          <a:ln/>
        </p:spPr>
        <p:txBody>
          <a:bodyPr wrap="square" lIns="0" tIns="0" rIns="0" bIns="0" rtlCol="0" anchor="t"/>
          <a:lstStyle/>
          <a:p>
            <a:pPr marL="0" indent="0" algn="l">
              <a:lnSpc>
                <a:spcPct val="129000"/>
              </a:lnSpc>
              <a:spcAft>
                <a:spcPts val="1000"/>
              </a:spcAft>
              <a:buNone/>
            </a:pPr>
            <a:r>
              <a:rPr lang="en-US" sz="950" b="1" dirty="0">
                <a:solidFill>
                  <a:srgbClr val="F4CAB8"/>
                </a:solidFill>
                <a:latin typeface="Montserrat Bold" pitchFamily="34" charset="0"/>
                <a:ea typeface="Montserrat Bold" pitchFamily="34" charset="-122"/>
                <a:cs typeface="Montserrat Bold" pitchFamily="34" charset="-120"/>
              </a:rPr>
              <a:t>Order Volume &amp; Delays by Hub</a:t>
            </a:r>
            <a:endParaRPr lang="en-US" sz="950" dirty="0"/>
          </a:p>
          <a:p>
            <a:pPr marL="0" indent="0" algn="l">
              <a:lnSpc>
                <a:spcPct val="129000"/>
              </a:lnSpc>
              <a:buNone/>
            </a:pPr>
            <a:r>
              <a:rPr lang="en-US" sz="950" b="1" dirty="0">
                <a:solidFill>
                  <a:srgbClr val="F4CAB8"/>
                </a:solidFill>
                <a:latin typeface="Montserrat Bold" pitchFamily="34" charset="0"/>
                <a:ea typeface="Montserrat Bold" pitchFamily="34" charset="-122"/>
                <a:cs typeface="Montserrat Bold" pitchFamily="34" charset="-120"/>
              </a:rPr>
              <a:t>The bar chart on the left shows total orders and delayed orders across six distribution hubs:</a:t>
            </a:r>
            <a:endParaRPr lang="en-US" sz="950" dirty="0"/>
          </a:p>
        </p:txBody>
      </p:sp>
      <p:sp>
        <p:nvSpPr>
          <p:cNvPr id="4" name="Text 2"/>
          <p:cNvSpPr/>
          <p:nvPr/>
        </p:nvSpPr>
        <p:spPr>
          <a:xfrm>
            <a:off x="458969" y="1501526"/>
            <a:ext cx="6644089" cy="611897"/>
          </a:xfrm>
          <a:prstGeom prst="rect">
            <a:avLst/>
          </a:prstGeom>
          <a:noFill/>
          <a:ln/>
        </p:spPr>
        <p:txBody>
          <a:bodyPr wrap="square" lIns="0" tIns="0" rIns="0" bIns="0" rtlCol="0" anchor="t">
            <a:normAutofit/>
          </a:bodyPr>
          <a:lstStyle/>
          <a:p>
            <a:pPr marL="193040" indent="-193040" algn="l">
              <a:lnSpc>
                <a:spcPct val="129000"/>
              </a:lnSpc>
              <a:buSzPct val="100000"/>
              <a:buChar char="•"/>
            </a:pPr>
            <a:r>
              <a:rPr lang="en-US" sz="950" b="1" dirty="0">
                <a:solidFill>
                  <a:srgbClr val="F4CAB8"/>
                </a:solidFill>
                <a:latin typeface="Montserrat Bold" pitchFamily="34" charset="0"/>
                <a:ea typeface="Montserrat Bold" pitchFamily="34" charset="-122"/>
                <a:cs typeface="Montserrat Bold" pitchFamily="34" charset="-120"/>
              </a:rPr>
              <a:t>Houston Hub leads with 6,873 total orders but also has the highest delayed count (1,570), indicating a significant bottleneck</a:t>
            </a:r>
            <a:endParaRPr lang="en-US" sz="950" dirty="0"/>
          </a:p>
          <a:p>
            <a:pPr marL="193040" indent="-193040" algn="l">
              <a:lnSpc>
                <a:spcPct val="129000"/>
              </a:lnSpc>
              <a:buSzPct val="100000"/>
              <a:buChar char="•"/>
            </a:pPr>
            <a:r>
              <a:rPr lang="en-US" sz="950" b="1" dirty="0">
                <a:solidFill>
                  <a:srgbClr val="F4CAB8"/>
                </a:solidFill>
                <a:latin typeface="Montserrat Bold" pitchFamily="34" charset="0"/>
                <a:ea typeface="Montserrat Bold" pitchFamily="34" charset="-122"/>
                <a:cs typeface="Montserrat Bold" pitchFamily="34" charset="-120"/>
              </a:rPr>
              <a:t>San Antonio Hub has the smallest operation (962 orders)</a:t>
            </a:r>
            <a:endParaRPr lang="en-US" sz="950" dirty="0"/>
          </a:p>
        </p:txBody>
      </p:sp>
      <p:sp>
        <p:nvSpPr>
          <p:cNvPr id="5" name="Shape 3"/>
          <p:cNvSpPr/>
          <p:nvPr/>
        </p:nvSpPr>
        <p:spPr>
          <a:xfrm>
            <a:off x="458969" y="2243028"/>
            <a:ext cx="6644089" cy="661376"/>
          </a:xfrm>
          <a:prstGeom prst="roundRect">
            <a:avLst>
              <a:gd name="adj" fmla="val 2788"/>
            </a:avLst>
          </a:prstGeom>
          <a:solidFill>
            <a:srgbClr val="F4CAB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581865" y="2415095"/>
            <a:ext cx="153666" cy="122896"/>
          </a:xfrm>
          <a:prstGeom prst="rect">
            <a:avLst/>
          </a:prstGeom>
        </p:spPr>
      </p:pic>
      <p:sp>
        <p:nvSpPr>
          <p:cNvPr id="7" name="Text 4"/>
          <p:cNvSpPr/>
          <p:nvPr/>
        </p:nvSpPr>
        <p:spPr>
          <a:xfrm>
            <a:off x="858427" y="2388940"/>
            <a:ext cx="6121734" cy="381059"/>
          </a:xfrm>
          <a:prstGeom prst="rect">
            <a:avLst/>
          </a:prstGeom>
          <a:noFill/>
          <a:ln/>
        </p:spPr>
        <p:txBody>
          <a:bodyPr wrap="square" lIns="0" tIns="0" rIns="0" bIns="0" rtlCol="0" anchor="t">
            <a:normAutofit/>
          </a:bodyPr>
          <a:lstStyle/>
          <a:p>
            <a:pPr marL="0" indent="0" algn="l">
              <a:lnSpc>
                <a:spcPct val="129000"/>
              </a:lnSpc>
              <a:buNone/>
            </a:pPr>
            <a:r>
              <a:rPr lang="en-US" sz="950" b="1" dirty="0">
                <a:solidFill>
                  <a:srgbClr val="000000"/>
                </a:solidFill>
                <a:latin typeface="Montserrat Bold" pitchFamily="34" charset="0"/>
                <a:ea typeface="Montserrat Bold" pitchFamily="34" charset="-122"/>
                <a:cs typeface="Montserrat Bold" pitchFamily="34" charset="-120"/>
              </a:rPr>
              <a:t>Key Insight: Houston and Dallas are struggling with delay management despite high order volumes, suggesting capacity or operational efficiency issues.</a:t>
            </a:r>
            <a:endParaRPr lang="en-US" sz="950" dirty="0"/>
          </a:p>
        </p:txBody>
      </p:sp>
      <p:pic>
        <p:nvPicPr>
          <p:cNvPr id="8" name="Image 1" descr="preencoded.png"/>
          <p:cNvPicPr>
            <a:picLocks noChangeAspect="1"/>
          </p:cNvPicPr>
          <p:nvPr/>
        </p:nvPicPr>
        <p:blipFill>
          <a:blip r:embed="rId4"/>
          <a:stretch>
            <a:fillRect/>
          </a:stretch>
        </p:blipFill>
        <p:spPr>
          <a:xfrm>
            <a:off x="1192469" y="3034007"/>
            <a:ext cx="5177089" cy="2895172"/>
          </a:xfrm>
          <a:prstGeom prst="rect">
            <a:avLst/>
          </a:prstGeom>
        </p:spPr>
      </p:pic>
      <p:sp>
        <p:nvSpPr>
          <p:cNvPr id="9" name="Text 5"/>
          <p:cNvSpPr/>
          <p:nvPr/>
        </p:nvSpPr>
        <p:spPr>
          <a:xfrm>
            <a:off x="458969" y="6058784"/>
            <a:ext cx="6644089" cy="510663"/>
          </a:xfrm>
          <a:prstGeom prst="rect">
            <a:avLst/>
          </a:prstGeom>
          <a:noFill/>
          <a:ln/>
        </p:spPr>
        <p:txBody>
          <a:bodyPr wrap="square" lIns="0" tIns="0" rIns="0" bIns="0" rtlCol="0" anchor="t"/>
          <a:lstStyle/>
          <a:p>
            <a:pPr marL="0" indent="0" algn="l">
              <a:lnSpc>
                <a:spcPct val="129000"/>
              </a:lnSpc>
              <a:spcAft>
                <a:spcPts val="1000"/>
              </a:spcAft>
              <a:buNone/>
            </a:pPr>
            <a:r>
              <a:rPr lang="en-US" sz="950" b="1" dirty="0">
                <a:solidFill>
                  <a:srgbClr val="F4CAB8"/>
                </a:solidFill>
                <a:latin typeface="Montserrat Bold" pitchFamily="34" charset="0"/>
                <a:ea typeface="Montserrat Bold" pitchFamily="34" charset="-122"/>
                <a:cs typeface="Montserrat Bold" pitchFamily="34" charset="-120"/>
              </a:rPr>
              <a:t>CSAT Performance by Driver</a:t>
            </a:r>
            <a:endParaRPr lang="en-US" sz="950" dirty="0"/>
          </a:p>
          <a:p>
            <a:pPr marL="0" indent="0" algn="l">
              <a:lnSpc>
                <a:spcPct val="129000"/>
              </a:lnSpc>
              <a:buNone/>
            </a:pPr>
            <a:r>
              <a:rPr lang="en-US" sz="950" b="1" dirty="0">
                <a:solidFill>
                  <a:srgbClr val="F4CAB8"/>
                </a:solidFill>
                <a:latin typeface="Montserrat Bold" pitchFamily="34" charset="0"/>
                <a:ea typeface="Montserrat Bold" pitchFamily="34" charset="-122"/>
                <a:cs typeface="Montserrat Bold" pitchFamily="34" charset="-120"/>
              </a:rPr>
              <a:t>The bar chart on the right displays Average CSAT Score and YOE (Years of Experience) by driver name:</a:t>
            </a:r>
            <a:endParaRPr lang="en-US" sz="950" dirty="0"/>
          </a:p>
        </p:txBody>
      </p:sp>
      <p:sp>
        <p:nvSpPr>
          <p:cNvPr id="10" name="Text 6"/>
          <p:cNvSpPr/>
          <p:nvPr/>
        </p:nvSpPr>
        <p:spPr>
          <a:xfrm>
            <a:off x="458969" y="6699051"/>
            <a:ext cx="6644089" cy="1033265"/>
          </a:xfrm>
          <a:prstGeom prst="rect">
            <a:avLst/>
          </a:prstGeom>
          <a:noFill/>
          <a:ln/>
        </p:spPr>
        <p:txBody>
          <a:bodyPr wrap="square" lIns="0" tIns="0" rIns="0" bIns="0" rtlCol="0" anchor="t">
            <a:normAutofit/>
          </a:bodyPr>
          <a:lstStyle/>
          <a:p>
            <a:pPr marL="193040" indent="-193040" algn="l">
              <a:lnSpc>
                <a:spcPct val="129000"/>
              </a:lnSpc>
              <a:buSzPct val="100000"/>
              <a:buChar char="•"/>
            </a:pPr>
            <a:r>
              <a:rPr lang="en-US" sz="950" b="1" dirty="0">
                <a:solidFill>
                  <a:srgbClr val="F4CAB8"/>
                </a:solidFill>
                <a:latin typeface="Montserrat Bold" pitchFamily="34" charset="0"/>
                <a:ea typeface="Montserrat Bold" pitchFamily="34" charset="-122"/>
                <a:cs typeface="Montserrat Bold" pitchFamily="34" charset="-120"/>
              </a:rPr>
              <a:t>Across the listed drivers, average CSAT scores remain strong (around 4.47 to 4.51) when orders are delivered on time.</a:t>
            </a:r>
            <a:endParaRPr lang="en-US" sz="950" dirty="0"/>
          </a:p>
          <a:p>
            <a:pPr marL="193040" indent="-193040" algn="l">
              <a:lnSpc>
                <a:spcPct val="129000"/>
              </a:lnSpc>
              <a:buSzPct val="100000"/>
              <a:buChar char="•"/>
            </a:pPr>
            <a:r>
              <a:rPr lang="en-US" sz="950" b="1" dirty="0">
                <a:solidFill>
                  <a:srgbClr val="F4CAB8"/>
                </a:solidFill>
                <a:latin typeface="Montserrat Bold" pitchFamily="34" charset="0"/>
                <a:ea typeface="Montserrat Bold" pitchFamily="34" charset="-122"/>
                <a:cs typeface="Montserrat Bold" pitchFamily="34" charset="-120"/>
              </a:rPr>
              <a:t> However, when an order is delayed, those scores drop significantly (down to approximately 2.91 to 3.04).</a:t>
            </a:r>
            <a:endParaRPr lang="en-US" sz="950" dirty="0"/>
          </a:p>
          <a:p>
            <a:pPr marL="193040" indent="-193040" algn="l">
              <a:lnSpc>
                <a:spcPct val="129000"/>
              </a:lnSpc>
              <a:buSzPct val="100000"/>
              <a:buChar char="•"/>
            </a:pPr>
            <a:r>
              <a:rPr lang="en-US" sz="950" b="1" dirty="0">
                <a:solidFill>
                  <a:srgbClr val="F4CAB8"/>
                </a:solidFill>
                <a:latin typeface="Montserrat Bold" pitchFamily="34" charset="0"/>
                <a:ea typeface="Montserrat Bold" pitchFamily="34" charset="-122"/>
                <a:cs typeface="Montserrat Bold" pitchFamily="34" charset="-120"/>
              </a:rPr>
              <a:t>Experience levels don't appear to directly correlate with CSAT scores</a:t>
            </a:r>
            <a:endParaRPr lang="en-US" sz="950" dirty="0"/>
          </a:p>
        </p:txBody>
      </p:sp>
      <p:sp>
        <p:nvSpPr>
          <p:cNvPr id="11" name="Shape 7"/>
          <p:cNvSpPr/>
          <p:nvPr/>
        </p:nvSpPr>
        <p:spPr>
          <a:xfrm>
            <a:off x="458969" y="7861920"/>
            <a:ext cx="6644089" cy="470846"/>
          </a:xfrm>
          <a:prstGeom prst="roundRect">
            <a:avLst>
              <a:gd name="adj" fmla="val 3917"/>
            </a:avLst>
          </a:prstGeom>
          <a:solidFill>
            <a:srgbClr val="F4CAB8"/>
          </a:solidFill>
          <a:ln/>
        </p:spPr>
        <p:txBody>
          <a:bodyPr/>
          <a:lstStyle/>
          <a:p>
            <a:endParaRPr lang="en-US"/>
          </a:p>
        </p:txBody>
      </p:sp>
      <p:pic>
        <p:nvPicPr>
          <p:cNvPr id="12" name="Image 2" descr="preencoded.png"/>
          <p:cNvPicPr>
            <a:picLocks noChangeAspect="1"/>
          </p:cNvPicPr>
          <p:nvPr/>
        </p:nvPicPr>
        <p:blipFill>
          <a:blip r:embed="rId3"/>
          <a:stretch>
            <a:fillRect/>
          </a:stretch>
        </p:blipFill>
        <p:spPr>
          <a:xfrm>
            <a:off x="581865" y="8033987"/>
            <a:ext cx="153666" cy="122896"/>
          </a:xfrm>
          <a:prstGeom prst="rect">
            <a:avLst/>
          </a:prstGeom>
        </p:spPr>
      </p:pic>
      <p:sp>
        <p:nvSpPr>
          <p:cNvPr id="13" name="Text 8"/>
          <p:cNvSpPr/>
          <p:nvPr/>
        </p:nvSpPr>
        <p:spPr>
          <a:xfrm>
            <a:off x="858427" y="8007832"/>
            <a:ext cx="6499839" cy="190529"/>
          </a:xfrm>
          <a:prstGeom prst="rect">
            <a:avLst/>
          </a:prstGeom>
          <a:noFill/>
          <a:ln/>
        </p:spPr>
        <p:txBody>
          <a:bodyPr wrap="none" lIns="0" tIns="0" rIns="0" bIns="0" rtlCol="0" anchor="t"/>
          <a:lstStyle/>
          <a:p>
            <a:pPr marL="0" indent="0" algn="l">
              <a:lnSpc>
                <a:spcPct val="129000"/>
              </a:lnSpc>
              <a:buNone/>
            </a:pPr>
            <a:r>
              <a:rPr lang="en-US" sz="950" b="1" dirty="0">
                <a:solidFill>
                  <a:srgbClr val="000000"/>
                </a:solidFill>
                <a:latin typeface="Montserrat Bold" pitchFamily="34" charset="0"/>
                <a:ea typeface="Montserrat Bold" pitchFamily="34" charset="-122"/>
                <a:cs typeface="Montserrat Bold" pitchFamily="34" charset="-120"/>
              </a:rPr>
              <a:t>Key Insight: Driver Experience alone doesn't guarantee customer satisfaction.</a:t>
            </a:r>
            <a:endParaRPr lang="en-US" sz="950" dirty="0"/>
          </a:p>
        </p:txBody>
      </p:sp>
      <p:sp>
        <p:nvSpPr>
          <p:cNvPr id="14" name="Text 9"/>
          <p:cNvSpPr/>
          <p:nvPr/>
        </p:nvSpPr>
        <p:spPr>
          <a:xfrm>
            <a:off x="458969" y="8462370"/>
            <a:ext cx="6644089" cy="891722"/>
          </a:xfrm>
          <a:prstGeom prst="rect">
            <a:avLst/>
          </a:prstGeom>
          <a:noFill/>
          <a:ln/>
        </p:spPr>
        <p:txBody>
          <a:bodyPr wrap="square" lIns="0" tIns="0" rIns="0" bIns="0" rtlCol="0" anchor="t"/>
          <a:lstStyle/>
          <a:p>
            <a:pPr marL="0" indent="0" algn="l">
              <a:lnSpc>
                <a:spcPct val="129000"/>
              </a:lnSpc>
              <a:spcAft>
                <a:spcPts val="1000"/>
              </a:spcAft>
              <a:buNone/>
            </a:pPr>
            <a:r>
              <a:rPr lang="en-US" sz="950" b="1" dirty="0">
                <a:solidFill>
                  <a:srgbClr val="F4CAB8"/>
                </a:solidFill>
                <a:latin typeface="Montserrat Bold" pitchFamily="34" charset="0"/>
                <a:ea typeface="Montserrat Bold" pitchFamily="34" charset="-122"/>
                <a:cs typeface="Montserrat Bold" pitchFamily="34" charset="-120"/>
              </a:rPr>
              <a:t>Overall CSAT Score: 84.4%</a:t>
            </a:r>
            <a:endParaRPr lang="en-US" sz="950" dirty="0"/>
          </a:p>
          <a:p>
            <a:pPr marL="0" indent="0" algn="l">
              <a:lnSpc>
                <a:spcPct val="129000"/>
              </a:lnSpc>
              <a:buNone/>
            </a:pPr>
            <a:r>
              <a:rPr lang="en-US" sz="950" b="1" dirty="0">
                <a:solidFill>
                  <a:srgbClr val="F4CAB8"/>
                </a:solidFill>
                <a:latin typeface="Montserrat Bold" pitchFamily="34" charset="0"/>
                <a:ea typeface="Montserrat Bold" pitchFamily="34" charset="-122"/>
                <a:cs typeface="Montserrat Bold" pitchFamily="34" charset="-120"/>
              </a:rPr>
              <a:t>The gauge chart shows that 84.4% of orders resulted in satisfied customers, which is solid but leaves room for improvement. Given the high delay rates in major hubs, this suggests customers are somewhat tolerant, but further improvements could push satisfaction higher.</a:t>
            </a:r>
            <a:endParaRPr lang="en-US" sz="950" dirty="0"/>
          </a:p>
        </p:txBody>
      </p:sp>
      <p:sp>
        <p:nvSpPr>
          <p:cNvPr id="15" name="Shape 10"/>
          <p:cNvSpPr/>
          <p:nvPr/>
        </p:nvSpPr>
        <p:spPr>
          <a:xfrm>
            <a:off x="458969" y="9483696"/>
            <a:ext cx="15754" cy="640206"/>
          </a:xfrm>
          <a:prstGeom prst="roundRect">
            <a:avLst>
              <a:gd name="adj" fmla="val 60001"/>
            </a:avLst>
          </a:prstGeom>
          <a:solidFill>
            <a:srgbClr val="FFB393"/>
          </a:solidFill>
          <a:ln/>
        </p:spPr>
        <p:txBody>
          <a:bodyPr/>
          <a:lstStyle/>
          <a:p>
            <a:endParaRPr lang="en-US"/>
          </a:p>
        </p:txBody>
      </p:sp>
      <p:sp>
        <p:nvSpPr>
          <p:cNvPr id="16" name="Text 11"/>
          <p:cNvSpPr/>
          <p:nvPr/>
        </p:nvSpPr>
        <p:spPr>
          <a:xfrm>
            <a:off x="643344" y="9613301"/>
            <a:ext cx="6459714" cy="381059"/>
          </a:xfrm>
          <a:prstGeom prst="rect">
            <a:avLst/>
          </a:prstGeom>
          <a:noFill/>
          <a:ln/>
        </p:spPr>
        <p:txBody>
          <a:bodyPr wrap="square" lIns="0" tIns="0" rIns="0" bIns="0" rtlCol="0" anchor="t">
            <a:normAutofit/>
          </a:bodyPr>
          <a:lstStyle/>
          <a:p>
            <a:pPr marL="0" indent="0" algn="l">
              <a:lnSpc>
                <a:spcPct val="129000"/>
              </a:lnSpc>
              <a:buNone/>
            </a:pPr>
            <a:r>
              <a:rPr lang="en-US" sz="950" b="1" dirty="0">
                <a:solidFill>
                  <a:srgbClr val="F4CAB8"/>
                </a:solidFill>
                <a:latin typeface="Montserrat Bold" pitchFamily="34" charset="0"/>
                <a:ea typeface="Montserrat Bold" pitchFamily="34" charset="-122"/>
                <a:cs typeface="Montserrat Bold" pitchFamily="34" charset="-120"/>
              </a:rPr>
              <a:t>Strategic Takeaway: Focus operational improvements on Houston and Dallas hubs to reduce delays and boost the overall CSAT score above 85%.</a:t>
            </a:r>
            <a:endParaRPr lang="en-US" sz="950" dirty="0"/>
          </a:p>
        </p:txBody>
      </p:sp>
      <p:sp>
        <p:nvSpPr>
          <p:cNvPr id="17" name="TextBox 16">
            <a:extLst>
              <a:ext uri="{FF2B5EF4-FFF2-40B4-BE49-F238E27FC236}">
                <a16:creationId xmlns:a16="http://schemas.microsoft.com/office/drawing/2014/main" id="{64AF9359-1302-032A-6B3E-1D9E70132511}"/>
              </a:ext>
            </a:extLst>
          </p:cNvPr>
          <p:cNvSpPr txBox="1"/>
          <p:nvPr/>
        </p:nvSpPr>
        <p:spPr>
          <a:xfrm>
            <a:off x="7106367" y="10068903"/>
            <a:ext cx="582689" cy="369332"/>
          </a:xfrm>
          <a:prstGeom prst="rect">
            <a:avLst/>
          </a:prstGeom>
          <a:noFill/>
        </p:spPr>
        <p:txBody>
          <a:bodyPr wrap="square" rtlCol="0">
            <a:spAutoFit/>
          </a:bodyPr>
          <a:lstStyle/>
          <a:p>
            <a:fld id="{4F7E7018-BADE-4934-BD0E-8F875BA2601D}" type="slidenum">
              <a:rPr lang="en-US" smtClean="0">
                <a:solidFill>
                  <a:srgbClr val="F4CAB8"/>
                </a:solidFill>
                <a:latin typeface="Brygada 1918" pitchFamily="2" charset="0"/>
                <a:ea typeface="Brygada 1918" pitchFamily="2" charset="0"/>
              </a:rPr>
              <a:t>9</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8969" y="360566"/>
            <a:ext cx="6820033" cy="437061"/>
          </a:xfrm>
          <a:prstGeom prst="rect">
            <a:avLst/>
          </a:prstGeom>
          <a:noFill/>
          <a:ln/>
        </p:spPr>
        <p:txBody>
          <a:bodyPr wrap="none" lIns="0" tIns="0" rIns="0" bIns="0" rtlCol="0" anchor="t"/>
          <a:lstStyle/>
          <a:p>
            <a:pPr marL="0" indent="0" algn="l">
              <a:lnSpc>
                <a:spcPct val="104000"/>
              </a:lnSpc>
              <a:buNone/>
            </a:pPr>
            <a:r>
              <a:rPr lang="en-US" sz="2750" b="1" dirty="0">
                <a:solidFill>
                  <a:srgbClr val="FFB393"/>
                </a:solidFill>
                <a:latin typeface="Brygada 1918 Bold" pitchFamily="34" charset="0"/>
                <a:ea typeface="Brygada 1918 Bold" pitchFamily="34" charset="-122"/>
                <a:cs typeface="Brygada 1918 Bold" pitchFamily="34" charset="-120"/>
              </a:rPr>
              <a:t>Logistics Decomposition Tree Analysis</a:t>
            </a:r>
            <a:endParaRPr lang="en-US" sz="2750" dirty="0"/>
          </a:p>
        </p:txBody>
      </p:sp>
      <p:sp>
        <p:nvSpPr>
          <p:cNvPr id="3" name="Text 1"/>
          <p:cNvSpPr/>
          <p:nvPr/>
        </p:nvSpPr>
        <p:spPr>
          <a:xfrm>
            <a:off x="458969" y="1059850"/>
            <a:ext cx="6644089"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This dashboard features a </a:t>
            </a:r>
            <a:r>
              <a:rPr lang="en-US" sz="1000" b="1" dirty="0">
                <a:solidFill>
                  <a:srgbClr val="F4CAB8"/>
                </a:solidFill>
                <a:latin typeface="Montserrat Bold" pitchFamily="34" charset="0"/>
                <a:ea typeface="Montserrat Bold" pitchFamily="34" charset="-122"/>
                <a:cs typeface="Montserrat Bold" pitchFamily="34" charset="-120"/>
              </a:rPr>
              <a:t>Decomposition Tree</a:t>
            </a:r>
            <a:r>
              <a:rPr lang="en-US" sz="1000" dirty="0">
                <a:solidFill>
                  <a:srgbClr val="F4CAB8"/>
                </a:solidFill>
                <a:latin typeface="Montserrat Medium" pitchFamily="34" charset="0"/>
                <a:ea typeface="Montserrat Medium" pitchFamily="34" charset="-122"/>
                <a:cs typeface="Montserrat Medium" pitchFamily="34" charset="-120"/>
              </a:rPr>
              <a:t> visual, which is used to break down </a:t>
            </a:r>
            <a:r>
              <a:rPr lang="en-US" sz="1000" b="1" dirty="0">
                <a:solidFill>
                  <a:srgbClr val="F4CAB8"/>
                </a:solidFill>
                <a:latin typeface="Montserrat Bold" pitchFamily="34" charset="0"/>
                <a:ea typeface="Montserrat Bold" pitchFamily="34" charset="-122"/>
                <a:cs typeface="Montserrat Bold" pitchFamily="34" charset="-120"/>
              </a:rPr>
              <a:t>Total Orders (25,852)</a:t>
            </a:r>
            <a:r>
              <a:rPr lang="en-US" sz="1000" dirty="0">
                <a:solidFill>
                  <a:srgbClr val="F4CAB8"/>
                </a:solidFill>
                <a:latin typeface="Montserrat Medium" pitchFamily="34" charset="0"/>
                <a:ea typeface="Montserrat Medium" pitchFamily="34" charset="-122"/>
                <a:cs typeface="Montserrat Medium" pitchFamily="34" charset="-120"/>
              </a:rPr>
              <a:t> into subcategories to analyse distribution and drill down into specific scenarios.</a:t>
            </a:r>
            <a:endParaRPr lang="en-US" sz="1000" dirty="0"/>
          </a:p>
        </p:txBody>
      </p:sp>
      <p:sp>
        <p:nvSpPr>
          <p:cNvPr id="4" name="Text 2"/>
          <p:cNvSpPr/>
          <p:nvPr/>
        </p:nvSpPr>
        <p:spPr>
          <a:xfrm>
            <a:off x="458969" y="1676117"/>
            <a:ext cx="3254381"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Highlighted Drill-Down Path</a:t>
            </a:r>
            <a:endParaRPr lang="en-US" sz="1650" dirty="0"/>
          </a:p>
        </p:txBody>
      </p:sp>
      <p:sp>
        <p:nvSpPr>
          <p:cNvPr id="5" name="Text 3"/>
          <p:cNvSpPr/>
          <p:nvPr/>
        </p:nvSpPr>
        <p:spPr>
          <a:xfrm>
            <a:off x="458969" y="2135024"/>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The current view traces a step-by-step path through the data hierarchy:</a:t>
            </a:r>
            <a:endParaRPr lang="en-US" sz="1000" dirty="0"/>
          </a:p>
        </p:txBody>
      </p:sp>
      <p:sp>
        <p:nvSpPr>
          <p:cNvPr id="6" name="Text 4"/>
          <p:cNvSpPr/>
          <p:nvPr/>
        </p:nvSpPr>
        <p:spPr>
          <a:xfrm>
            <a:off x="458969" y="2492328"/>
            <a:ext cx="6644089" cy="1861723"/>
          </a:xfrm>
          <a:prstGeom prst="rect">
            <a:avLst/>
          </a:prstGeom>
          <a:noFill/>
          <a:ln/>
        </p:spPr>
        <p:txBody>
          <a:bodyPr wrap="square" lIns="0" tIns="0" rIns="0" bIns="0" rtlCol="0" anchor="t">
            <a:normAutofit/>
          </a:bodyPr>
          <a:lstStyle/>
          <a:p>
            <a:pPr marL="203200" indent="-203200" algn="l">
              <a:lnSpc>
                <a:spcPct val="133000"/>
              </a:lnSpc>
              <a:buSzPct val="100000"/>
              <a:buChar char="•"/>
            </a:pPr>
            <a:r>
              <a:rPr lang="en-US" sz="1000" b="1" dirty="0">
                <a:solidFill>
                  <a:srgbClr val="F4CAB8"/>
                </a:solidFill>
                <a:latin typeface="Montserrat Bold" pitchFamily="34" charset="0"/>
                <a:ea typeface="Montserrat Bold" pitchFamily="34" charset="-122"/>
                <a:cs typeface="Montserrat Bold" pitchFamily="34" charset="-120"/>
              </a:rPr>
              <a:t>Hub Name:</a:t>
            </a:r>
            <a:r>
              <a:rPr lang="en-US" sz="1000" dirty="0">
                <a:solidFill>
                  <a:srgbClr val="F4CAB8"/>
                </a:solidFill>
                <a:latin typeface="Montserrat Medium" pitchFamily="34" charset="0"/>
                <a:ea typeface="Montserrat Medium" pitchFamily="34" charset="-122"/>
                <a:cs typeface="Montserrat Medium" pitchFamily="34" charset="-120"/>
              </a:rPr>
              <a:t> Starts with the </a:t>
            </a:r>
            <a:r>
              <a:rPr lang="en-US" sz="1000" b="1" dirty="0">
                <a:solidFill>
                  <a:srgbClr val="F4CAB8"/>
                </a:solidFill>
                <a:latin typeface="Montserrat Bold" pitchFamily="34" charset="0"/>
                <a:ea typeface="Montserrat Bold" pitchFamily="34" charset="-122"/>
                <a:cs typeface="Montserrat Bold" pitchFamily="34" charset="-120"/>
              </a:rPr>
              <a:t>Houston Hub</a:t>
            </a:r>
            <a:r>
              <a:rPr lang="en-US" sz="1000" dirty="0">
                <a:solidFill>
                  <a:srgbClr val="F4CAB8"/>
                </a:solidFill>
                <a:latin typeface="Montserrat Medium" pitchFamily="34" charset="0"/>
                <a:ea typeface="Montserrat Medium" pitchFamily="34" charset="-122"/>
                <a:cs typeface="Montserrat Medium" pitchFamily="34" charset="-120"/>
              </a:rPr>
              <a:t>, which accounts for 6,875 of the total orders.</a:t>
            </a:r>
            <a:endParaRPr lang="en-US" sz="1000" dirty="0"/>
          </a:p>
          <a:p>
            <a:pPr marL="203200" indent="-203200" algn="l">
              <a:lnSpc>
                <a:spcPct val="133000"/>
              </a:lnSpc>
              <a:buSzPct val="100000"/>
              <a:buChar char="•"/>
            </a:pPr>
            <a:r>
              <a:rPr lang="en-US" sz="1000" b="1" dirty="0">
                <a:solidFill>
                  <a:srgbClr val="F4CAB8"/>
                </a:solidFill>
                <a:latin typeface="Montserrat Bold" pitchFamily="34" charset="0"/>
                <a:ea typeface="Montserrat Bold" pitchFamily="34" charset="-122"/>
                <a:cs typeface="Montserrat Bold" pitchFamily="34" charset="-120"/>
              </a:rPr>
              <a:t>Employment Type:</a:t>
            </a:r>
            <a:r>
              <a:rPr lang="en-US" sz="1000" dirty="0">
                <a:solidFill>
                  <a:srgbClr val="F4CAB8"/>
                </a:solidFill>
                <a:latin typeface="Montserrat Medium" pitchFamily="34" charset="0"/>
                <a:ea typeface="Montserrat Medium" pitchFamily="34" charset="-122"/>
                <a:cs typeface="Montserrat Medium" pitchFamily="34" charset="-120"/>
              </a:rPr>
              <a:t> The orders split between </a:t>
            </a:r>
            <a:r>
              <a:rPr lang="en-US" sz="1000" b="1" dirty="0">
                <a:solidFill>
                  <a:srgbClr val="F4CAB8"/>
                </a:solidFill>
                <a:latin typeface="Montserrat Bold" pitchFamily="34" charset="0"/>
                <a:ea typeface="Montserrat Bold" pitchFamily="34" charset="-122"/>
                <a:cs typeface="Montserrat Bold" pitchFamily="34" charset="-120"/>
              </a:rPr>
              <a:t>Full-time</a:t>
            </a:r>
            <a:r>
              <a:rPr lang="en-US" sz="1000" dirty="0">
                <a:solidFill>
                  <a:srgbClr val="F4CAB8"/>
                </a:solidFill>
                <a:latin typeface="Montserrat Medium" pitchFamily="34" charset="0"/>
                <a:ea typeface="Montserrat Medium" pitchFamily="34" charset="-122"/>
                <a:cs typeface="Montserrat Medium" pitchFamily="34" charset="-120"/>
              </a:rPr>
              <a:t> </a:t>
            </a:r>
            <a:r>
              <a:rPr lang="en-US" sz="1000" b="1" dirty="0">
                <a:solidFill>
                  <a:srgbClr val="F4CAB8"/>
                </a:solidFill>
                <a:latin typeface="Montserrat Bold" pitchFamily="34" charset="0"/>
                <a:ea typeface="Montserrat Bold" pitchFamily="34" charset="-122"/>
                <a:cs typeface="Montserrat Bold" pitchFamily="34" charset="-120"/>
              </a:rPr>
              <a:t>(5,633)</a:t>
            </a:r>
            <a:r>
              <a:rPr lang="en-US" sz="1000" dirty="0">
                <a:solidFill>
                  <a:srgbClr val="F4CAB8"/>
                </a:solidFill>
                <a:latin typeface="Montserrat Medium" pitchFamily="34" charset="0"/>
                <a:ea typeface="Montserrat Medium" pitchFamily="34" charset="-122"/>
                <a:cs typeface="Montserrat Medium" pitchFamily="34" charset="-120"/>
              </a:rPr>
              <a:t> and </a:t>
            </a:r>
            <a:r>
              <a:rPr lang="en-US" sz="1000" b="1" dirty="0">
                <a:solidFill>
                  <a:srgbClr val="F4CAB8"/>
                </a:solidFill>
                <a:latin typeface="Montserrat Bold" pitchFamily="34" charset="0"/>
                <a:ea typeface="Montserrat Bold" pitchFamily="34" charset="-122"/>
                <a:cs typeface="Montserrat Bold" pitchFamily="34" charset="-120"/>
              </a:rPr>
              <a:t>Part-time (1,242)</a:t>
            </a:r>
            <a:r>
              <a:rPr lang="en-US" sz="1000" dirty="0">
                <a:solidFill>
                  <a:srgbClr val="F4CAB8"/>
                </a:solidFill>
                <a:latin typeface="Montserrat Medium" pitchFamily="34" charset="0"/>
                <a:ea typeface="Montserrat Medium" pitchFamily="34" charset="-122"/>
                <a:cs typeface="Montserrat Medium" pitchFamily="34" charset="-120"/>
              </a:rPr>
              <a:t> drivers. The tree follows the Part-time branch.</a:t>
            </a:r>
            <a:endParaRPr lang="en-US" sz="1000" dirty="0"/>
          </a:p>
          <a:p>
            <a:pPr marL="203200" indent="-203200" algn="l">
              <a:lnSpc>
                <a:spcPct val="133000"/>
              </a:lnSpc>
              <a:buSzPct val="100000"/>
              <a:buChar char="•"/>
            </a:pPr>
            <a:r>
              <a:rPr lang="en-US" sz="1000" b="1" dirty="0">
                <a:solidFill>
                  <a:srgbClr val="F4CAB8"/>
                </a:solidFill>
                <a:latin typeface="Montserrat Bold" pitchFamily="34" charset="0"/>
                <a:ea typeface="Montserrat Bold" pitchFamily="34" charset="-122"/>
                <a:cs typeface="Montserrat Bold" pitchFamily="34" charset="-120"/>
              </a:rPr>
              <a:t>Driver Name:</a:t>
            </a:r>
            <a:r>
              <a:rPr lang="en-US" sz="1000" dirty="0">
                <a:solidFill>
                  <a:srgbClr val="F4CAB8"/>
                </a:solidFill>
                <a:latin typeface="Montserrat Medium" pitchFamily="34" charset="0"/>
                <a:ea typeface="Montserrat Medium" pitchFamily="34" charset="-122"/>
                <a:cs typeface="Montserrat Medium" pitchFamily="34" charset="-120"/>
              </a:rPr>
              <a:t> </a:t>
            </a:r>
            <a:r>
              <a:rPr lang="en-US" sz="1000" b="1" dirty="0">
                <a:solidFill>
                  <a:srgbClr val="F4CAB8"/>
                </a:solidFill>
                <a:latin typeface="Montserrat Bold" pitchFamily="34" charset="0"/>
                <a:ea typeface="Montserrat Bold" pitchFamily="34" charset="-122"/>
                <a:cs typeface="Montserrat Bold" pitchFamily="34" charset="-120"/>
              </a:rPr>
              <a:t>Richard Brown</a:t>
            </a:r>
            <a:r>
              <a:rPr lang="en-US" sz="1000" dirty="0">
                <a:solidFill>
                  <a:srgbClr val="F4CAB8"/>
                </a:solidFill>
                <a:latin typeface="Montserrat Medium" pitchFamily="34" charset="0"/>
                <a:ea typeface="Montserrat Medium" pitchFamily="34" charset="-122"/>
                <a:cs typeface="Montserrat Medium" pitchFamily="34" charset="-120"/>
              </a:rPr>
              <a:t> is highlighted, having handled 424 of those orders.</a:t>
            </a:r>
            <a:endParaRPr lang="en-US" sz="1000" dirty="0"/>
          </a:p>
          <a:p>
            <a:pPr marL="203200" indent="-203200" algn="l">
              <a:lnSpc>
                <a:spcPct val="133000"/>
              </a:lnSpc>
              <a:buSzPct val="100000"/>
              <a:buChar char="•"/>
            </a:pPr>
            <a:r>
              <a:rPr lang="en-US" sz="1000" b="1" dirty="0">
                <a:solidFill>
                  <a:srgbClr val="F4CAB8"/>
                </a:solidFill>
                <a:latin typeface="Montserrat Bold" pitchFamily="34" charset="0"/>
                <a:ea typeface="Montserrat Bold" pitchFamily="34" charset="-122"/>
                <a:cs typeface="Montserrat Bold" pitchFamily="34" charset="-120"/>
              </a:rPr>
              <a:t>Vehicle Model:</a:t>
            </a:r>
            <a:r>
              <a:rPr lang="en-US" sz="1000" dirty="0">
                <a:solidFill>
                  <a:srgbClr val="F4CAB8"/>
                </a:solidFill>
                <a:latin typeface="Montserrat Medium" pitchFamily="34" charset="0"/>
                <a:ea typeface="Montserrat Medium" pitchFamily="34" charset="-122"/>
                <a:cs typeface="Montserrat Medium" pitchFamily="34" charset="-120"/>
              </a:rPr>
              <a:t> Richard Brown's 424 orders are further divided by the vehicle he drove. The path selects the </a:t>
            </a:r>
            <a:r>
              <a:rPr lang="en-US" sz="1000" b="1" dirty="0">
                <a:solidFill>
                  <a:srgbClr val="F4CAB8"/>
                </a:solidFill>
                <a:latin typeface="Montserrat Bold" pitchFamily="34" charset="0"/>
                <a:ea typeface="Montserrat Bold" pitchFamily="34" charset="-122"/>
                <a:cs typeface="Montserrat Bold" pitchFamily="34" charset="-120"/>
              </a:rPr>
              <a:t>Ford Transit</a:t>
            </a:r>
            <a:r>
              <a:rPr lang="en-US" sz="1000" dirty="0">
                <a:solidFill>
                  <a:srgbClr val="F4CAB8"/>
                </a:solidFill>
                <a:latin typeface="Montserrat Medium" pitchFamily="34" charset="0"/>
                <a:ea typeface="Montserrat Medium" pitchFamily="34" charset="-122"/>
                <a:cs typeface="Montserrat Medium" pitchFamily="34" charset="-120"/>
              </a:rPr>
              <a:t> (153 orders).</a:t>
            </a:r>
            <a:endParaRPr lang="en-US" sz="1000" dirty="0"/>
          </a:p>
          <a:p>
            <a:pPr marL="203200" indent="-203200" algn="l">
              <a:lnSpc>
                <a:spcPct val="133000"/>
              </a:lnSpc>
              <a:buSzPct val="100000"/>
              <a:buChar char="•"/>
            </a:pPr>
            <a:r>
              <a:rPr lang="en-US" sz="1000" b="1" dirty="0">
                <a:solidFill>
                  <a:srgbClr val="F4CAB8"/>
                </a:solidFill>
                <a:latin typeface="Montserrat Bold" pitchFamily="34" charset="0"/>
                <a:ea typeface="Montserrat Bold" pitchFamily="34" charset="-122"/>
                <a:cs typeface="Montserrat Bold" pitchFamily="34" charset="-120"/>
              </a:rPr>
              <a:t>Vehicle Status:</a:t>
            </a:r>
            <a:r>
              <a:rPr lang="en-US" sz="1000" dirty="0">
                <a:solidFill>
                  <a:srgbClr val="F4CAB8"/>
                </a:solidFill>
                <a:latin typeface="Montserrat Medium" pitchFamily="34" charset="0"/>
                <a:ea typeface="Montserrat Medium" pitchFamily="34" charset="-122"/>
                <a:cs typeface="Montserrat Medium" pitchFamily="34" charset="-120"/>
              </a:rPr>
              <a:t> The tree shows that 101 orders were associated with </a:t>
            </a:r>
            <a:r>
              <a:rPr lang="en-US" sz="1000" b="1" dirty="0">
                <a:solidFill>
                  <a:srgbClr val="F4CAB8"/>
                </a:solidFill>
                <a:latin typeface="Montserrat Bold" pitchFamily="34" charset="0"/>
                <a:ea typeface="Montserrat Bold" pitchFamily="34" charset="-122"/>
                <a:cs typeface="Montserrat Bold" pitchFamily="34" charset="-120"/>
              </a:rPr>
              <a:t>Active</a:t>
            </a:r>
            <a:r>
              <a:rPr lang="en-US" sz="1000" dirty="0">
                <a:solidFill>
                  <a:srgbClr val="F4CAB8"/>
                </a:solidFill>
                <a:latin typeface="Montserrat Medium" pitchFamily="34" charset="0"/>
                <a:ea typeface="Montserrat Medium" pitchFamily="34" charset="-122"/>
                <a:cs typeface="Montserrat Medium" pitchFamily="34" charset="-120"/>
              </a:rPr>
              <a:t> vehicles, while 52 were </a:t>
            </a:r>
            <a:r>
              <a:rPr lang="en-US" sz="1000" b="1" dirty="0">
                <a:solidFill>
                  <a:srgbClr val="F4CAB8"/>
                </a:solidFill>
                <a:latin typeface="Montserrat Bold" pitchFamily="34" charset="0"/>
                <a:ea typeface="Montserrat Bold" pitchFamily="34" charset="-122"/>
                <a:cs typeface="Montserrat Bold" pitchFamily="34" charset="-120"/>
              </a:rPr>
              <a:t>Maintenance</a:t>
            </a:r>
            <a:r>
              <a:rPr lang="en-US" sz="1000" dirty="0">
                <a:solidFill>
                  <a:srgbClr val="F4CAB8"/>
                </a:solidFill>
                <a:latin typeface="Montserrat Medium" pitchFamily="34" charset="0"/>
                <a:ea typeface="Montserrat Medium" pitchFamily="34" charset="-122"/>
                <a:cs typeface="Montserrat Medium" pitchFamily="34" charset="-120"/>
              </a:rPr>
              <a:t> vehicles.</a:t>
            </a:r>
            <a:endParaRPr lang="en-US" sz="1000" dirty="0"/>
          </a:p>
        </p:txBody>
      </p:sp>
      <p:pic>
        <p:nvPicPr>
          <p:cNvPr id="7" name="Image 0" descr="preencoded.png"/>
          <p:cNvPicPr>
            <a:picLocks noChangeAspect="1"/>
          </p:cNvPicPr>
          <p:nvPr/>
        </p:nvPicPr>
        <p:blipFill>
          <a:blip r:embed="rId3"/>
          <a:stretch>
            <a:fillRect/>
          </a:stretch>
        </p:blipFill>
        <p:spPr>
          <a:xfrm>
            <a:off x="1024587" y="4501563"/>
            <a:ext cx="5512792" cy="3088163"/>
          </a:xfrm>
          <a:prstGeom prst="rect">
            <a:avLst/>
          </a:prstGeom>
        </p:spPr>
      </p:pic>
      <p:sp>
        <p:nvSpPr>
          <p:cNvPr id="8" name="Text 5"/>
          <p:cNvSpPr/>
          <p:nvPr/>
        </p:nvSpPr>
        <p:spPr>
          <a:xfrm>
            <a:off x="458969" y="7786410"/>
            <a:ext cx="2682486"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Strategic Implications </a:t>
            </a:r>
            <a:endParaRPr lang="en-US" sz="1650" dirty="0"/>
          </a:p>
        </p:txBody>
      </p:sp>
      <p:sp>
        <p:nvSpPr>
          <p:cNvPr id="9" name="Shape 6"/>
          <p:cNvSpPr/>
          <p:nvPr/>
        </p:nvSpPr>
        <p:spPr>
          <a:xfrm>
            <a:off x="458969" y="8245317"/>
            <a:ext cx="15754" cy="924338"/>
          </a:xfrm>
          <a:prstGeom prst="roundRect">
            <a:avLst>
              <a:gd name="adj" fmla="val 60001"/>
            </a:avLst>
          </a:prstGeom>
          <a:solidFill>
            <a:srgbClr val="FFB393"/>
          </a:solidFill>
          <a:ln/>
        </p:spPr>
        <p:txBody>
          <a:bodyPr/>
          <a:lstStyle/>
          <a:p>
            <a:endParaRPr lang="en-US"/>
          </a:p>
        </p:txBody>
      </p:sp>
      <p:sp>
        <p:nvSpPr>
          <p:cNvPr id="10" name="Text 7"/>
          <p:cNvSpPr/>
          <p:nvPr/>
        </p:nvSpPr>
        <p:spPr>
          <a:xfrm>
            <a:off x="655652" y="8392830"/>
            <a:ext cx="6447406" cy="62937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This decomposition reveals the interconnection of logistics operations. Changes in one hub affect overall network performance. CSAT scores depend on optimizing all three layers: hubs, drivers, and vehicles.</a:t>
            </a:r>
            <a:endParaRPr lang="en-US" sz="1000" dirty="0"/>
          </a:p>
        </p:txBody>
      </p:sp>
      <p:sp>
        <p:nvSpPr>
          <p:cNvPr id="11" name="TextBox 10">
            <a:extLst>
              <a:ext uri="{FF2B5EF4-FFF2-40B4-BE49-F238E27FC236}">
                <a16:creationId xmlns:a16="http://schemas.microsoft.com/office/drawing/2014/main" id="{5F01550E-7B0B-5AD3-421F-8DDE818238A1}"/>
              </a:ext>
            </a:extLst>
          </p:cNvPr>
          <p:cNvSpPr txBox="1"/>
          <p:nvPr/>
        </p:nvSpPr>
        <p:spPr>
          <a:xfrm>
            <a:off x="6970733" y="10019508"/>
            <a:ext cx="616537" cy="369332"/>
          </a:xfrm>
          <a:prstGeom prst="rect">
            <a:avLst/>
          </a:prstGeom>
          <a:noFill/>
        </p:spPr>
        <p:txBody>
          <a:bodyPr wrap="square" rtlCol="0">
            <a:spAutoFit/>
          </a:bodyPr>
          <a:lstStyle/>
          <a:p>
            <a:fld id="{D8EB1B12-9A90-403B-81C1-1B4F230B2CBD}" type="slidenum">
              <a:rPr lang="en-US" smtClean="0">
                <a:solidFill>
                  <a:srgbClr val="F4CAB8"/>
                </a:solidFill>
                <a:latin typeface="Brygada 1918" pitchFamily="2" charset="0"/>
                <a:ea typeface="Brygada 1918" pitchFamily="2" charset="0"/>
              </a:rPr>
              <a:t>10</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8969" y="360566"/>
            <a:ext cx="6850311" cy="416629"/>
          </a:xfrm>
          <a:prstGeom prst="rect">
            <a:avLst/>
          </a:prstGeom>
          <a:noFill/>
          <a:ln/>
        </p:spPr>
        <p:txBody>
          <a:bodyPr wrap="none" lIns="0" tIns="0" rIns="0" bIns="0" rtlCol="0" anchor="t"/>
          <a:lstStyle/>
          <a:p>
            <a:pPr marL="0" indent="0" algn="l">
              <a:lnSpc>
                <a:spcPct val="104000"/>
              </a:lnSpc>
              <a:buNone/>
            </a:pPr>
            <a:r>
              <a:rPr lang="en-US" sz="2600" b="1" dirty="0">
                <a:solidFill>
                  <a:srgbClr val="FFB393"/>
                </a:solidFill>
                <a:latin typeface="Brygada 1918 Bold" pitchFamily="34" charset="0"/>
                <a:ea typeface="Brygada 1918 Bold" pitchFamily="34" charset="-122"/>
                <a:cs typeface="Brygada 1918 Bold" pitchFamily="34" charset="-120"/>
              </a:rPr>
              <a:t>DAX Metrics: Order Volume Calculations</a:t>
            </a:r>
            <a:endParaRPr lang="en-US" sz="2600" dirty="0"/>
          </a:p>
        </p:txBody>
      </p:sp>
      <p:sp>
        <p:nvSpPr>
          <p:cNvPr id="3" name="Text 1"/>
          <p:cNvSpPr/>
          <p:nvPr/>
        </p:nvSpPr>
        <p:spPr>
          <a:xfrm>
            <a:off x="458969" y="1015418"/>
            <a:ext cx="7022194"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Montserrat Medium" pitchFamily="34" charset="0"/>
                <a:ea typeface="Montserrat Medium" pitchFamily="34" charset="-122"/>
                <a:cs typeface="Montserrat Medium" pitchFamily="34" charset="-120"/>
              </a:rPr>
              <a:t>These measures track order volume across the network and support month-over-month analysis.</a:t>
            </a:r>
            <a:endParaRPr lang="en-US" sz="950" dirty="0"/>
          </a:p>
        </p:txBody>
      </p:sp>
      <p:sp>
        <p:nvSpPr>
          <p:cNvPr id="4" name="Text 2"/>
          <p:cNvSpPr/>
          <p:nvPr/>
        </p:nvSpPr>
        <p:spPr>
          <a:xfrm>
            <a:off x="458969" y="1389338"/>
            <a:ext cx="2377861" cy="249977"/>
          </a:xfrm>
          <a:prstGeom prst="rect">
            <a:avLst/>
          </a:prstGeom>
          <a:noFill/>
          <a:ln/>
        </p:spPr>
        <p:txBody>
          <a:bodyPr wrap="none" lIns="0" tIns="0" rIns="0" bIns="0" rtlCol="0" anchor="t"/>
          <a:lstStyle/>
          <a:p>
            <a:pPr marL="0" indent="0" algn="l">
              <a:lnSpc>
                <a:spcPct val="104000"/>
              </a:lnSpc>
              <a:buNone/>
            </a:pPr>
            <a:r>
              <a:rPr lang="en-US" sz="1550" b="1" dirty="0">
                <a:solidFill>
                  <a:srgbClr val="FFB393"/>
                </a:solidFill>
                <a:latin typeface="Brygada 1918 Bold" pitchFamily="34" charset="0"/>
                <a:ea typeface="Brygada 1918 Bold" pitchFamily="34" charset="-122"/>
                <a:cs typeface="Brygada 1918 Bold" pitchFamily="34" charset="-120"/>
              </a:rPr>
              <a:t>Total Orders</a:t>
            </a:r>
            <a:endParaRPr lang="en-US" sz="1550" dirty="0"/>
          </a:p>
        </p:txBody>
      </p:sp>
      <p:sp>
        <p:nvSpPr>
          <p:cNvPr id="5" name="Shape 3"/>
          <p:cNvSpPr/>
          <p:nvPr/>
        </p:nvSpPr>
        <p:spPr>
          <a:xfrm>
            <a:off x="458969" y="1817967"/>
            <a:ext cx="6644089" cy="445122"/>
          </a:xfrm>
          <a:prstGeom prst="roundRect">
            <a:avLst>
              <a:gd name="adj" fmla="val 4212"/>
            </a:avLst>
          </a:prstGeom>
          <a:solidFill>
            <a:srgbClr val="693145"/>
          </a:solidFill>
          <a:ln/>
        </p:spPr>
        <p:txBody>
          <a:bodyPr/>
          <a:lstStyle/>
          <a:p>
            <a:endParaRPr lang="en-US"/>
          </a:p>
        </p:txBody>
      </p:sp>
      <p:sp>
        <p:nvSpPr>
          <p:cNvPr id="6" name="Shape 4"/>
          <p:cNvSpPr/>
          <p:nvPr/>
        </p:nvSpPr>
        <p:spPr>
          <a:xfrm>
            <a:off x="452753" y="1817967"/>
            <a:ext cx="6656521" cy="445122"/>
          </a:xfrm>
          <a:prstGeom prst="roundRect">
            <a:avLst>
              <a:gd name="adj" fmla="val 4212"/>
            </a:avLst>
          </a:prstGeom>
          <a:solidFill>
            <a:srgbClr val="693145"/>
          </a:solidFill>
          <a:ln/>
        </p:spPr>
        <p:txBody>
          <a:bodyPr/>
          <a:lstStyle/>
          <a:p>
            <a:endParaRPr lang="en-US"/>
          </a:p>
        </p:txBody>
      </p:sp>
      <p:sp>
        <p:nvSpPr>
          <p:cNvPr id="7" name="Text 5"/>
          <p:cNvSpPr/>
          <p:nvPr/>
        </p:nvSpPr>
        <p:spPr>
          <a:xfrm>
            <a:off x="608943" y="1942895"/>
            <a:ext cx="6722246"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Consolas Medium" pitchFamily="34" charset="0"/>
                <a:ea typeface="Consolas Medium" pitchFamily="34" charset="-122"/>
                <a:cs typeface="Consolas Medium" pitchFamily="34" charset="-120"/>
              </a:rPr>
              <a:t>Total Orders = COUNT(Orders[Order ID])</a:t>
            </a:r>
            <a:endParaRPr lang="en-US" sz="950" dirty="0"/>
          </a:p>
        </p:txBody>
      </p:sp>
      <p:sp>
        <p:nvSpPr>
          <p:cNvPr id="8" name="Text 6"/>
          <p:cNvSpPr/>
          <p:nvPr/>
        </p:nvSpPr>
        <p:spPr>
          <a:xfrm>
            <a:off x="458969" y="2397063"/>
            <a:ext cx="7022194"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Montserrat Medium" pitchFamily="34" charset="0"/>
                <a:ea typeface="Montserrat Medium" pitchFamily="34" charset="-122"/>
                <a:cs typeface="Montserrat Medium" pitchFamily="34" charset="-120"/>
              </a:rPr>
              <a:t>Business Meaning: Counts all orders in the dataset, including delivered, delayed, and cancelled orders.</a:t>
            </a:r>
            <a:endParaRPr lang="en-US" sz="950" dirty="0"/>
          </a:p>
        </p:txBody>
      </p:sp>
      <p:sp>
        <p:nvSpPr>
          <p:cNvPr id="9" name="Text 7"/>
          <p:cNvSpPr/>
          <p:nvPr/>
        </p:nvSpPr>
        <p:spPr>
          <a:xfrm>
            <a:off x="458969" y="2770983"/>
            <a:ext cx="3777598" cy="249977"/>
          </a:xfrm>
          <a:prstGeom prst="rect">
            <a:avLst/>
          </a:prstGeom>
          <a:noFill/>
          <a:ln/>
        </p:spPr>
        <p:txBody>
          <a:bodyPr wrap="none" lIns="0" tIns="0" rIns="0" bIns="0" rtlCol="0" anchor="t"/>
          <a:lstStyle/>
          <a:p>
            <a:pPr marL="0" indent="0" algn="l">
              <a:lnSpc>
                <a:spcPct val="104000"/>
              </a:lnSpc>
              <a:buNone/>
            </a:pPr>
            <a:r>
              <a:rPr lang="en-US" sz="1550" b="1" dirty="0">
                <a:solidFill>
                  <a:srgbClr val="FFB393"/>
                </a:solidFill>
                <a:latin typeface="Brygada 1918 Bold" pitchFamily="34" charset="0"/>
                <a:ea typeface="Brygada 1918 Bold" pitchFamily="34" charset="-122"/>
                <a:cs typeface="Brygada 1918 Bold" pitchFamily="34" charset="-120"/>
              </a:rPr>
              <a:t>PM Orders (Previous Month Orders)</a:t>
            </a:r>
            <a:endParaRPr lang="en-US" sz="1550" dirty="0"/>
          </a:p>
        </p:txBody>
      </p:sp>
      <p:sp>
        <p:nvSpPr>
          <p:cNvPr id="10" name="Shape 8"/>
          <p:cNvSpPr/>
          <p:nvPr/>
        </p:nvSpPr>
        <p:spPr>
          <a:xfrm>
            <a:off x="458969" y="3199613"/>
            <a:ext cx="6644089" cy="445122"/>
          </a:xfrm>
          <a:prstGeom prst="roundRect">
            <a:avLst>
              <a:gd name="adj" fmla="val 4212"/>
            </a:avLst>
          </a:prstGeom>
          <a:solidFill>
            <a:srgbClr val="693145"/>
          </a:solidFill>
          <a:ln/>
        </p:spPr>
        <p:txBody>
          <a:bodyPr/>
          <a:lstStyle/>
          <a:p>
            <a:endParaRPr lang="en-US"/>
          </a:p>
        </p:txBody>
      </p:sp>
      <p:sp>
        <p:nvSpPr>
          <p:cNvPr id="11" name="Shape 9"/>
          <p:cNvSpPr/>
          <p:nvPr/>
        </p:nvSpPr>
        <p:spPr>
          <a:xfrm>
            <a:off x="452753" y="3199613"/>
            <a:ext cx="6656521" cy="445122"/>
          </a:xfrm>
          <a:prstGeom prst="roundRect">
            <a:avLst>
              <a:gd name="adj" fmla="val 4212"/>
            </a:avLst>
          </a:prstGeom>
          <a:solidFill>
            <a:srgbClr val="693145"/>
          </a:solidFill>
          <a:ln/>
        </p:spPr>
        <p:txBody>
          <a:bodyPr/>
          <a:lstStyle/>
          <a:p>
            <a:endParaRPr lang="en-US"/>
          </a:p>
        </p:txBody>
      </p:sp>
      <p:sp>
        <p:nvSpPr>
          <p:cNvPr id="12" name="Text 10"/>
          <p:cNvSpPr/>
          <p:nvPr/>
        </p:nvSpPr>
        <p:spPr>
          <a:xfrm>
            <a:off x="608943" y="3324540"/>
            <a:ext cx="6722246"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Consolas Medium" pitchFamily="34" charset="0"/>
                <a:ea typeface="Consolas Medium" pitchFamily="34" charset="-122"/>
                <a:cs typeface="Consolas Medium" pitchFamily="34" charset="-120"/>
              </a:rPr>
              <a:t>PM Orders = CALCULATE([Total Orders], DATEADD('Date Table'[Date], -1, MONTH))</a:t>
            </a:r>
            <a:endParaRPr lang="en-US" sz="950" dirty="0"/>
          </a:p>
        </p:txBody>
      </p:sp>
      <p:sp>
        <p:nvSpPr>
          <p:cNvPr id="13" name="Text 11"/>
          <p:cNvSpPr/>
          <p:nvPr/>
        </p:nvSpPr>
        <p:spPr>
          <a:xfrm>
            <a:off x="458969" y="3778709"/>
            <a:ext cx="6644089" cy="390536"/>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F4CAB8"/>
                </a:solidFill>
                <a:latin typeface="Montserrat Medium" pitchFamily="34" charset="0"/>
                <a:ea typeface="Montserrat Medium" pitchFamily="34" charset="-122"/>
                <a:cs typeface="Montserrat Medium" pitchFamily="34" charset="-120"/>
              </a:rPr>
              <a:t>Business Meaning: Returns the total order count for the previous calendar month. It serves as the comparison base for MoM calculations.</a:t>
            </a:r>
            <a:endParaRPr lang="en-US" sz="950" dirty="0"/>
          </a:p>
        </p:txBody>
      </p:sp>
      <p:sp>
        <p:nvSpPr>
          <p:cNvPr id="14" name="Text 12"/>
          <p:cNvSpPr/>
          <p:nvPr/>
        </p:nvSpPr>
        <p:spPr>
          <a:xfrm>
            <a:off x="458969" y="4347897"/>
            <a:ext cx="2377861" cy="249977"/>
          </a:xfrm>
          <a:prstGeom prst="rect">
            <a:avLst/>
          </a:prstGeom>
          <a:noFill/>
          <a:ln/>
        </p:spPr>
        <p:txBody>
          <a:bodyPr wrap="none" lIns="0" tIns="0" rIns="0" bIns="0" rtlCol="0" anchor="t"/>
          <a:lstStyle/>
          <a:p>
            <a:pPr marL="0" indent="0" algn="l">
              <a:lnSpc>
                <a:spcPct val="104000"/>
              </a:lnSpc>
              <a:buNone/>
            </a:pPr>
            <a:r>
              <a:rPr lang="en-US" sz="1550" b="1" dirty="0">
                <a:solidFill>
                  <a:srgbClr val="FFB393"/>
                </a:solidFill>
                <a:latin typeface="Brygada 1918 Bold" pitchFamily="34" charset="0"/>
                <a:ea typeface="Brygada 1918 Bold" pitchFamily="34" charset="-122"/>
                <a:cs typeface="Brygada 1918 Bold" pitchFamily="34" charset="-120"/>
              </a:rPr>
              <a:t>MoM Orders %</a:t>
            </a:r>
            <a:endParaRPr lang="en-US" sz="1550" dirty="0"/>
          </a:p>
        </p:txBody>
      </p:sp>
      <p:sp>
        <p:nvSpPr>
          <p:cNvPr id="15" name="Shape 13"/>
          <p:cNvSpPr/>
          <p:nvPr/>
        </p:nvSpPr>
        <p:spPr>
          <a:xfrm>
            <a:off x="458969" y="4776526"/>
            <a:ext cx="6644089" cy="445122"/>
          </a:xfrm>
          <a:prstGeom prst="roundRect">
            <a:avLst>
              <a:gd name="adj" fmla="val 4212"/>
            </a:avLst>
          </a:prstGeom>
          <a:solidFill>
            <a:srgbClr val="693145"/>
          </a:solidFill>
          <a:ln/>
        </p:spPr>
        <p:txBody>
          <a:bodyPr/>
          <a:lstStyle/>
          <a:p>
            <a:endParaRPr lang="en-US"/>
          </a:p>
        </p:txBody>
      </p:sp>
      <p:sp>
        <p:nvSpPr>
          <p:cNvPr id="16" name="Shape 14"/>
          <p:cNvSpPr/>
          <p:nvPr/>
        </p:nvSpPr>
        <p:spPr>
          <a:xfrm>
            <a:off x="452753" y="4776526"/>
            <a:ext cx="6656521" cy="445122"/>
          </a:xfrm>
          <a:prstGeom prst="roundRect">
            <a:avLst>
              <a:gd name="adj" fmla="val 4212"/>
            </a:avLst>
          </a:prstGeom>
          <a:solidFill>
            <a:srgbClr val="693145"/>
          </a:solidFill>
          <a:ln/>
        </p:spPr>
        <p:txBody>
          <a:bodyPr/>
          <a:lstStyle/>
          <a:p>
            <a:endParaRPr lang="en-US"/>
          </a:p>
        </p:txBody>
      </p:sp>
      <p:sp>
        <p:nvSpPr>
          <p:cNvPr id="17" name="Text 15"/>
          <p:cNvSpPr/>
          <p:nvPr/>
        </p:nvSpPr>
        <p:spPr>
          <a:xfrm>
            <a:off x="608943" y="4901453"/>
            <a:ext cx="6722246"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Consolas Medium" pitchFamily="34" charset="0"/>
                <a:ea typeface="Consolas Medium" pitchFamily="34" charset="-122"/>
                <a:cs typeface="Consolas Medium" pitchFamily="34" charset="-120"/>
              </a:rPr>
              <a:t>MoM Orders % = DIVIDE([Total Orders] - [PM Orders], [PM Orders])</a:t>
            </a:r>
            <a:endParaRPr lang="en-US" sz="950" dirty="0"/>
          </a:p>
        </p:txBody>
      </p:sp>
      <p:sp>
        <p:nvSpPr>
          <p:cNvPr id="18" name="Text 16"/>
          <p:cNvSpPr/>
          <p:nvPr/>
        </p:nvSpPr>
        <p:spPr>
          <a:xfrm>
            <a:off x="458969" y="5355622"/>
            <a:ext cx="6644089" cy="390536"/>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F4CAB8"/>
                </a:solidFill>
                <a:latin typeface="Montserrat Medium" pitchFamily="34" charset="0"/>
                <a:ea typeface="Montserrat Medium" pitchFamily="34" charset="-122"/>
                <a:cs typeface="Montserrat Medium" pitchFamily="34" charset="-120"/>
              </a:rPr>
              <a:t>Business Meaning: Shows the month-over-month change in order volume as a percentage. Positive values indicate growth; negative values indicate decline.</a:t>
            </a:r>
            <a:endParaRPr lang="en-US" sz="950" dirty="0"/>
          </a:p>
        </p:txBody>
      </p:sp>
      <p:sp>
        <p:nvSpPr>
          <p:cNvPr id="19" name="Text 17"/>
          <p:cNvSpPr/>
          <p:nvPr/>
        </p:nvSpPr>
        <p:spPr>
          <a:xfrm>
            <a:off x="458969" y="5924810"/>
            <a:ext cx="2377861" cy="249977"/>
          </a:xfrm>
          <a:prstGeom prst="rect">
            <a:avLst/>
          </a:prstGeom>
          <a:noFill/>
          <a:ln/>
        </p:spPr>
        <p:txBody>
          <a:bodyPr wrap="none" lIns="0" tIns="0" rIns="0" bIns="0" rtlCol="0" anchor="t"/>
          <a:lstStyle/>
          <a:p>
            <a:pPr marL="0" indent="0" algn="l">
              <a:lnSpc>
                <a:spcPct val="104000"/>
              </a:lnSpc>
              <a:buNone/>
            </a:pPr>
            <a:r>
              <a:rPr lang="en-US" sz="1550" b="1" dirty="0">
                <a:solidFill>
                  <a:srgbClr val="FFB393"/>
                </a:solidFill>
                <a:latin typeface="Brygada 1918 Bold" pitchFamily="34" charset="0"/>
                <a:ea typeface="Brygada 1918 Bold" pitchFamily="34" charset="-122"/>
                <a:cs typeface="Brygada 1918 Bold" pitchFamily="34" charset="-120"/>
              </a:rPr>
              <a:t>Delivered Orders</a:t>
            </a:r>
            <a:endParaRPr lang="en-US" sz="1550" dirty="0"/>
          </a:p>
        </p:txBody>
      </p:sp>
      <p:sp>
        <p:nvSpPr>
          <p:cNvPr id="20" name="Shape 18"/>
          <p:cNvSpPr/>
          <p:nvPr/>
        </p:nvSpPr>
        <p:spPr>
          <a:xfrm>
            <a:off x="458969" y="6353440"/>
            <a:ext cx="6644089" cy="445122"/>
          </a:xfrm>
          <a:prstGeom prst="roundRect">
            <a:avLst>
              <a:gd name="adj" fmla="val 4212"/>
            </a:avLst>
          </a:prstGeom>
          <a:solidFill>
            <a:srgbClr val="693145"/>
          </a:solidFill>
          <a:ln/>
        </p:spPr>
        <p:txBody>
          <a:bodyPr/>
          <a:lstStyle/>
          <a:p>
            <a:endParaRPr lang="en-US"/>
          </a:p>
        </p:txBody>
      </p:sp>
      <p:sp>
        <p:nvSpPr>
          <p:cNvPr id="21" name="Shape 19"/>
          <p:cNvSpPr/>
          <p:nvPr/>
        </p:nvSpPr>
        <p:spPr>
          <a:xfrm>
            <a:off x="452753" y="6353440"/>
            <a:ext cx="6656521" cy="445122"/>
          </a:xfrm>
          <a:prstGeom prst="roundRect">
            <a:avLst>
              <a:gd name="adj" fmla="val 4212"/>
            </a:avLst>
          </a:prstGeom>
          <a:solidFill>
            <a:srgbClr val="693145"/>
          </a:solidFill>
          <a:ln/>
        </p:spPr>
        <p:txBody>
          <a:bodyPr/>
          <a:lstStyle/>
          <a:p>
            <a:endParaRPr lang="en-US"/>
          </a:p>
        </p:txBody>
      </p:sp>
      <p:sp>
        <p:nvSpPr>
          <p:cNvPr id="22" name="Text 20"/>
          <p:cNvSpPr/>
          <p:nvPr/>
        </p:nvSpPr>
        <p:spPr>
          <a:xfrm>
            <a:off x="608943" y="6478367"/>
            <a:ext cx="6722246"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Consolas Medium" pitchFamily="34" charset="0"/>
                <a:ea typeface="Consolas Medium" pitchFamily="34" charset="-122"/>
                <a:cs typeface="Consolas Medium" pitchFamily="34" charset="-120"/>
              </a:rPr>
              <a:t>Delivered Orders = CALCULATE([Total Orders], Orders[Order Status] = "Delivered")</a:t>
            </a:r>
            <a:endParaRPr lang="en-US" sz="950" dirty="0"/>
          </a:p>
        </p:txBody>
      </p:sp>
      <p:sp>
        <p:nvSpPr>
          <p:cNvPr id="23" name="Text 21"/>
          <p:cNvSpPr/>
          <p:nvPr/>
        </p:nvSpPr>
        <p:spPr>
          <a:xfrm>
            <a:off x="458969" y="6932536"/>
            <a:ext cx="6644089" cy="390536"/>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F4CAB8"/>
                </a:solidFill>
                <a:latin typeface="Montserrat Medium" pitchFamily="34" charset="0"/>
                <a:ea typeface="Montserrat Medium" pitchFamily="34" charset="-122"/>
                <a:cs typeface="Montserrat Medium" pitchFamily="34" charset="-120"/>
              </a:rPr>
              <a:t>Business Meaning: Counts only orders marked as delivered. Use this as the base for delivery performance metrics.</a:t>
            </a:r>
            <a:endParaRPr lang="en-US" sz="950" dirty="0"/>
          </a:p>
        </p:txBody>
      </p:sp>
      <p:sp>
        <p:nvSpPr>
          <p:cNvPr id="24" name="Text 22"/>
          <p:cNvSpPr/>
          <p:nvPr/>
        </p:nvSpPr>
        <p:spPr>
          <a:xfrm>
            <a:off x="458969" y="7501724"/>
            <a:ext cx="4560330" cy="416629"/>
          </a:xfrm>
          <a:prstGeom prst="rect">
            <a:avLst/>
          </a:prstGeom>
          <a:noFill/>
          <a:ln/>
        </p:spPr>
        <p:txBody>
          <a:bodyPr wrap="none" lIns="0" tIns="0" rIns="0" bIns="0" rtlCol="0" anchor="t"/>
          <a:lstStyle/>
          <a:p>
            <a:pPr marL="0" indent="0" algn="l">
              <a:lnSpc>
                <a:spcPct val="104000"/>
              </a:lnSpc>
              <a:buNone/>
            </a:pPr>
            <a:r>
              <a:rPr lang="en-US" sz="2600" b="1" dirty="0">
                <a:solidFill>
                  <a:srgbClr val="FFB393"/>
                </a:solidFill>
                <a:latin typeface="Brygada 1918 Bold" pitchFamily="34" charset="0"/>
                <a:ea typeface="Brygada 1918 Bold" pitchFamily="34" charset="-122"/>
                <a:cs typeface="Brygada 1918 Bold" pitchFamily="34" charset="-120"/>
              </a:rPr>
              <a:t>Date Table Enhancements</a:t>
            </a:r>
            <a:endParaRPr lang="en-US" sz="2600" dirty="0"/>
          </a:p>
        </p:txBody>
      </p:sp>
      <p:sp>
        <p:nvSpPr>
          <p:cNvPr id="25" name="Text 23"/>
          <p:cNvSpPr/>
          <p:nvPr/>
        </p:nvSpPr>
        <p:spPr>
          <a:xfrm>
            <a:off x="458969" y="8097005"/>
            <a:ext cx="7022194"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Montserrat Medium" pitchFamily="34" charset="0"/>
                <a:ea typeface="Montserrat Medium" pitchFamily="34" charset="-122"/>
                <a:cs typeface="Montserrat Medium" pitchFamily="34" charset="-120"/>
              </a:rPr>
              <a:t>Two calculated columns enable day-of-week analysis in hub processing time matrices.</a:t>
            </a:r>
            <a:endParaRPr lang="en-US" sz="950" dirty="0"/>
          </a:p>
        </p:txBody>
      </p:sp>
      <p:sp>
        <p:nvSpPr>
          <p:cNvPr id="26" name="Text 24"/>
          <p:cNvSpPr/>
          <p:nvPr/>
        </p:nvSpPr>
        <p:spPr>
          <a:xfrm>
            <a:off x="458969" y="8545327"/>
            <a:ext cx="2347890" cy="208315"/>
          </a:xfrm>
          <a:prstGeom prst="rect">
            <a:avLst/>
          </a:prstGeom>
          <a:noFill/>
          <a:ln/>
        </p:spPr>
        <p:txBody>
          <a:bodyPr wrap="none" lIns="0" tIns="0" rIns="0" bIns="0" rtlCol="0" anchor="t"/>
          <a:lstStyle/>
          <a:p>
            <a:pPr marL="0" indent="0" algn="l">
              <a:lnSpc>
                <a:spcPct val="104000"/>
              </a:lnSpc>
              <a:buNone/>
            </a:pPr>
            <a:r>
              <a:rPr lang="en-US" sz="1300" b="1" dirty="0">
                <a:solidFill>
                  <a:srgbClr val="FFB393"/>
                </a:solidFill>
                <a:latin typeface="Brygada 1918 Bold" pitchFamily="34" charset="0"/>
                <a:ea typeface="Brygada 1918 Bold" pitchFamily="34" charset="-122"/>
                <a:cs typeface="Brygada 1918 Bold" pitchFamily="34" charset="-120"/>
              </a:rPr>
              <a:t>Day (Calculated Column)</a:t>
            </a:r>
            <a:endParaRPr lang="en-US" sz="1300" dirty="0"/>
          </a:p>
        </p:txBody>
      </p:sp>
      <p:sp>
        <p:nvSpPr>
          <p:cNvPr id="27" name="Shape 25"/>
          <p:cNvSpPr/>
          <p:nvPr/>
        </p:nvSpPr>
        <p:spPr>
          <a:xfrm>
            <a:off x="458969" y="8887615"/>
            <a:ext cx="3169578" cy="445122"/>
          </a:xfrm>
          <a:prstGeom prst="roundRect">
            <a:avLst>
              <a:gd name="adj" fmla="val 4212"/>
            </a:avLst>
          </a:prstGeom>
          <a:solidFill>
            <a:srgbClr val="693145"/>
          </a:solidFill>
          <a:ln/>
        </p:spPr>
        <p:txBody>
          <a:bodyPr/>
          <a:lstStyle/>
          <a:p>
            <a:endParaRPr lang="en-US"/>
          </a:p>
        </p:txBody>
      </p:sp>
      <p:sp>
        <p:nvSpPr>
          <p:cNvPr id="28" name="Shape 26"/>
          <p:cNvSpPr/>
          <p:nvPr/>
        </p:nvSpPr>
        <p:spPr>
          <a:xfrm>
            <a:off x="452753" y="8887615"/>
            <a:ext cx="3182009" cy="445122"/>
          </a:xfrm>
          <a:prstGeom prst="roundRect">
            <a:avLst>
              <a:gd name="adj" fmla="val 4212"/>
            </a:avLst>
          </a:prstGeom>
          <a:solidFill>
            <a:srgbClr val="693145"/>
          </a:solidFill>
          <a:ln/>
        </p:spPr>
        <p:txBody>
          <a:bodyPr/>
          <a:lstStyle/>
          <a:p>
            <a:endParaRPr lang="en-US"/>
          </a:p>
        </p:txBody>
      </p:sp>
      <p:sp>
        <p:nvSpPr>
          <p:cNvPr id="29" name="Text 27"/>
          <p:cNvSpPr/>
          <p:nvPr/>
        </p:nvSpPr>
        <p:spPr>
          <a:xfrm>
            <a:off x="608943" y="9012542"/>
            <a:ext cx="3247735" cy="195268"/>
          </a:xfrm>
          <a:prstGeom prst="rect">
            <a:avLst/>
          </a:prstGeom>
          <a:noFill/>
          <a:ln/>
        </p:spPr>
        <p:txBody>
          <a:bodyPr wrap="none" lIns="0" tIns="0" rIns="0" bIns="0" rtlCol="0" anchor="t"/>
          <a:lstStyle/>
          <a:p>
            <a:pPr marL="0" indent="0" algn="l">
              <a:lnSpc>
                <a:spcPct val="130000"/>
              </a:lnSpc>
              <a:buNone/>
            </a:pPr>
            <a:r>
              <a:rPr lang="en-US" sz="950" dirty="0">
                <a:solidFill>
                  <a:srgbClr val="FF7B72"/>
                </a:solidFill>
                <a:highlight>
                  <a:srgbClr val="693145"/>
                </a:highlight>
                <a:latin typeface="Consolas Medium" pitchFamily="34" charset="0"/>
                <a:ea typeface="Consolas Medium" pitchFamily="34" charset="-122"/>
                <a:cs typeface="Consolas Medium" pitchFamily="34" charset="-120"/>
              </a:rPr>
              <a:t>Day = FORMAT('Date Table'[Date], "ddd")</a:t>
            </a:r>
            <a:endParaRPr lang="en-US" sz="950" dirty="0"/>
          </a:p>
        </p:txBody>
      </p:sp>
      <p:sp>
        <p:nvSpPr>
          <p:cNvPr id="30" name="Text 28"/>
          <p:cNvSpPr/>
          <p:nvPr/>
        </p:nvSpPr>
        <p:spPr>
          <a:xfrm>
            <a:off x="458969" y="9466711"/>
            <a:ext cx="3169578" cy="585804"/>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F4CAB8"/>
                </a:solidFill>
                <a:latin typeface="Montserrat Medium" pitchFamily="34" charset="0"/>
                <a:ea typeface="Montserrat Medium" pitchFamily="34" charset="-122"/>
                <a:cs typeface="Montserrat Medium" pitchFamily="34" charset="-120"/>
              </a:rPr>
              <a:t>Business Meaning: Formats each date as a three-letter day abbreviation (Mon, Tue, Wed, etc.) for matrix column headers.</a:t>
            </a:r>
            <a:endParaRPr lang="en-US" sz="950" dirty="0"/>
          </a:p>
        </p:txBody>
      </p:sp>
      <p:sp>
        <p:nvSpPr>
          <p:cNvPr id="31" name="Text 29"/>
          <p:cNvSpPr/>
          <p:nvPr/>
        </p:nvSpPr>
        <p:spPr>
          <a:xfrm>
            <a:off x="3937357" y="8545327"/>
            <a:ext cx="2598791" cy="208315"/>
          </a:xfrm>
          <a:prstGeom prst="rect">
            <a:avLst/>
          </a:prstGeom>
          <a:noFill/>
          <a:ln/>
        </p:spPr>
        <p:txBody>
          <a:bodyPr wrap="none" lIns="0" tIns="0" rIns="0" bIns="0" rtlCol="0" anchor="t"/>
          <a:lstStyle/>
          <a:p>
            <a:pPr marL="0" indent="0" algn="l">
              <a:lnSpc>
                <a:spcPct val="104000"/>
              </a:lnSpc>
              <a:buNone/>
            </a:pPr>
            <a:r>
              <a:rPr lang="en-US" sz="1300" b="1" dirty="0">
                <a:solidFill>
                  <a:srgbClr val="FFB393"/>
                </a:solidFill>
                <a:latin typeface="Brygada 1918 Bold" pitchFamily="34" charset="0"/>
                <a:ea typeface="Brygada 1918 Bold" pitchFamily="34" charset="-122"/>
                <a:cs typeface="Brygada 1918 Bold" pitchFamily="34" charset="-120"/>
              </a:rPr>
              <a:t>Day No (Calculated Column)</a:t>
            </a:r>
            <a:endParaRPr lang="en-US" sz="1300" dirty="0"/>
          </a:p>
        </p:txBody>
      </p:sp>
      <p:sp>
        <p:nvSpPr>
          <p:cNvPr id="32" name="Shape 30"/>
          <p:cNvSpPr/>
          <p:nvPr/>
        </p:nvSpPr>
        <p:spPr>
          <a:xfrm>
            <a:off x="3937357" y="8887615"/>
            <a:ext cx="3169578" cy="445122"/>
          </a:xfrm>
          <a:prstGeom prst="roundRect">
            <a:avLst>
              <a:gd name="adj" fmla="val 4212"/>
            </a:avLst>
          </a:prstGeom>
          <a:solidFill>
            <a:srgbClr val="693145"/>
          </a:solidFill>
          <a:ln/>
        </p:spPr>
        <p:txBody>
          <a:bodyPr/>
          <a:lstStyle/>
          <a:p>
            <a:endParaRPr lang="en-US"/>
          </a:p>
        </p:txBody>
      </p:sp>
      <p:sp>
        <p:nvSpPr>
          <p:cNvPr id="33" name="Shape 31"/>
          <p:cNvSpPr/>
          <p:nvPr/>
        </p:nvSpPr>
        <p:spPr>
          <a:xfrm>
            <a:off x="3931141" y="8887615"/>
            <a:ext cx="3182009" cy="445122"/>
          </a:xfrm>
          <a:prstGeom prst="roundRect">
            <a:avLst>
              <a:gd name="adj" fmla="val 4212"/>
            </a:avLst>
          </a:prstGeom>
          <a:solidFill>
            <a:srgbClr val="693145"/>
          </a:solidFill>
          <a:ln/>
        </p:spPr>
        <p:txBody>
          <a:bodyPr/>
          <a:lstStyle/>
          <a:p>
            <a:endParaRPr lang="en-US"/>
          </a:p>
        </p:txBody>
      </p:sp>
      <p:sp>
        <p:nvSpPr>
          <p:cNvPr id="34" name="Text 32"/>
          <p:cNvSpPr/>
          <p:nvPr/>
        </p:nvSpPr>
        <p:spPr>
          <a:xfrm>
            <a:off x="4087331" y="9012542"/>
            <a:ext cx="3247735" cy="195268"/>
          </a:xfrm>
          <a:prstGeom prst="rect">
            <a:avLst/>
          </a:prstGeom>
          <a:noFill/>
          <a:ln/>
        </p:spPr>
        <p:txBody>
          <a:bodyPr wrap="none" lIns="0" tIns="0" rIns="0" bIns="0" rtlCol="0" anchor="t"/>
          <a:lstStyle/>
          <a:p>
            <a:pPr marL="0" indent="0" algn="l">
              <a:lnSpc>
                <a:spcPct val="130000"/>
              </a:lnSpc>
              <a:buNone/>
            </a:pPr>
            <a:r>
              <a:rPr lang="en-US" sz="950" dirty="0">
                <a:solidFill>
                  <a:srgbClr val="FF7B72"/>
                </a:solidFill>
                <a:highlight>
                  <a:srgbClr val="693145"/>
                </a:highlight>
                <a:latin typeface="Consolas Medium" pitchFamily="34" charset="0"/>
                <a:ea typeface="Consolas Medium" pitchFamily="34" charset="-122"/>
                <a:cs typeface="Consolas Medium" pitchFamily="34" charset="-120"/>
              </a:rPr>
              <a:t>Day No = WEEKDAY('Date Table'[Date], 2)</a:t>
            </a:r>
            <a:endParaRPr lang="en-US" sz="950" dirty="0"/>
          </a:p>
        </p:txBody>
      </p:sp>
      <p:sp>
        <p:nvSpPr>
          <p:cNvPr id="35" name="Text 33"/>
          <p:cNvSpPr/>
          <p:nvPr/>
        </p:nvSpPr>
        <p:spPr>
          <a:xfrm>
            <a:off x="3937357" y="9466711"/>
            <a:ext cx="3169578" cy="585804"/>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F4CAB8"/>
                </a:solidFill>
                <a:latin typeface="Montserrat Medium" pitchFamily="34" charset="0"/>
                <a:ea typeface="Montserrat Medium" pitchFamily="34" charset="-122"/>
                <a:cs typeface="Montserrat Medium" pitchFamily="34" charset="-120"/>
              </a:rPr>
              <a:t>Business Meaning: Assigns numeric values (1 = Monday through 7 = Sunday) to enable correct weekday sorting instead of alphabetical order.</a:t>
            </a:r>
            <a:endParaRPr lang="en-US" sz="950" dirty="0"/>
          </a:p>
        </p:txBody>
      </p:sp>
      <p:sp>
        <p:nvSpPr>
          <p:cNvPr id="36" name="TextBox 35">
            <a:extLst>
              <a:ext uri="{FF2B5EF4-FFF2-40B4-BE49-F238E27FC236}">
                <a16:creationId xmlns:a16="http://schemas.microsoft.com/office/drawing/2014/main" id="{AABBDA20-03CA-344D-D063-72084103F3B8}"/>
              </a:ext>
            </a:extLst>
          </p:cNvPr>
          <p:cNvSpPr txBox="1"/>
          <p:nvPr/>
        </p:nvSpPr>
        <p:spPr>
          <a:xfrm>
            <a:off x="6983896" y="10052515"/>
            <a:ext cx="497267" cy="369332"/>
          </a:xfrm>
          <a:prstGeom prst="rect">
            <a:avLst/>
          </a:prstGeom>
          <a:noFill/>
        </p:spPr>
        <p:txBody>
          <a:bodyPr wrap="square" rtlCol="0">
            <a:spAutoFit/>
          </a:bodyPr>
          <a:lstStyle/>
          <a:p>
            <a:fld id="{1FA51A7D-95B3-4729-A7DD-6DC97DB3EA4F}" type="slidenum">
              <a:rPr lang="en-US" smtClean="0">
                <a:solidFill>
                  <a:srgbClr val="F4CAB8"/>
                </a:solidFill>
                <a:latin typeface="Brygada 1918" pitchFamily="2" charset="0"/>
                <a:ea typeface="Brygada 1918" pitchFamily="2" charset="0"/>
              </a:rPr>
              <a:t>11</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8969" y="360566"/>
            <a:ext cx="5411804" cy="437061"/>
          </a:xfrm>
          <a:prstGeom prst="rect">
            <a:avLst/>
          </a:prstGeom>
          <a:noFill/>
          <a:ln/>
        </p:spPr>
        <p:txBody>
          <a:bodyPr wrap="none" lIns="0" tIns="0" rIns="0" bIns="0" rtlCol="0" anchor="t"/>
          <a:lstStyle/>
          <a:p>
            <a:pPr marL="0" indent="0" algn="l">
              <a:lnSpc>
                <a:spcPct val="104000"/>
              </a:lnSpc>
              <a:buNone/>
            </a:pPr>
            <a:r>
              <a:rPr lang="en-US" sz="2750" b="1" dirty="0">
                <a:solidFill>
                  <a:srgbClr val="FFB393"/>
                </a:solidFill>
                <a:latin typeface="Brygada 1918 Bold" pitchFamily="34" charset="0"/>
                <a:ea typeface="Brygada 1918 Bold" pitchFamily="34" charset="-122"/>
                <a:cs typeface="Brygada 1918 Bold" pitchFamily="34" charset="-120"/>
              </a:rPr>
              <a:t>Delivery Performance Metrics</a:t>
            </a:r>
            <a:endParaRPr lang="en-US" sz="2750" dirty="0"/>
          </a:p>
        </p:txBody>
      </p:sp>
      <p:sp>
        <p:nvSpPr>
          <p:cNvPr id="3" name="Text 1"/>
          <p:cNvSpPr/>
          <p:nvPr/>
        </p:nvSpPr>
        <p:spPr>
          <a:xfrm>
            <a:off x="458969" y="1059850"/>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These measures track delivery timeliness and month-over-month performance.</a:t>
            </a:r>
            <a:endParaRPr lang="en-US" sz="1000" dirty="0"/>
          </a:p>
        </p:txBody>
      </p:sp>
      <p:sp>
        <p:nvSpPr>
          <p:cNvPr id="4" name="Text 2"/>
          <p:cNvSpPr/>
          <p:nvPr/>
        </p:nvSpPr>
        <p:spPr>
          <a:xfrm>
            <a:off x="458969" y="1466325"/>
            <a:ext cx="2988588"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On Time Delivered Orders</a:t>
            </a:r>
            <a:endParaRPr lang="en-US" sz="1650" dirty="0"/>
          </a:p>
        </p:txBody>
      </p:sp>
      <p:sp>
        <p:nvSpPr>
          <p:cNvPr id="5" name="Shape 3"/>
          <p:cNvSpPr/>
          <p:nvPr/>
        </p:nvSpPr>
        <p:spPr>
          <a:xfrm>
            <a:off x="458969" y="1925233"/>
            <a:ext cx="6644089" cy="471954"/>
          </a:xfrm>
          <a:prstGeom prst="roundRect">
            <a:avLst>
              <a:gd name="adj" fmla="val 4168"/>
            </a:avLst>
          </a:prstGeom>
          <a:solidFill>
            <a:srgbClr val="693145"/>
          </a:solidFill>
          <a:ln/>
        </p:spPr>
        <p:txBody>
          <a:bodyPr/>
          <a:lstStyle/>
          <a:p>
            <a:endParaRPr lang="en-US"/>
          </a:p>
        </p:txBody>
      </p:sp>
      <p:sp>
        <p:nvSpPr>
          <p:cNvPr id="6" name="Shape 4"/>
          <p:cNvSpPr/>
          <p:nvPr/>
        </p:nvSpPr>
        <p:spPr>
          <a:xfrm>
            <a:off x="452445" y="1925233"/>
            <a:ext cx="6657136" cy="471954"/>
          </a:xfrm>
          <a:prstGeom prst="roundRect">
            <a:avLst>
              <a:gd name="adj" fmla="val 4168"/>
            </a:avLst>
          </a:prstGeom>
          <a:solidFill>
            <a:srgbClr val="693145"/>
          </a:solidFill>
          <a:ln/>
        </p:spPr>
        <p:txBody>
          <a:bodyPr/>
          <a:lstStyle/>
          <a:p>
            <a:endParaRPr lang="en-US"/>
          </a:p>
        </p:txBody>
      </p:sp>
      <p:sp>
        <p:nvSpPr>
          <p:cNvPr id="7" name="Text 5"/>
          <p:cNvSpPr/>
          <p:nvPr/>
        </p:nvSpPr>
        <p:spPr>
          <a:xfrm>
            <a:off x="616327" y="2056314"/>
            <a:ext cx="6707476"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On Time Delivered Orders = CALCULATE([Total Orders], Orders[Delivery Status] = "On Time")</a:t>
            </a:r>
            <a:endParaRPr lang="en-US" sz="1000" dirty="0"/>
          </a:p>
        </p:txBody>
      </p:sp>
      <p:sp>
        <p:nvSpPr>
          <p:cNvPr id="8" name="Text 6"/>
          <p:cNvSpPr/>
          <p:nvPr/>
        </p:nvSpPr>
        <p:spPr>
          <a:xfrm>
            <a:off x="458969" y="2544699"/>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Counts orders delivered on time.</a:t>
            </a:r>
            <a:endParaRPr lang="en-US" sz="1000" dirty="0"/>
          </a:p>
        </p:txBody>
      </p:sp>
      <p:sp>
        <p:nvSpPr>
          <p:cNvPr id="9" name="Text 7"/>
          <p:cNvSpPr/>
          <p:nvPr/>
        </p:nvSpPr>
        <p:spPr>
          <a:xfrm>
            <a:off x="458969" y="2951174"/>
            <a:ext cx="3424110"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On Time Delivery Rate (OTD%)</a:t>
            </a:r>
            <a:endParaRPr lang="en-US" sz="1650" dirty="0"/>
          </a:p>
        </p:txBody>
      </p:sp>
      <p:sp>
        <p:nvSpPr>
          <p:cNvPr id="10" name="Shape 8"/>
          <p:cNvSpPr/>
          <p:nvPr/>
        </p:nvSpPr>
        <p:spPr>
          <a:xfrm>
            <a:off x="458969" y="3410081"/>
            <a:ext cx="6644089" cy="471954"/>
          </a:xfrm>
          <a:prstGeom prst="roundRect">
            <a:avLst>
              <a:gd name="adj" fmla="val 4168"/>
            </a:avLst>
          </a:prstGeom>
          <a:solidFill>
            <a:srgbClr val="693145"/>
          </a:solidFill>
          <a:ln/>
        </p:spPr>
        <p:txBody>
          <a:bodyPr/>
          <a:lstStyle/>
          <a:p>
            <a:endParaRPr lang="en-US"/>
          </a:p>
        </p:txBody>
      </p:sp>
      <p:sp>
        <p:nvSpPr>
          <p:cNvPr id="11" name="Shape 9"/>
          <p:cNvSpPr/>
          <p:nvPr/>
        </p:nvSpPr>
        <p:spPr>
          <a:xfrm>
            <a:off x="452445" y="3410081"/>
            <a:ext cx="6657136" cy="471954"/>
          </a:xfrm>
          <a:prstGeom prst="roundRect">
            <a:avLst>
              <a:gd name="adj" fmla="val 4168"/>
            </a:avLst>
          </a:prstGeom>
          <a:solidFill>
            <a:srgbClr val="693145"/>
          </a:solidFill>
          <a:ln/>
        </p:spPr>
        <p:txBody>
          <a:bodyPr/>
          <a:lstStyle/>
          <a:p>
            <a:endParaRPr lang="en-US"/>
          </a:p>
        </p:txBody>
      </p:sp>
      <p:sp>
        <p:nvSpPr>
          <p:cNvPr id="12" name="Text 10"/>
          <p:cNvSpPr/>
          <p:nvPr/>
        </p:nvSpPr>
        <p:spPr>
          <a:xfrm>
            <a:off x="616327" y="3541163"/>
            <a:ext cx="6707476"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On Time Delivery Rate (OTD%) = DIVIDE([On Time Delivered Orders], [Delivered Orders])</a:t>
            </a:r>
            <a:endParaRPr lang="en-US" sz="1000" dirty="0"/>
          </a:p>
        </p:txBody>
      </p:sp>
      <p:sp>
        <p:nvSpPr>
          <p:cNvPr id="13" name="Text 11"/>
          <p:cNvSpPr/>
          <p:nvPr/>
        </p:nvSpPr>
        <p:spPr>
          <a:xfrm>
            <a:off x="458969" y="4029548"/>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Measures the share of delivered orders that arrive on time.</a:t>
            </a:r>
            <a:endParaRPr lang="en-US" sz="1000" dirty="0"/>
          </a:p>
        </p:txBody>
      </p:sp>
      <p:sp>
        <p:nvSpPr>
          <p:cNvPr id="14" name="Text 12"/>
          <p:cNvSpPr/>
          <p:nvPr/>
        </p:nvSpPr>
        <p:spPr>
          <a:xfrm>
            <a:off x="458969" y="4436023"/>
            <a:ext cx="2986865"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PM On Time Delivery Rate</a:t>
            </a:r>
            <a:endParaRPr lang="en-US" sz="1650" dirty="0"/>
          </a:p>
        </p:txBody>
      </p:sp>
      <p:sp>
        <p:nvSpPr>
          <p:cNvPr id="15" name="Shape 13"/>
          <p:cNvSpPr/>
          <p:nvPr/>
        </p:nvSpPr>
        <p:spPr>
          <a:xfrm>
            <a:off x="458969" y="4894930"/>
            <a:ext cx="6644089" cy="681745"/>
          </a:xfrm>
          <a:prstGeom prst="roundRect">
            <a:avLst>
              <a:gd name="adj" fmla="val 2885"/>
            </a:avLst>
          </a:prstGeom>
          <a:solidFill>
            <a:srgbClr val="693145"/>
          </a:solidFill>
          <a:ln/>
        </p:spPr>
        <p:txBody>
          <a:bodyPr/>
          <a:lstStyle/>
          <a:p>
            <a:endParaRPr lang="en-US"/>
          </a:p>
        </p:txBody>
      </p:sp>
      <p:sp>
        <p:nvSpPr>
          <p:cNvPr id="16" name="Shape 14"/>
          <p:cNvSpPr/>
          <p:nvPr/>
        </p:nvSpPr>
        <p:spPr>
          <a:xfrm>
            <a:off x="452445" y="4894930"/>
            <a:ext cx="6657136" cy="681745"/>
          </a:xfrm>
          <a:prstGeom prst="roundRect">
            <a:avLst>
              <a:gd name="adj" fmla="val 2885"/>
            </a:avLst>
          </a:prstGeom>
          <a:solidFill>
            <a:srgbClr val="693145"/>
          </a:solidFill>
          <a:ln/>
        </p:spPr>
        <p:txBody>
          <a:bodyPr/>
          <a:lstStyle/>
          <a:p>
            <a:endParaRPr lang="en-US"/>
          </a:p>
        </p:txBody>
      </p:sp>
      <p:sp>
        <p:nvSpPr>
          <p:cNvPr id="17" name="Text 15"/>
          <p:cNvSpPr/>
          <p:nvPr/>
        </p:nvSpPr>
        <p:spPr>
          <a:xfrm>
            <a:off x="616327" y="5026011"/>
            <a:ext cx="6329372"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PM On Time Delivery Rate = CALCULATE([On Time Delivery Rate (OTD%)], DATEADD('Date Table'[Date], -1, MONTH))</a:t>
            </a:r>
            <a:endParaRPr lang="en-US" sz="1000" dirty="0"/>
          </a:p>
        </p:txBody>
      </p:sp>
      <p:sp>
        <p:nvSpPr>
          <p:cNvPr id="18" name="Text 16"/>
          <p:cNvSpPr/>
          <p:nvPr/>
        </p:nvSpPr>
        <p:spPr>
          <a:xfrm>
            <a:off x="458969" y="5724188"/>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Returns the prior month's on-time delivery rate for comparison.</a:t>
            </a:r>
            <a:endParaRPr lang="en-US" sz="1000" dirty="0"/>
          </a:p>
        </p:txBody>
      </p:sp>
      <p:sp>
        <p:nvSpPr>
          <p:cNvPr id="19" name="Text 17"/>
          <p:cNvSpPr/>
          <p:nvPr/>
        </p:nvSpPr>
        <p:spPr>
          <a:xfrm>
            <a:off x="458969" y="6130663"/>
            <a:ext cx="2887846"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MoM On Time Delivery %</a:t>
            </a:r>
            <a:endParaRPr lang="en-US" sz="1650" dirty="0"/>
          </a:p>
        </p:txBody>
      </p:sp>
      <p:sp>
        <p:nvSpPr>
          <p:cNvPr id="20" name="Shape 18"/>
          <p:cNvSpPr/>
          <p:nvPr/>
        </p:nvSpPr>
        <p:spPr>
          <a:xfrm>
            <a:off x="458969" y="6589570"/>
            <a:ext cx="6644089" cy="681745"/>
          </a:xfrm>
          <a:prstGeom prst="roundRect">
            <a:avLst>
              <a:gd name="adj" fmla="val 2885"/>
            </a:avLst>
          </a:prstGeom>
          <a:solidFill>
            <a:srgbClr val="693145"/>
          </a:solidFill>
          <a:ln/>
        </p:spPr>
        <p:txBody>
          <a:bodyPr/>
          <a:lstStyle/>
          <a:p>
            <a:endParaRPr lang="en-US"/>
          </a:p>
        </p:txBody>
      </p:sp>
      <p:sp>
        <p:nvSpPr>
          <p:cNvPr id="21" name="Shape 19"/>
          <p:cNvSpPr/>
          <p:nvPr/>
        </p:nvSpPr>
        <p:spPr>
          <a:xfrm>
            <a:off x="452445" y="6589570"/>
            <a:ext cx="6657136" cy="681745"/>
          </a:xfrm>
          <a:prstGeom prst="roundRect">
            <a:avLst>
              <a:gd name="adj" fmla="val 2885"/>
            </a:avLst>
          </a:prstGeom>
          <a:solidFill>
            <a:srgbClr val="693145"/>
          </a:solidFill>
          <a:ln/>
        </p:spPr>
        <p:txBody>
          <a:bodyPr/>
          <a:lstStyle/>
          <a:p>
            <a:endParaRPr lang="en-US"/>
          </a:p>
        </p:txBody>
      </p:sp>
      <p:sp>
        <p:nvSpPr>
          <p:cNvPr id="22" name="Text 20"/>
          <p:cNvSpPr/>
          <p:nvPr/>
        </p:nvSpPr>
        <p:spPr>
          <a:xfrm>
            <a:off x="616327" y="6720652"/>
            <a:ext cx="6329372"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MoM On Time Delivery % = DIVIDE([On Time Delivery Rate (OTD%)] - [PM On Time Delivery Rate], [PM On Time Delivery Rate])</a:t>
            </a:r>
            <a:endParaRPr lang="en-US" sz="1000" dirty="0"/>
          </a:p>
        </p:txBody>
      </p:sp>
      <p:sp>
        <p:nvSpPr>
          <p:cNvPr id="23" name="Text 21"/>
          <p:cNvSpPr/>
          <p:nvPr/>
        </p:nvSpPr>
        <p:spPr>
          <a:xfrm>
            <a:off x="458969" y="7418828"/>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Shows the month-over-month change in on-time delivery rate.</a:t>
            </a:r>
            <a:endParaRPr lang="en-US" sz="1000" dirty="0"/>
          </a:p>
        </p:txBody>
      </p:sp>
      <p:sp>
        <p:nvSpPr>
          <p:cNvPr id="24" name="TextBox 23">
            <a:extLst>
              <a:ext uri="{FF2B5EF4-FFF2-40B4-BE49-F238E27FC236}">
                <a16:creationId xmlns:a16="http://schemas.microsoft.com/office/drawing/2014/main" id="{FC43AB9B-6BB6-7784-5D90-7B3F2A110299}"/>
              </a:ext>
            </a:extLst>
          </p:cNvPr>
          <p:cNvSpPr txBox="1"/>
          <p:nvPr/>
        </p:nvSpPr>
        <p:spPr>
          <a:xfrm>
            <a:off x="7027386" y="10085769"/>
            <a:ext cx="535464" cy="369332"/>
          </a:xfrm>
          <a:prstGeom prst="rect">
            <a:avLst/>
          </a:prstGeom>
          <a:noFill/>
        </p:spPr>
        <p:txBody>
          <a:bodyPr wrap="square" rtlCol="0">
            <a:spAutoFit/>
          </a:bodyPr>
          <a:lstStyle/>
          <a:p>
            <a:fld id="{9FC1D878-8650-4F6E-B548-CF82ECE96C1B}" type="slidenum">
              <a:rPr lang="en-US" smtClean="0">
                <a:solidFill>
                  <a:srgbClr val="F4CAB8"/>
                </a:solidFill>
                <a:latin typeface="Brygada 1918" pitchFamily="2" charset="0"/>
                <a:ea typeface="Brygada 1918" pitchFamily="2" charset="0"/>
              </a:rPr>
              <a:t>12</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8969" y="360566"/>
            <a:ext cx="3875016" cy="437061"/>
          </a:xfrm>
          <a:prstGeom prst="rect">
            <a:avLst/>
          </a:prstGeom>
          <a:noFill/>
          <a:ln/>
        </p:spPr>
        <p:txBody>
          <a:bodyPr wrap="none" lIns="0" tIns="0" rIns="0" bIns="0" rtlCol="0" anchor="t"/>
          <a:lstStyle/>
          <a:p>
            <a:pPr marL="0" indent="0" algn="l">
              <a:lnSpc>
                <a:spcPct val="104000"/>
              </a:lnSpc>
              <a:buNone/>
            </a:pPr>
            <a:r>
              <a:rPr lang="en-US" sz="2750" b="1" dirty="0">
                <a:solidFill>
                  <a:srgbClr val="FFB393"/>
                </a:solidFill>
                <a:latin typeface="Brygada 1918 Bold" pitchFamily="34" charset="0"/>
                <a:ea typeface="Brygada 1918 Bold" pitchFamily="34" charset="-122"/>
                <a:cs typeface="Brygada 1918 Bold" pitchFamily="34" charset="-120"/>
              </a:rPr>
              <a:t>CSAT Metrics</a:t>
            </a:r>
            <a:endParaRPr lang="en-US" sz="2750" dirty="0"/>
          </a:p>
        </p:txBody>
      </p:sp>
      <p:sp>
        <p:nvSpPr>
          <p:cNvPr id="3" name="Text 1"/>
          <p:cNvSpPr/>
          <p:nvPr/>
        </p:nvSpPr>
        <p:spPr>
          <a:xfrm>
            <a:off x="458969" y="1059850"/>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These measures track customer satisfaction and month-over-month performance.</a:t>
            </a:r>
            <a:endParaRPr lang="en-US" sz="1000" dirty="0"/>
          </a:p>
        </p:txBody>
      </p:sp>
      <p:sp>
        <p:nvSpPr>
          <p:cNvPr id="4" name="Text 2"/>
          <p:cNvSpPr/>
          <p:nvPr/>
        </p:nvSpPr>
        <p:spPr>
          <a:xfrm>
            <a:off x="458969" y="1466325"/>
            <a:ext cx="2596021"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CSAT Satisfied Orders</a:t>
            </a:r>
            <a:endParaRPr lang="en-US" sz="1650" dirty="0"/>
          </a:p>
        </p:txBody>
      </p:sp>
      <p:sp>
        <p:nvSpPr>
          <p:cNvPr id="5" name="Shape 3"/>
          <p:cNvSpPr/>
          <p:nvPr/>
        </p:nvSpPr>
        <p:spPr>
          <a:xfrm>
            <a:off x="458969" y="1925233"/>
            <a:ext cx="6644089" cy="471954"/>
          </a:xfrm>
          <a:prstGeom prst="roundRect">
            <a:avLst>
              <a:gd name="adj" fmla="val 4168"/>
            </a:avLst>
          </a:prstGeom>
          <a:solidFill>
            <a:srgbClr val="693145"/>
          </a:solidFill>
          <a:ln/>
        </p:spPr>
        <p:txBody>
          <a:bodyPr/>
          <a:lstStyle/>
          <a:p>
            <a:endParaRPr lang="en-US"/>
          </a:p>
        </p:txBody>
      </p:sp>
      <p:sp>
        <p:nvSpPr>
          <p:cNvPr id="6" name="Shape 4"/>
          <p:cNvSpPr/>
          <p:nvPr/>
        </p:nvSpPr>
        <p:spPr>
          <a:xfrm>
            <a:off x="452445" y="1925233"/>
            <a:ext cx="6657136" cy="471954"/>
          </a:xfrm>
          <a:prstGeom prst="roundRect">
            <a:avLst>
              <a:gd name="adj" fmla="val 4168"/>
            </a:avLst>
          </a:prstGeom>
          <a:solidFill>
            <a:srgbClr val="693145"/>
          </a:solidFill>
          <a:ln/>
        </p:spPr>
        <p:txBody>
          <a:bodyPr/>
          <a:lstStyle/>
          <a:p>
            <a:endParaRPr lang="en-US"/>
          </a:p>
        </p:txBody>
      </p:sp>
      <p:sp>
        <p:nvSpPr>
          <p:cNvPr id="7" name="Text 5"/>
          <p:cNvSpPr/>
          <p:nvPr/>
        </p:nvSpPr>
        <p:spPr>
          <a:xfrm>
            <a:off x="616327" y="2056314"/>
            <a:ext cx="6707476"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CSAT Satisfied Orders = CALCULATE([Total Orders], Orders[CSAT Status] = "Satisfied")</a:t>
            </a:r>
            <a:endParaRPr lang="en-US" sz="1000" dirty="0"/>
          </a:p>
        </p:txBody>
      </p:sp>
      <p:sp>
        <p:nvSpPr>
          <p:cNvPr id="8" name="Text 6"/>
          <p:cNvSpPr/>
          <p:nvPr/>
        </p:nvSpPr>
        <p:spPr>
          <a:xfrm>
            <a:off x="458969" y="2544699"/>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Counts orders where customers reported being satisfied.</a:t>
            </a:r>
            <a:endParaRPr lang="en-US" sz="1000" dirty="0"/>
          </a:p>
        </p:txBody>
      </p:sp>
      <p:sp>
        <p:nvSpPr>
          <p:cNvPr id="9" name="Text 7"/>
          <p:cNvSpPr/>
          <p:nvPr/>
        </p:nvSpPr>
        <p:spPr>
          <a:xfrm>
            <a:off x="458969" y="2951174"/>
            <a:ext cx="2476202"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CSAT %</a:t>
            </a:r>
            <a:endParaRPr lang="en-US" sz="1650" dirty="0"/>
          </a:p>
        </p:txBody>
      </p:sp>
      <p:sp>
        <p:nvSpPr>
          <p:cNvPr id="10" name="Shape 8"/>
          <p:cNvSpPr/>
          <p:nvPr/>
        </p:nvSpPr>
        <p:spPr>
          <a:xfrm>
            <a:off x="458969" y="3410081"/>
            <a:ext cx="6644089" cy="471954"/>
          </a:xfrm>
          <a:prstGeom prst="roundRect">
            <a:avLst>
              <a:gd name="adj" fmla="val 4168"/>
            </a:avLst>
          </a:prstGeom>
          <a:solidFill>
            <a:srgbClr val="693145"/>
          </a:solidFill>
          <a:ln/>
        </p:spPr>
        <p:txBody>
          <a:bodyPr/>
          <a:lstStyle/>
          <a:p>
            <a:endParaRPr lang="en-US"/>
          </a:p>
        </p:txBody>
      </p:sp>
      <p:sp>
        <p:nvSpPr>
          <p:cNvPr id="11" name="Shape 9"/>
          <p:cNvSpPr/>
          <p:nvPr/>
        </p:nvSpPr>
        <p:spPr>
          <a:xfrm>
            <a:off x="452445" y="3410081"/>
            <a:ext cx="6657136" cy="471954"/>
          </a:xfrm>
          <a:prstGeom prst="roundRect">
            <a:avLst>
              <a:gd name="adj" fmla="val 4168"/>
            </a:avLst>
          </a:prstGeom>
          <a:solidFill>
            <a:srgbClr val="693145"/>
          </a:solidFill>
          <a:ln/>
        </p:spPr>
        <p:txBody>
          <a:bodyPr/>
          <a:lstStyle/>
          <a:p>
            <a:endParaRPr lang="en-US"/>
          </a:p>
        </p:txBody>
      </p:sp>
      <p:sp>
        <p:nvSpPr>
          <p:cNvPr id="12" name="Text 10"/>
          <p:cNvSpPr/>
          <p:nvPr/>
        </p:nvSpPr>
        <p:spPr>
          <a:xfrm>
            <a:off x="616327" y="3541163"/>
            <a:ext cx="6707476"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CSAT % = DIVIDE([CSAT Satisfied Orders], [Total Orders])</a:t>
            </a:r>
            <a:endParaRPr lang="en-US" sz="1000" dirty="0"/>
          </a:p>
        </p:txBody>
      </p:sp>
      <p:sp>
        <p:nvSpPr>
          <p:cNvPr id="13" name="Text 11"/>
          <p:cNvSpPr/>
          <p:nvPr/>
        </p:nvSpPr>
        <p:spPr>
          <a:xfrm>
            <a:off x="458969" y="4029548"/>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Measures the share of total orders that received a satisfied CSAT response.</a:t>
            </a:r>
            <a:endParaRPr lang="en-US" sz="1000" dirty="0"/>
          </a:p>
        </p:txBody>
      </p:sp>
      <p:sp>
        <p:nvSpPr>
          <p:cNvPr id="14" name="Text 12"/>
          <p:cNvSpPr/>
          <p:nvPr/>
        </p:nvSpPr>
        <p:spPr>
          <a:xfrm>
            <a:off x="458969" y="4436023"/>
            <a:ext cx="2476202"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PM CSAT %</a:t>
            </a:r>
            <a:endParaRPr lang="en-US" sz="1650" dirty="0"/>
          </a:p>
        </p:txBody>
      </p:sp>
      <p:sp>
        <p:nvSpPr>
          <p:cNvPr id="15" name="Shape 13"/>
          <p:cNvSpPr/>
          <p:nvPr/>
        </p:nvSpPr>
        <p:spPr>
          <a:xfrm>
            <a:off x="458969" y="4894930"/>
            <a:ext cx="6644089" cy="471954"/>
          </a:xfrm>
          <a:prstGeom prst="roundRect">
            <a:avLst>
              <a:gd name="adj" fmla="val 4168"/>
            </a:avLst>
          </a:prstGeom>
          <a:solidFill>
            <a:srgbClr val="693145"/>
          </a:solidFill>
          <a:ln/>
        </p:spPr>
        <p:txBody>
          <a:bodyPr/>
          <a:lstStyle/>
          <a:p>
            <a:endParaRPr lang="en-US"/>
          </a:p>
        </p:txBody>
      </p:sp>
      <p:sp>
        <p:nvSpPr>
          <p:cNvPr id="16" name="Shape 14"/>
          <p:cNvSpPr/>
          <p:nvPr/>
        </p:nvSpPr>
        <p:spPr>
          <a:xfrm>
            <a:off x="452445" y="4894930"/>
            <a:ext cx="6657136" cy="471954"/>
          </a:xfrm>
          <a:prstGeom prst="roundRect">
            <a:avLst>
              <a:gd name="adj" fmla="val 4168"/>
            </a:avLst>
          </a:prstGeom>
          <a:solidFill>
            <a:srgbClr val="693145"/>
          </a:solidFill>
          <a:ln/>
        </p:spPr>
        <p:txBody>
          <a:bodyPr/>
          <a:lstStyle/>
          <a:p>
            <a:endParaRPr lang="en-US"/>
          </a:p>
        </p:txBody>
      </p:sp>
      <p:sp>
        <p:nvSpPr>
          <p:cNvPr id="17" name="Text 15"/>
          <p:cNvSpPr/>
          <p:nvPr/>
        </p:nvSpPr>
        <p:spPr>
          <a:xfrm>
            <a:off x="616327" y="5026011"/>
            <a:ext cx="6707476"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PM CSAT % = CALCULATE([CSAT %], DATEADD('Date Table'[Date], -1, MONTH))</a:t>
            </a:r>
            <a:endParaRPr lang="en-US" sz="1000" dirty="0"/>
          </a:p>
        </p:txBody>
      </p:sp>
      <p:sp>
        <p:nvSpPr>
          <p:cNvPr id="18" name="Text 16"/>
          <p:cNvSpPr/>
          <p:nvPr/>
        </p:nvSpPr>
        <p:spPr>
          <a:xfrm>
            <a:off x="458969" y="5514397"/>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Returns the prior month's CSAT percentage for comparison.</a:t>
            </a:r>
            <a:endParaRPr lang="en-US" sz="1000" dirty="0"/>
          </a:p>
        </p:txBody>
      </p:sp>
      <p:sp>
        <p:nvSpPr>
          <p:cNvPr id="19" name="Text 17"/>
          <p:cNvSpPr/>
          <p:nvPr/>
        </p:nvSpPr>
        <p:spPr>
          <a:xfrm>
            <a:off x="458969" y="5920872"/>
            <a:ext cx="2476202"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MoM CSAT %</a:t>
            </a:r>
            <a:endParaRPr lang="en-US" sz="1650" dirty="0"/>
          </a:p>
        </p:txBody>
      </p:sp>
      <p:sp>
        <p:nvSpPr>
          <p:cNvPr id="20" name="Shape 18"/>
          <p:cNvSpPr/>
          <p:nvPr/>
        </p:nvSpPr>
        <p:spPr>
          <a:xfrm>
            <a:off x="458969" y="6379779"/>
            <a:ext cx="6644089" cy="471954"/>
          </a:xfrm>
          <a:prstGeom prst="roundRect">
            <a:avLst>
              <a:gd name="adj" fmla="val 4168"/>
            </a:avLst>
          </a:prstGeom>
          <a:solidFill>
            <a:srgbClr val="693145"/>
          </a:solidFill>
          <a:ln/>
        </p:spPr>
        <p:txBody>
          <a:bodyPr/>
          <a:lstStyle/>
          <a:p>
            <a:endParaRPr lang="en-US"/>
          </a:p>
        </p:txBody>
      </p:sp>
      <p:sp>
        <p:nvSpPr>
          <p:cNvPr id="21" name="Shape 19"/>
          <p:cNvSpPr/>
          <p:nvPr/>
        </p:nvSpPr>
        <p:spPr>
          <a:xfrm>
            <a:off x="452445" y="6379779"/>
            <a:ext cx="6657136" cy="471954"/>
          </a:xfrm>
          <a:prstGeom prst="roundRect">
            <a:avLst>
              <a:gd name="adj" fmla="val 4168"/>
            </a:avLst>
          </a:prstGeom>
          <a:solidFill>
            <a:srgbClr val="693145"/>
          </a:solidFill>
          <a:ln/>
        </p:spPr>
        <p:txBody>
          <a:bodyPr/>
          <a:lstStyle/>
          <a:p>
            <a:endParaRPr lang="en-US"/>
          </a:p>
        </p:txBody>
      </p:sp>
      <p:sp>
        <p:nvSpPr>
          <p:cNvPr id="22" name="Text 20"/>
          <p:cNvSpPr/>
          <p:nvPr/>
        </p:nvSpPr>
        <p:spPr>
          <a:xfrm>
            <a:off x="616327" y="6510860"/>
            <a:ext cx="6707476"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MoM CSAT % = DIVIDE([CSAT %] - [PM CSAT], [PM CSAT])</a:t>
            </a:r>
            <a:endParaRPr lang="en-US" sz="1000" dirty="0"/>
          </a:p>
        </p:txBody>
      </p:sp>
      <p:sp>
        <p:nvSpPr>
          <p:cNvPr id="23" name="Text 21"/>
          <p:cNvSpPr/>
          <p:nvPr/>
        </p:nvSpPr>
        <p:spPr>
          <a:xfrm>
            <a:off x="458969" y="6999245"/>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Shows the month-over-month change in CSAT percentage.</a:t>
            </a:r>
            <a:endParaRPr lang="en-US" sz="1000" dirty="0"/>
          </a:p>
        </p:txBody>
      </p:sp>
      <p:sp>
        <p:nvSpPr>
          <p:cNvPr id="24" name="TextBox 23">
            <a:extLst>
              <a:ext uri="{FF2B5EF4-FFF2-40B4-BE49-F238E27FC236}">
                <a16:creationId xmlns:a16="http://schemas.microsoft.com/office/drawing/2014/main" id="{E8C37F12-15CE-5F8F-2FB1-C71795792C67}"/>
              </a:ext>
            </a:extLst>
          </p:cNvPr>
          <p:cNvSpPr txBox="1"/>
          <p:nvPr/>
        </p:nvSpPr>
        <p:spPr>
          <a:xfrm>
            <a:off x="6957391" y="9992139"/>
            <a:ext cx="523772" cy="369332"/>
          </a:xfrm>
          <a:prstGeom prst="rect">
            <a:avLst/>
          </a:prstGeom>
          <a:noFill/>
        </p:spPr>
        <p:txBody>
          <a:bodyPr wrap="square" rtlCol="0">
            <a:spAutoFit/>
          </a:bodyPr>
          <a:lstStyle/>
          <a:p>
            <a:fld id="{E128D279-1EAD-4E1A-A0BC-98B91F065225}" type="slidenum">
              <a:rPr lang="en-US" smtClean="0">
                <a:solidFill>
                  <a:srgbClr val="F4CAB8"/>
                </a:solidFill>
                <a:latin typeface="Brygada 1918" pitchFamily="2" charset="0"/>
                <a:ea typeface="Brygada 1918" pitchFamily="2" charset="0"/>
              </a:rPr>
              <a:t>13</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8969" y="360566"/>
            <a:ext cx="2476202" cy="262224"/>
          </a:xfrm>
          <a:prstGeom prst="rect">
            <a:avLst/>
          </a:prstGeom>
          <a:noFill/>
          <a:ln/>
        </p:spPr>
        <p:txBody>
          <a:bodyPr wrap="none" lIns="0" tIns="0" rIns="0" bIns="0" rtlCol="0" anchor="t"/>
          <a:lstStyle/>
          <a:p>
            <a:pPr marL="0" indent="0" algn="l">
              <a:lnSpc>
                <a:spcPct val="104000"/>
              </a:lnSpc>
              <a:buNone/>
            </a:pPr>
            <a:endParaRPr lang="en-US" sz="1650" dirty="0"/>
          </a:p>
        </p:txBody>
      </p:sp>
      <p:sp>
        <p:nvSpPr>
          <p:cNvPr id="3" name="Text 1"/>
          <p:cNvSpPr/>
          <p:nvPr/>
        </p:nvSpPr>
        <p:spPr>
          <a:xfrm>
            <a:off x="458969" y="675222"/>
            <a:ext cx="3875016" cy="437061"/>
          </a:xfrm>
          <a:prstGeom prst="rect">
            <a:avLst/>
          </a:prstGeom>
          <a:noFill/>
          <a:ln/>
        </p:spPr>
        <p:txBody>
          <a:bodyPr wrap="none" lIns="0" tIns="0" rIns="0" bIns="0" rtlCol="0" anchor="t"/>
          <a:lstStyle/>
          <a:p>
            <a:pPr marL="0" indent="0" algn="l">
              <a:lnSpc>
                <a:spcPct val="104000"/>
              </a:lnSpc>
              <a:buNone/>
            </a:pPr>
            <a:r>
              <a:rPr lang="en-US" sz="2750" b="1" dirty="0">
                <a:solidFill>
                  <a:srgbClr val="FFB393"/>
                </a:solidFill>
                <a:latin typeface="Brygada 1918 Bold" pitchFamily="34" charset="0"/>
                <a:ea typeface="Brygada 1918 Bold" pitchFamily="34" charset="-122"/>
                <a:cs typeface="Brygada 1918 Bold" pitchFamily="34" charset="-120"/>
              </a:rPr>
              <a:t>Time Metrics</a:t>
            </a:r>
            <a:endParaRPr lang="en-US" sz="2750" dirty="0"/>
          </a:p>
        </p:txBody>
      </p:sp>
      <p:sp>
        <p:nvSpPr>
          <p:cNvPr id="4" name="Text 2"/>
          <p:cNvSpPr/>
          <p:nvPr/>
        </p:nvSpPr>
        <p:spPr>
          <a:xfrm>
            <a:off x="458969" y="1308966"/>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These measures track delivery duration and how it changes over time.</a:t>
            </a:r>
            <a:endParaRPr lang="en-US" sz="1000" dirty="0"/>
          </a:p>
        </p:txBody>
      </p:sp>
      <p:sp>
        <p:nvSpPr>
          <p:cNvPr id="5" name="Text 3"/>
          <p:cNvSpPr/>
          <p:nvPr/>
        </p:nvSpPr>
        <p:spPr>
          <a:xfrm>
            <a:off x="458969" y="1715441"/>
            <a:ext cx="2710610"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Avg Delivery Time (Hrs)</a:t>
            </a:r>
            <a:endParaRPr lang="en-US" sz="1650" dirty="0"/>
          </a:p>
        </p:txBody>
      </p:sp>
      <p:sp>
        <p:nvSpPr>
          <p:cNvPr id="6" name="Shape 4"/>
          <p:cNvSpPr/>
          <p:nvPr/>
        </p:nvSpPr>
        <p:spPr>
          <a:xfrm>
            <a:off x="458969" y="2174348"/>
            <a:ext cx="6644089" cy="471954"/>
          </a:xfrm>
          <a:prstGeom prst="roundRect">
            <a:avLst>
              <a:gd name="adj" fmla="val 4168"/>
            </a:avLst>
          </a:prstGeom>
          <a:solidFill>
            <a:srgbClr val="693145"/>
          </a:solidFill>
          <a:ln/>
        </p:spPr>
        <p:txBody>
          <a:bodyPr/>
          <a:lstStyle/>
          <a:p>
            <a:endParaRPr lang="en-US"/>
          </a:p>
        </p:txBody>
      </p:sp>
      <p:sp>
        <p:nvSpPr>
          <p:cNvPr id="7" name="Shape 5"/>
          <p:cNvSpPr/>
          <p:nvPr/>
        </p:nvSpPr>
        <p:spPr>
          <a:xfrm>
            <a:off x="452445" y="2174348"/>
            <a:ext cx="6657136" cy="471954"/>
          </a:xfrm>
          <a:prstGeom prst="roundRect">
            <a:avLst>
              <a:gd name="adj" fmla="val 4168"/>
            </a:avLst>
          </a:prstGeom>
          <a:solidFill>
            <a:srgbClr val="693145"/>
          </a:solidFill>
          <a:ln/>
        </p:spPr>
        <p:txBody>
          <a:bodyPr/>
          <a:lstStyle/>
          <a:p>
            <a:endParaRPr lang="en-US"/>
          </a:p>
        </p:txBody>
      </p:sp>
      <p:sp>
        <p:nvSpPr>
          <p:cNvPr id="8" name="Text 6"/>
          <p:cNvSpPr/>
          <p:nvPr/>
        </p:nvSpPr>
        <p:spPr>
          <a:xfrm>
            <a:off x="616327" y="2305430"/>
            <a:ext cx="6707476"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Avg Delivery Time (Hrs) = AVERAGE(Orders[Delivery Time Hours])</a:t>
            </a:r>
            <a:endParaRPr lang="en-US" sz="1000" dirty="0"/>
          </a:p>
        </p:txBody>
      </p:sp>
      <p:sp>
        <p:nvSpPr>
          <p:cNvPr id="9" name="Text 7"/>
          <p:cNvSpPr/>
          <p:nvPr/>
        </p:nvSpPr>
        <p:spPr>
          <a:xfrm>
            <a:off x="458969" y="2793815"/>
            <a:ext cx="6644089"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Calculates the average hours from order placement to delivery. Lower values indicate faster fulfillment.</a:t>
            </a:r>
            <a:endParaRPr lang="en-US" sz="1000" dirty="0"/>
          </a:p>
        </p:txBody>
      </p:sp>
      <p:sp>
        <p:nvSpPr>
          <p:cNvPr id="10" name="Text 8"/>
          <p:cNvSpPr/>
          <p:nvPr/>
        </p:nvSpPr>
        <p:spPr>
          <a:xfrm>
            <a:off x="458969" y="3410081"/>
            <a:ext cx="2552389"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PM Avg Delivery Time</a:t>
            </a:r>
            <a:endParaRPr lang="en-US" sz="1650" dirty="0"/>
          </a:p>
        </p:txBody>
      </p:sp>
      <p:sp>
        <p:nvSpPr>
          <p:cNvPr id="11" name="Shape 9"/>
          <p:cNvSpPr/>
          <p:nvPr/>
        </p:nvSpPr>
        <p:spPr>
          <a:xfrm>
            <a:off x="458969" y="3868989"/>
            <a:ext cx="6644089" cy="681745"/>
          </a:xfrm>
          <a:prstGeom prst="roundRect">
            <a:avLst>
              <a:gd name="adj" fmla="val 2885"/>
            </a:avLst>
          </a:prstGeom>
          <a:solidFill>
            <a:srgbClr val="693145"/>
          </a:solidFill>
          <a:ln/>
        </p:spPr>
        <p:txBody>
          <a:bodyPr/>
          <a:lstStyle/>
          <a:p>
            <a:endParaRPr lang="en-US"/>
          </a:p>
        </p:txBody>
      </p:sp>
      <p:sp>
        <p:nvSpPr>
          <p:cNvPr id="12" name="Shape 10"/>
          <p:cNvSpPr/>
          <p:nvPr/>
        </p:nvSpPr>
        <p:spPr>
          <a:xfrm>
            <a:off x="452445" y="3868989"/>
            <a:ext cx="6657136" cy="681745"/>
          </a:xfrm>
          <a:prstGeom prst="roundRect">
            <a:avLst>
              <a:gd name="adj" fmla="val 2885"/>
            </a:avLst>
          </a:prstGeom>
          <a:solidFill>
            <a:srgbClr val="693145"/>
          </a:solidFill>
          <a:ln/>
        </p:spPr>
        <p:txBody>
          <a:bodyPr/>
          <a:lstStyle/>
          <a:p>
            <a:endParaRPr lang="en-US"/>
          </a:p>
        </p:txBody>
      </p:sp>
      <p:sp>
        <p:nvSpPr>
          <p:cNvPr id="13" name="Text 11"/>
          <p:cNvSpPr/>
          <p:nvPr/>
        </p:nvSpPr>
        <p:spPr>
          <a:xfrm>
            <a:off x="616327" y="4000070"/>
            <a:ext cx="6329372"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PM Avg Delivery Time = CALCULATE([Avg Delivery Time (Hrs)], DATEADD('Date Table'[Date], -1, MONTH))</a:t>
            </a:r>
            <a:endParaRPr lang="en-US" sz="1000" dirty="0"/>
          </a:p>
        </p:txBody>
      </p:sp>
      <p:sp>
        <p:nvSpPr>
          <p:cNvPr id="14" name="Text 12"/>
          <p:cNvSpPr/>
          <p:nvPr/>
        </p:nvSpPr>
        <p:spPr>
          <a:xfrm>
            <a:off x="458969" y="4698247"/>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Returns the prior month's average delivery time for comparison.</a:t>
            </a:r>
            <a:endParaRPr lang="en-US" sz="1000" dirty="0"/>
          </a:p>
        </p:txBody>
      </p:sp>
      <p:sp>
        <p:nvSpPr>
          <p:cNvPr id="15" name="Text 13"/>
          <p:cNvSpPr/>
          <p:nvPr/>
        </p:nvSpPr>
        <p:spPr>
          <a:xfrm>
            <a:off x="458969" y="5104722"/>
            <a:ext cx="2476202"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MoM Avg Delivery %</a:t>
            </a:r>
            <a:endParaRPr lang="en-US" sz="1650" dirty="0"/>
          </a:p>
        </p:txBody>
      </p:sp>
      <p:sp>
        <p:nvSpPr>
          <p:cNvPr id="16" name="Shape 14"/>
          <p:cNvSpPr/>
          <p:nvPr/>
        </p:nvSpPr>
        <p:spPr>
          <a:xfrm>
            <a:off x="458969" y="5563629"/>
            <a:ext cx="6644089" cy="681745"/>
          </a:xfrm>
          <a:prstGeom prst="roundRect">
            <a:avLst>
              <a:gd name="adj" fmla="val 2885"/>
            </a:avLst>
          </a:prstGeom>
          <a:solidFill>
            <a:srgbClr val="693145"/>
          </a:solidFill>
          <a:ln/>
        </p:spPr>
        <p:txBody>
          <a:bodyPr/>
          <a:lstStyle/>
          <a:p>
            <a:endParaRPr lang="en-US"/>
          </a:p>
        </p:txBody>
      </p:sp>
      <p:sp>
        <p:nvSpPr>
          <p:cNvPr id="17" name="Shape 15"/>
          <p:cNvSpPr/>
          <p:nvPr/>
        </p:nvSpPr>
        <p:spPr>
          <a:xfrm>
            <a:off x="452445" y="5563629"/>
            <a:ext cx="6657136" cy="681745"/>
          </a:xfrm>
          <a:prstGeom prst="roundRect">
            <a:avLst>
              <a:gd name="adj" fmla="val 2885"/>
            </a:avLst>
          </a:prstGeom>
          <a:solidFill>
            <a:srgbClr val="693145"/>
          </a:solidFill>
          <a:ln/>
        </p:spPr>
        <p:txBody>
          <a:bodyPr/>
          <a:lstStyle/>
          <a:p>
            <a:endParaRPr lang="en-US"/>
          </a:p>
        </p:txBody>
      </p:sp>
      <p:sp>
        <p:nvSpPr>
          <p:cNvPr id="18" name="Text 16"/>
          <p:cNvSpPr/>
          <p:nvPr/>
        </p:nvSpPr>
        <p:spPr>
          <a:xfrm>
            <a:off x="616327" y="5694710"/>
            <a:ext cx="6329372"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MoM Avg Delivery % = DIVIDE([Avg Delivery Time (Hrs)] - [PM Avg Delivery Time], [PM Avg Delivery Time])</a:t>
            </a:r>
            <a:endParaRPr lang="en-US" sz="1000" dirty="0"/>
          </a:p>
        </p:txBody>
      </p:sp>
      <p:sp>
        <p:nvSpPr>
          <p:cNvPr id="19" name="Text 17"/>
          <p:cNvSpPr/>
          <p:nvPr/>
        </p:nvSpPr>
        <p:spPr>
          <a:xfrm>
            <a:off x="458969" y="6392887"/>
            <a:ext cx="6644089"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Shows the percentage change in delivery time versus prior month. Positive values indicate slower delivery (unfavorable).</a:t>
            </a:r>
            <a:endParaRPr lang="en-US" sz="1000" dirty="0"/>
          </a:p>
        </p:txBody>
      </p:sp>
      <p:sp>
        <p:nvSpPr>
          <p:cNvPr id="20" name="Text 18"/>
          <p:cNvSpPr/>
          <p:nvPr/>
        </p:nvSpPr>
        <p:spPr>
          <a:xfrm>
            <a:off x="458969" y="7009153"/>
            <a:ext cx="2476202"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Year Month Title</a:t>
            </a:r>
            <a:endParaRPr lang="en-US" sz="1650" dirty="0"/>
          </a:p>
        </p:txBody>
      </p:sp>
      <p:sp>
        <p:nvSpPr>
          <p:cNvPr id="21" name="Shape 19"/>
          <p:cNvSpPr/>
          <p:nvPr/>
        </p:nvSpPr>
        <p:spPr>
          <a:xfrm>
            <a:off x="458969" y="7468061"/>
            <a:ext cx="6644089" cy="471954"/>
          </a:xfrm>
          <a:prstGeom prst="roundRect">
            <a:avLst>
              <a:gd name="adj" fmla="val 4168"/>
            </a:avLst>
          </a:prstGeom>
          <a:solidFill>
            <a:srgbClr val="693145"/>
          </a:solidFill>
          <a:ln/>
        </p:spPr>
        <p:txBody>
          <a:bodyPr/>
          <a:lstStyle/>
          <a:p>
            <a:endParaRPr lang="en-US"/>
          </a:p>
        </p:txBody>
      </p:sp>
      <p:sp>
        <p:nvSpPr>
          <p:cNvPr id="22" name="Shape 20"/>
          <p:cNvSpPr/>
          <p:nvPr/>
        </p:nvSpPr>
        <p:spPr>
          <a:xfrm>
            <a:off x="452445" y="7468061"/>
            <a:ext cx="6657136" cy="471954"/>
          </a:xfrm>
          <a:prstGeom prst="roundRect">
            <a:avLst>
              <a:gd name="adj" fmla="val 4168"/>
            </a:avLst>
          </a:prstGeom>
          <a:solidFill>
            <a:srgbClr val="693145"/>
          </a:solidFill>
          <a:ln/>
        </p:spPr>
        <p:txBody>
          <a:bodyPr/>
          <a:lstStyle/>
          <a:p>
            <a:endParaRPr lang="en-US"/>
          </a:p>
        </p:txBody>
      </p:sp>
      <p:sp>
        <p:nvSpPr>
          <p:cNvPr id="23" name="Text 21"/>
          <p:cNvSpPr/>
          <p:nvPr/>
        </p:nvSpPr>
        <p:spPr>
          <a:xfrm>
            <a:off x="616327" y="7599142"/>
            <a:ext cx="6707476" cy="209792"/>
          </a:xfrm>
          <a:prstGeom prst="rect">
            <a:avLst/>
          </a:prstGeom>
          <a:noFill/>
          <a:ln/>
        </p:spPr>
        <p:txBody>
          <a:bodyPr wrap="none" lIns="0" tIns="0" rIns="0" bIns="0" rtlCol="0" anchor="t"/>
          <a:lstStyle/>
          <a:p>
            <a:pPr marL="0" indent="0" algn="l">
              <a:lnSpc>
                <a:spcPct val="133000"/>
              </a:lnSpc>
              <a:buNone/>
            </a:pPr>
            <a:r>
              <a:rPr lang="en-US" sz="1000" dirty="0">
                <a:solidFill>
                  <a:srgbClr val="FF7B72"/>
                </a:solidFill>
                <a:highlight>
                  <a:srgbClr val="693145"/>
                </a:highlight>
                <a:latin typeface="Consolas Medium" pitchFamily="34" charset="0"/>
                <a:ea typeface="Consolas Medium" pitchFamily="34" charset="-122"/>
                <a:cs typeface="Consolas Medium" pitchFamily="34" charset="-120"/>
              </a:rPr>
              <a:t>Year Month Title = SELECTEDVALUE('Date Table'[Month]) &amp; " " &amp; SELECTEDVALUE('Date Table'[Year])</a:t>
            </a:r>
            <a:endParaRPr lang="en-US" sz="1000" dirty="0"/>
          </a:p>
        </p:txBody>
      </p:sp>
      <p:sp>
        <p:nvSpPr>
          <p:cNvPr id="24" name="Text 22"/>
          <p:cNvSpPr/>
          <p:nvPr/>
        </p:nvSpPr>
        <p:spPr>
          <a:xfrm>
            <a:off x="458969" y="8087527"/>
            <a:ext cx="6644089"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Generates a dynamic text title showing the selected month and year (e.g., 'June 2023') for dashboard headers.</a:t>
            </a:r>
            <a:endParaRPr lang="en-US" sz="1000" dirty="0"/>
          </a:p>
        </p:txBody>
      </p:sp>
      <p:sp>
        <p:nvSpPr>
          <p:cNvPr id="25" name="TextBox 24">
            <a:extLst>
              <a:ext uri="{FF2B5EF4-FFF2-40B4-BE49-F238E27FC236}">
                <a16:creationId xmlns:a16="http://schemas.microsoft.com/office/drawing/2014/main" id="{97EFA60E-D59D-08E9-3789-2D95CF5AF1AF}"/>
              </a:ext>
            </a:extLst>
          </p:cNvPr>
          <p:cNvSpPr txBox="1"/>
          <p:nvPr/>
        </p:nvSpPr>
        <p:spPr>
          <a:xfrm>
            <a:off x="6945699" y="9978311"/>
            <a:ext cx="629789" cy="369332"/>
          </a:xfrm>
          <a:prstGeom prst="rect">
            <a:avLst/>
          </a:prstGeom>
          <a:noFill/>
        </p:spPr>
        <p:txBody>
          <a:bodyPr wrap="square" rtlCol="0">
            <a:spAutoFit/>
          </a:bodyPr>
          <a:lstStyle/>
          <a:p>
            <a:fld id="{93AACA26-0F0F-45BC-B1FC-96B8A6FBAA83}" type="slidenum">
              <a:rPr lang="en-US" smtClean="0">
                <a:solidFill>
                  <a:srgbClr val="F4CAB8"/>
                </a:solidFill>
                <a:latin typeface="Brygada 1918" pitchFamily="2" charset="0"/>
                <a:ea typeface="Brygada 1918" pitchFamily="2" charset="0"/>
              </a:rPr>
              <a:t>14</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8969" y="360566"/>
            <a:ext cx="3711073" cy="416629"/>
          </a:xfrm>
          <a:prstGeom prst="rect">
            <a:avLst/>
          </a:prstGeom>
          <a:noFill/>
          <a:ln/>
        </p:spPr>
        <p:txBody>
          <a:bodyPr wrap="none" lIns="0" tIns="0" rIns="0" bIns="0" rtlCol="0" anchor="t"/>
          <a:lstStyle/>
          <a:p>
            <a:pPr marL="0" indent="0" algn="l">
              <a:lnSpc>
                <a:spcPct val="104000"/>
              </a:lnSpc>
              <a:buNone/>
            </a:pPr>
            <a:r>
              <a:rPr lang="en-US" sz="2600" b="1" dirty="0">
                <a:solidFill>
                  <a:srgbClr val="FFB393"/>
                </a:solidFill>
                <a:latin typeface="Brygada 1918 Bold" pitchFamily="34" charset="0"/>
                <a:ea typeface="Brygada 1918 Bold" pitchFamily="34" charset="-122"/>
                <a:cs typeface="Brygada 1918 Bold" pitchFamily="34" charset="-120"/>
              </a:rPr>
              <a:t>Vehicle Metrics</a:t>
            </a:r>
            <a:endParaRPr lang="en-US" sz="2600" dirty="0"/>
          </a:p>
        </p:txBody>
      </p:sp>
      <p:sp>
        <p:nvSpPr>
          <p:cNvPr id="3" name="Text 1"/>
          <p:cNvSpPr/>
          <p:nvPr/>
        </p:nvSpPr>
        <p:spPr>
          <a:xfrm>
            <a:off x="458969" y="1015418"/>
            <a:ext cx="7022194"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Montserrat Medium" pitchFamily="34" charset="0"/>
                <a:ea typeface="Montserrat Medium" pitchFamily="34" charset="-122"/>
                <a:cs typeface="Montserrat Medium" pitchFamily="34" charset="-120"/>
              </a:rPr>
              <a:t>These measures track fleet health and identify vehicles requiring maintenance attention.</a:t>
            </a:r>
            <a:endParaRPr lang="en-US" sz="950" dirty="0"/>
          </a:p>
        </p:txBody>
      </p:sp>
      <p:sp>
        <p:nvSpPr>
          <p:cNvPr id="4" name="Text 2"/>
          <p:cNvSpPr/>
          <p:nvPr/>
        </p:nvSpPr>
        <p:spPr>
          <a:xfrm>
            <a:off x="458969" y="1389338"/>
            <a:ext cx="2377861" cy="249977"/>
          </a:xfrm>
          <a:prstGeom prst="rect">
            <a:avLst/>
          </a:prstGeom>
          <a:noFill/>
          <a:ln/>
        </p:spPr>
        <p:txBody>
          <a:bodyPr wrap="none" lIns="0" tIns="0" rIns="0" bIns="0" rtlCol="0" anchor="t"/>
          <a:lstStyle/>
          <a:p>
            <a:pPr marL="0" indent="0" algn="l">
              <a:lnSpc>
                <a:spcPct val="104000"/>
              </a:lnSpc>
              <a:buNone/>
            </a:pPr>
            <a:r>
              <a:rPr lang="en-US" sz="1550" b="1" dirty="0">
                <a:solidFill>
                  <a:srgbClr val="FFB393"/>
                </a:solidFill>
                <a:latin typeface="Brygada 1918 Bold" pitchFamily="34" charset="0"/>
                <a:ea typeface="Brygada 1918 Bold" pitchFamily="34" charset="-122"/>
                <a:cs typeface="Brygada 1918 Bold" pitchFamily="34" charset="-120"/>
              </a:rPr>
              <a:t>Total Vehicles</a:t>
            </a:r>
            <a:endParaRPr lang="en-US" sz="1550" dirty="0"/>
          </a:p>
        </p:txBody>
      </p:sp>
      <p:sp>
        <p:nvSpPr>
          <p:cNvPr id="5" name="Shape 3"/>
          <p:cNvSpPr/>
          <p:nvPr/>
        </p:nvSpPr>
        <p:spPr>
          <a:xfrm>
            <a:off x="458969" y="1817967"/>
            <a:ext cx="6644089" cy="445122"/>
          </a:xfrm>
          <a:prstGeom prst="roundRect">
            <a:avLst>
              <a:gd name="adj" fmla="val 4212"/>
            </a:avLst>
          </a:prstGeom>
          <a:solidFill>
            <a:srgbClr val="693145"/>
          </a:solidFill>
          <a:ln/>
        </p:spPr>
        <p:txBody>
          <a:bodyPr/>
          <a:lstStyle/>
          <a:p>
            <a:endParaRPr lang="en-US"/>
          </a:p>
        </p:txBody>
      </p:sp>
      <p:sp>
        <p:nvSpPr>
          <p:cNvPr id="6" name="Shape 4"/>
          <p:cNvSpPr/>
          <p:nvPr/>
        </p:nvSpPr>
        <p:spPr>
          <a:xfrm>
            <a:off x="452753" y="1817967"/>
            <a:ext cx="6656521" cy="445122"/>
          </a:xfrm>
          <a:prstGeom prst="roundRect">
            <a:avLst>
              <a:gd name="adj" fmla="val 4212"/>
            </a:avLst>
          </a:prstGeom>
          <a:solidFill>
            <a:srgbClr val="693145"/>
          </a:solidFill>
          <a:ln/>
        </p:spPr>
        <p:txBody>
          <a:bodyPr/>
          <a:lstStyle/>
          <a:p>
            <a:endParaRPr lang="en-US"/>
          </a:p>
        </p:txBody>
      </p:sp>
      <p:sp>
        <p:nvSpPr>
          <p:cNvPr id="7" name="Text 5"/>
          <p:cNvSpPr/>
          <p:nvPr/>
        </p:nvSpPr>
        <p:spPr>
          <a:xfrm>
            <a:off x="608943" y="1942895"/>
            <a:ext cx="6722246"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Consolas Medium" pitchFamily="34" charset="0"/>
                <a:ea typeface="Consolas Medium" pitchFamily="34" charset="-122"/>
                <a:cs typeface="Consolas Medium" pitchFamily="34" charset="-120"/>
              </a:rPr>
              <a:t>Total Vehicles = COUNT(Vehicles[Vehicle ID])</a:t>
            </a:r>
            <a:endParaRPr lang="en-US" sz="950" dirty="0"/>
          </a:p>
        </p:txBody>
      </p:sp>
      <p:sp>
        <p:nvSpPr>
          <p:cNvPr id="8" name="Text 6"/>
          <p:cNvSpPr/>
          <p:nvPr/>
        </p:nvSpPr>
        <p:spPr>
          <a:xfrm>
            <a:off x="458969" y="2397063"/>
            <a:ext cx="7022194"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Montserrat Medium" pitchFamily="34" charset="0"/>
                <a:ea typeface="Montserrat Medium" pitchFamily="34" charset="-122"/>
                <a:cs typeface="Montserrat Medium" pitchFamily="34" charset="-120"/>
              </a:rPr>
              <a:t>Business Meaning: Counts the total number of vehicles in the fleet (currently 45 across nine models).</a:t>
            </a:r>
            <a:endParaRPr lang="en-US" sz="950" dirty="0"/>
          </a:p>
        </p:txBody>
      </p:sp>
      <p:sp>
        <p:nvSpPr>
          <p:cNvPr id="9" name="Text 7"/>
          <p:cNvSpPr/>
          <p:nvPr/>
        </p:nvSpPr>
        <p:spPr>
          <a:xfrm>
            <a:off x="458969" y="2770983"/>
            <a:ext cx="2377861" cy="249977"/>
          </a:xfrm>
          <a:prstGeom prst="rect">
            <a:avLst/>
          </a:prstGeom>
          <a:noFill/>
          <a:ln/>
        </p:spPr>
        <p:txBody>
          <a:bodyPr wrap="none" lIns="0" tIns="0" rIns="0" bIns="0" rtlCol="0" anchor="t"/>
          <a:lstStyle/>
          <a:p>
            <a:pPr marL="0" indent="0" algn="l">
              <a:lnSpc>
                <a:spcPct val="104000"/>
              </a:lnSpc>
              <a:buNone/>
            </a:pPr>
            <a:r>
              <a:rPr lang="en-US" sz="1550" b="1" dirty="0">
                <a:solidFill>
                  <a:srgbClr val="FFB393"/>
                </a:solidFill>
                <a:latin typeface="Brygada 1918 Bold" pitchFamily="34" charset="0"/>
                <a:ea typeface="Brygada 1918 Bold" pitchFamily="34" charset="-122"/>
                <a:cs typeface="Brygada 1918 Bold" pitchFamily="34" charset="-120"/>
              </a:rPr>
              <a:t>Avg Breakdown</a:t>
            </a:r>
            <a:endParaRPr lang="en-US" sz="1550" dirty="0"/>
          </a:p>
        </p:txBody>
      </p:sp>
      <p:sp>
        <p:nvSpPr>
          <p:cNvPr id="10" name="Shape 8"/>
          <p:cNvSpPr/>
          <p:nvPr/>
        </p:nvSpPr>
        <p:spPr>
          <a:xfrm>
            <a:off x="458969" y="3199613"/>
            <a:ext cx="6644089" cy="445122"/>
          </a:xfrm>
          <a:prstGeom prst="roundRect">
            <a:avLst>
              <a:gd name="adj" fmla="val 4212"/>
            </a:avLst>
          </a:prstGeom>
          <a:solidFill>
            <a:srgbClr val="693145"/>
          </a:solidFill>
          <a:ln/>
        </p:spPr>
        <p:txBody>
          <a:bodyPr/>
          <a:lstStyle/>
          <a:p>
            <a:endParaRPr lang="en-US"/>
          </a:p>
        </p:txBody>
      </p:sp>
      <p:sp>
        <p:nvSpPr>
          <p:cNvPr id="11" name="Shape 9"/>
          <p:cNvSpPr/>
          <p:nvPr/>
        </p:nvSpPr>
        <p:spPr>
          <a:xfrm>
            <a:off x="452753" y="3199613"/>
            <a:ext cx="6656521" cy="445122"/>
          </a:xfrm>
          <a:prstGeom prst="roundRect">
            <a:avLst>
              <a:gd name="adj" fmla="val 4212"/>
            </a:avLst>
          </a:prstGeom>
          <a:solidFill>
            <a:srgbClr val="693145"/>
          </a:solidFill>
          <a:ln/>
        </p:spPr>
        <p:txBody>
          <a:bodyPr/>
          <a:lstStyle/>
          <a:p>
            <a:endParaRPr lang="en-US"/>
          </a:p>
        </p:txBody>
      </p:sp>
      <p:sp>
        <p:nvSpPr>
          <p:cNvPr id="12" name="Text 10"/>
          <p:cNvSpPr/>
          <p:nvPr/>
        </p:nvSpPr>
        <p:spPr>
          <a:xfrm>
            <a:off x="608943" y="3324540"/>
            <a:ext cx="6722246"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Consolas Medium" pitchFamily="34" charset="0"/>
                <a:ea typeface="Consolas Medium" pitchFamily="34" charset="-122"/>
                <a:cs typeface="Consolas Medium" pitchFamily="34" charset="-120"/>
              </a:rPr>
              <a:t>Avg Breakdown = AVERAGE(Vehicles[Breakdown])</a:t>
            </a:r>
            <a:endParaRPr lang="en-US" sz="950" dirty="0"/>
          </a:p>
        </p:txBody>
      </p:sp>
      <p:sp>
        <p:nvSpPr>
          <p:cNvPr id="13" name="Text 11"/>
          <p:cNvSpPr/>
          <p:nvPr/>
        </p:nvSpPr>
        <p:spPr>
          <a:xfrm>
            <a:off x="458969" y="3778709"/>
            <a:ext cx="6644089" cy="390536"/>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F4CAB8"/>
                </a:solidFill>
                <a:latin typeface="Montserrat Medium" pitchFamily="34" charset="0"/>
                <a:ea typeface="Montserrat Medium" pitchFamily="34" charset="-122"/>
                <a:cs typeface="Montserrat Medium" pitchFamily="34" charset="-120"/>
              </a:rPr>
              <a:t>Business Meaning: Calculates the average breakdowns per vehicle. Current fleet average is 11.93 breakdowns per vehicle.</a:t>
            </a:r>
            <a:endParaRPr lang="en-US" sz="950" dirty="0"/>
          </a:p>
        </p:txBody>
      </p:sp>
      <p:sp>
        <p:nvSpPr>
          <p:cNvPr id="14" name="Text 12"/>
          <p:cNvSpPr/>
          <p:nvPr/>
        </p:nvSpPr>
        <p:spPr>
          <a:xfrm>
            <a:off x="458969" y="4347897"/>
            <a:ext cx="3485281" cy="249977"/>
          </a:xfrm>
          <a:prstGeom prst="rect">
            <a:avLst/>
          </a:prstGeom>
          <a:noFill/>
          <a:ln/>
        </p:spPr>
        <p:txBody>
          <a:bodyPr wrap="none" lIns="0" tIns="0" rIns="0" bIns="0" rtlCol="0" anchor="t"/>
          <a:lstStyle/>
          <a:p>
            <a:pPr marL="0" indent="0" algn="l">
              <a:lnSpc>
                <a:spcPct val="104000"/>
              </a:lnSpc>
              <a:buNone/>
            </a:pPr>
            <a:r>
              <a:rPr lang="en-US" sz="1550" b="1" dirty="0">
                <a:solidFill>
                  <a:srgbClr val="FFB393"/>
                </a:solidFill>
                <a:latin typeface="Brygada 1918 Bold" pitchFamily="34" charset="0"/>
                <a:ea typeface="Brygada 1918 Bold" pitchFamily="34" charset="-122"/>
                <a:cs typeface="Brygada 1918 Bold" pitchFamily="34" charset="-120"/>
              </a:rPr>
              <a:t>Vehicle Age (Calculated Column)</a:t>
            </a:r>
            <a:endParaRPr lang="en-US" sz="1550" dirty="0"/>
          </a:p>
        </p:txBody>
      </p:sp>
      <p:sp>
        <p:nvSpPr>
          <p:cNvPr id="15" name="Shape 13"/>
          <p:cNvSpPr/>
          <p:nvPr/>
        </p:nvSpPr>
        <p:spPr>
          <a:xfrm>
            <a:off x="458969" y="4776526"/>
            <a:ext cx="6644089" cy="445122"/>
          </a:xfrm>
          <a:prstGeom prst="roundRect">
            <a:avLst>
              <a:gd name="adj" fmla="val 4212"/>
            </a:avLst>
          </a:prstGeom>
          <a:solidFill>
            <a:srgbClr val="693145"/>
          </a:solidFill>
          <a:ln/>
        </p:spPr>
        <p:txBody>
          <a:bodyPr/>
          <a:lstStyle/>
          <a:p>
            <a:endParaRPr lang="en-US"/>
          </a:p>
        </p:txBody>
      </p:sp>
      <p:sp>
        <p:nvSpPr>
          <p:cNvPr id="16" name="Shape 14"/>
          <p:cNvSpPr/>
          <p:nvPr/>
        </p:nvSpPr>
        <p:spPr>
          <a:xfrm>
            <a:off x="452753" y="4776526"/>
            <a:ext cx="6656521" cy="445122"/>
          </a:xfrm>
          <a:prstGeom prst="roundRect">
            <a:avLst>
              <a:gd name="adj" fmla="val 4212"/>
            </a:avLst>
          </a:prstGeom>
          <a:solidFill>
            <a:srgbClr val="693145"/>
          </a:solidFill>
          <a:ln/>
        </p:spPr>
        <p:txBody>
          <a:bodyPr/>
          <a:lstStyle/>
          <a:p>
            <a:endParaRPr lang="en-US"/>
          </a:p>
        </p:txBody>
      </p:sp>
      <p:sp>
        <p:nvSpPr>
          <p:cNvPr id="17" name="Text 15"/>
          <p:cNvSpPr/>
          <p:nvPr/>
        </p:nvSpPr>
        <p:spPr>
          <a:xfrm>
            <a:off x="608943" y="4901453"/>
            <a:ext cx="6722246"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Consolas Medium" pitchFamily="34" charset="0"/>
                <a:ea typeface="Consolas Medium" pitchFamily="34" charset="-122"/>
                <a:cs typeface="Consolas Medium" pitchFamily="34" charset="-120"/>
              </a:rPr>
              <a:t>Vehicle Age = YEAR(TODAY()) - YEAR(Vehicles[Purchase Date]) &amp; " years"</a:t>
            </a:r>
            <a:endParaRPr lang="en-US" sz="950" dirty="0"/>
          </a:p>
        </p:txBody>
      </p:sp>
      <p:sp>
        <p:nvSpPr>
          <p:cNvPr id="18" name="Text 16"/>
          <p:cNvSpPr/>
          <p:nvPr/>
        </p:nvSpPr>
        <p:spPr>
          <a:xfrm>
            <a:off x="458969" y="5355622"/>
            <a:ext cx="6644089" cy="390536"/>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F4CAB8"/>
                </a:solidFill>
                <a:latin typeface="Montserrat Medium" pitchFamily="34" charset="0"/>
                <a:ea typeface="Montserrat Medium" pitchFamily="34" charset="-122"/>
                <a:cs typeface="Montserrat Medium" pitchFamily="34" charset="-120"/>
              </a:rPr>
              <a:t>Business Meaning: Computes each vehicle's current age in years. Shows 0.655 correlation with breakdown frequency.</a:t>
            </a:r>
            <a:endParaRPr lang="en-US" sz="950" dirty="0"/>
          </a:p>
        </p:txBody>
      </p:sp>
      <p:sp>
        <p:nvSpPr>
          <p:cNvPr id="19" name="Text 17"/>
          <p:cNvSpPr/>
          <p:nvPr/>
        </p:nvSpPr>
        <p:spPr>
          <a:xfrm>
            <a:off x="458969" y="5924810"/>
            <a:ext cx="2377861" cy="249977"/>
          </a:xfrm>
          <a:prstGeom prst="rect">
            <a:avLst/>
          </a:prstGeom>
          <a:noFill/>
          <a:ln/>
        </p:spPr>
        <p:txBody>
          <a:bodyPr wrap="none" lIns="0" tIns="0" rIns="0" bIns="0" rtlCol="0" anchor="t"/>
          <a:lstStyle/>
          <a:p>
            <a:pPr marL="0" indent="0" algn="l">
              <a:lnSpc>
                <a:spcPct val="104000"/>
              </a:lnSpc>
              <a:buNone/>
            </a:pPr>
            <a:r>
              <a:rPr lang="en-US" sz="1550" b="1" dirty="0">
                <a:solidFill>
                  <a:srgbClr val="FFB393"/>
                </a:solidFill>
                <a:latin typeface="Brygada 1918 Bold" pitchFamily="34" charset="0"/>
                <a:ea typeface="Brygada 1918 Bold" pitchFamily="34" charset="-122"/>
                <a:cs typeface="Brygada 1918 Bold" pitchFamily="34" charset="-120"/>
              </a:rPr>
              <a:t>Maintenance Rate</a:t>
            </a:r>
            <a:endParaRPr lang="en-US" sz="1550" dirty="0"/>
          </a:p>
        </p:txBody>
      </p:sp>
      <p:sp>
        <p:nvSpPr>
          <p:cNvPr id="20" name="Shape 18"/>
          <p:cNvSpPr/>
          <p:nvPr/>
        </p:nvSpPr>
        <p:spPr>
          <a:xfrm>
            <a:off x="458969" y="6353440"/>
            <a:ext cx="6644089" cy="640390"/>
          </a:xfrm>
          <a:prstGeom prst="roundRect">
            <a:avLst>
              <a:gd name="adj" fmla="val 2928"/>
            </a:avLst>
          </a:prstGeom>
          <a:solidFill>
            <a:srgbClr val="693145"/>
          </a:solidFill>
          <a:ln/>
        </p:spPr>
        <p:txBody>
          <a:bodyPr/>
          <a:lstStyle/>
          <a:p>
            <a:endParaRPr lang="en-US"/>
          </a:p>
        </p:txBody>
      </p:sp>
      <p:sp>
        <p:nvSpPr>
          <p:cNvPr id="21" name="Shape 19"/>
          <p:cNvSpPr/>
          <p:nvPr/>
        </p:nvSpPr>
        <p:spPr>
          <a:xfrm>
            <a:off x="452753" y="6353440"/>
            <a:ext cx="6656521" cy="640390"/>
          </a:xfrm>
          <a:prstGeom prst="roundRect">
            <a:avLst>
              <a:gd name="adj" fmla="val 2928"/>
            </a:avLst>
          </a:prstGeom>
          <a:solidFill>
            <a:srgbClr val="693145"/>
          </a:solidFill>
          <a:ln/>
        </p:spPr>
        <p:txBody>
          <a:bodyPr/>
          <a:lstStyle/>
          <a:p>
            <a:endParaRPr lang="en-US"/>
          </a:p>
        </p:txBody>
      </p:sp>
      <p:sp>
        <p:nvSpPr>
          <p:cNvPr id="22" name="Text 20"/>
          <p:cNvSpPr/>
          <p:nvPr/>
        </p:nvSpPr>
        <p:spPr>
          <a:xfrm>
            <a:off x="608943" y="6478367"/>
            <a:ext cx="6344141" cy="390536"/>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F4CAB8"/>
                </a:solidFill>
                <a:latin typeface="Consolas Medium" pitchFamily="34" charset="0"/>
                <a:ea typeface="Consolas Medium" pitchFamily="34" charset="-122"/>
                <a:cs typeface="Consolas Medium" pitchFamily="34" charset="-120"/>
              </a:rPr>
              <a:t>Maintenance Rate = DIVIDE(CALCULATE(COUNT(Vehicles[Vehicle ID]), Vehicles[Vehicle Status] = "Maintenance"), COUNT(Vehicles[Vehicle ID]))</a:t>
            </a:r>
            <a:endParaRPr lang="en-US" sz="950" dirty="0"/>
          </a:p>
        </p:txBody>
      </p:sp>
      <p:sp>
        <p:nvSpPr>
          <p:cNvPr id="23" name="Text 21"/>
          <p:cNvSpPr/>
          <p:nvPr/>
        </p:nvSpPr>
        <p:spPr>
          <a:xfrm>
            <a:off x="458969" y="7127804"/>
            <a:ext cx="7022194"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Montserrat Medium" pitchFamily="34" charset="0"/>
                <a:ea typeface="Montserrat Medium" pitchFamily="34" charset="-122"/>
                <a:cs typeface="Montserrat Medium" pitchFamily="34" charset="-120"/>
              </a:rPr>
              <a:t>Business Meaning: The percentage of vehicles currently in maintenance status (currently 26.67%).</a:t>
            </a:r>
            <a:endParaRPr lang="en-US" sz="950" dirty="0"/>
          </a:p>
        </p:txBody>
      </p:sp>
      <p:sp>
        <p:nvSpPr>
          <p:cNvPr id="24" name="Text 22"/>
          <p:cNvSpPr/>
          <p:nvPr/>
        </p:nvSpPr>
        <p:spPr>
          <a:xfrm>
            <a:off x="458969" y="7501724"/>
            <a:ext cx="2377861" cy="249977"/>
          </a:xfrm>
          <a:prstGeom prst="rect">
            <a:avLst/>
          </a:prstGeom>
          <a:noFill/>
          <a:ln/>
        </p:spPr>
        <p:txBody>
          <a:bodyPr wrap="none" lIns="0" tIns="0" rIns="0" bIns="0" rtlCol="0" anchor="t"/>
          <a:lstStyle/>
          <a:p>
            <a:pPr marL="0" indent="0" algn="l">
              <a:lnSpc>
                <a:spcPct val="104000"/>
              </a:lnSpc>
              <a:buNone/>
            </a:pPr>
            <a:r>
              <a:rPr lang="en-US" sz="1550" b="1" dirty="0">
                <a:solidFill>
                  <a:srgbClr val="FFB393"/>
                </a:solidFill>
                <a:latin typeface="Brygada 1918 Bold" pitchFamily="34" charset="0"/>
                <a:ea typeface="Brygada 1918 Bold" pitchFamily="34" charset="-122"/>
                <a:cs typeface="Brygada 1918 Bold" pitchFamily="34" charset="-120"/>
              </a:rPr>
              <a:t>Breakdown Rate</a:t>
            </a:r>
            <a:endParaRPr lang="en-US" sz="1550" dirty="0"/>
          </a:p>
        </p:txBody>
      </p:sp>
      <p:sp>
        <p:nvSpPr>
          <p:cNvPr id="25" name="Shape 23"/>
          <p:cNvSpPr/>
          <p:nvPr/>
        </p:nvSpPr>
        <p:spPr>
          <a:xfrm>
            <a:off x="458969" y="7930353"/>
            <a:ext cx="6644089" cy="445122"/>
          </a:xfrm>
          <a:prstGeom prst="roundRect">
            <a:avLst>
              <a:gd name="adj" fmla="val 4212"/>
            </a:avLst>
          </a:prstGeom>
          <a:solidFill>
            <a:srgbClr val="693145"/>
          </a:solidFill>
          <a:ln/>
        </p:spPr>
        <p:txBody>
          <a:bodyPr/>
          <a:lstStyle/>
          <a:p>
            <a:endParaRPr lang="en-US"/>
          </a:p>
        </p:txBody>
      </p:sp>
      <p:sp>
        <p:nvSpPr>
          <p:cNvPr id="26" name="Shape 24"/>
          <p:cNvSpPr/>
          <p:nvPr/>
        </p:nvSpPr>
        <p:spPr>
          <a:xfrm>
            <a:off x="452753" y="7930353"/>
            <a:ext cx="6656521" cy="445122"/>
          </a:xfrm>
          <a:prstGeom prst="roundRect">
            <a:avLst>
              <a:gd name="adj" fmla="val 4212"/>
            </a:avLst>
          </a:prstGeom>
          <a:solidFill>
            <a:srgbClr val="693145"/>
          </a:solidFill>
          <a:ln/>
        </p:spPr>
        <p:txBody>
          <a:bodyPr/>
          <a:lstStyle/>
          <a:p>
            <a:endParaRPr lang="en-US"/>
          </a:p>
        </p:txBody>
      </p:sp>
      <p:sp>
        <p:nvSpPr>
          <p:cNvPr id="27" name="Text 25"/>
          <p:cNvSpPr/>
          <p:nvPr/>
        </p:nvSpPr>
        <p:spPr>
          <a:xfrm>
            <a:off x="608943" y="8055280"/>
            <a:ext cx="6722246"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Consolas Medium" pitchFamily="34" charset="0"/>
                <a:ea typeface="Consolas Medium" pitchFamily="34" charset="-122"/>
                <a:cs typeface="Consolas Medium" pitchFamily="34" charset="-120"/>
              </a:rPr>
              <a:t>Breakdown Rate = DIVIDE(SUM(Vehicles[Breakdown]), SUM(Vehicles[Vehicle Age]), 0) + 0</a:t>
            </a:r>
            <a:endParaRPr lang="en-US" sz="950" dirty="0"/>
          </a:p>
        </p:txBody>
      </p:sp>
      <p:sp>
        <p:nvSpPr>
          <p:cNvPr id="28" name="Text 26"/>
          <p:cNvSpPr/>
          <p:nvPr/>
        </p:nvSpPr>
        <p:spPr>
          <a:xfrm>
            <a:off x="458969" y="8509449"/>
            <a:ext cx="6644089" cy="390536"/>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F4CAB8"/>
                </a:solidFill>
                <a:latin typeface="Montserrat Medium" pitchFamily="34" charset="0"/>
                <a:ea typeface="Montserrat Medium" pitchFamily="34" charset="-122"/>
                <a:cs typeface="Montserrat Medium" pitchFamily="34" charset="-120"/>
              </a:rPr>
              <a:t>Business Meaning: Measures the frequency of vehicle failures over time. Higher values indicate fleet reliability issues.</a:t>
            </a:r>
            <a:endParaRPr lang="en-US" sz="950" dirty="0"/>
          </a:p>
        </p:txBody>
      </p:sp>
      <p:sp>
        <p:nvSpPr>
          <p:cNvPr id="29" name="Text 27"/>
          <p:cNvSpPr/>
          <p:nvPr/>
        </p:nvSpPr>
        <p:spPr>
          <a:xfrm>
            <a:off x="458969" y="9078637"/>
            <a:ext cx="2377861" cy="249977"/>
          </a:xfrm>
          <a:prstGeom prst="rect">
            <a:avLst/>
          </a:prstGeom>
          <a:noFill/>
          <a:ln/>
        </p:spPr>
        <p:txBody>
          <a:bodyPr wrap="none" lIns="0" tIns="0" rIns="0" bIns="0" rtlCol="0" anchor="t"/>
          <a:lstStyle/>
          <a:p>
            <a:pPr marL="0" indent="0" algn="l">
              <a:lnSpc>
                <a:spcPct val="104000"/>
              </a:lnSpc>
              <a:buNone/>
            </a:pPr>
            <a:r>
              <a:rPr lang="en-US" sz="1550" b="1" dirty="0">
                <a:solidFill>
                  <a:srgbClr val="FFB393"/>
                </a:solidFill>
                <a:latin typeface="Brygada 1918 Bold" pitchFamily="34" charset="0"/>
                <a:ea typeface="Brygada 1918 Bold" pitchFamily="34" charset="-122"/>
                <a:cs typeface="Brygada 1918 Bold" pitchFamily="34" charset="-120"/>
              </a:rPr>
              <a:t>High Risk Alert</a:t>
            </a:r>
            <a:endParaRPr lang="en-US" sz="1550" dirty="0"/>
          </a:p>
        </p:txBody>
      </p:sp>
      <p:sp>
        <p:nvSpPr>
          <p:cNvPr id="30" name="Shape 28"/>
          <p:cNvSpPr/>
          <p:nvPr/>
        </p:nvSpPr>
        <p:spPr>
          <a:xfrm>
            <a:off x="458969" y="9507266"/>
            <a:ext cx="6644089" cy="445122"/>
          </a:xfrm>
          <a:prstGeom prst="roundRect">
            <a:avLst>
              <a:gd name="adj" fmla="val 4212"/>
            </a:avLst>
          </a:prstGeom>
          <a:solidFill>
            <a:srgbClr val="693145"/>
          </a:solidFill>
          <a:ln/>
        </p:spPr>
        <p:txBody>
          <a:bodyPr/>
          <a:lstStyle/>
          <a:p>
            <a:endParaRPr lang="en-US"/>
          </a:p>
        </p:txBody>
      </p:sp>
      <p:sp>
        <p:nvSpPr>
          <p:cNvPr id="31" name="Shape 29"/>
          <p:cNvSpPr/>
          <p:nvPr/>
        </p:nvSpPr>
        <p:spPr>
          <a:xfrm>
            <a:off x="452753" y="9507266"/>
            <a:ext cx="6656521" cy="445122"/>
          </a:xfrm>
          <a:prstGeom prst="roundRect">
            <a:avLst>
              <a:gd name="adj" fmla="val 4212"/>
            </a:avLst>
          </a:prstGeom>
          <a:solidFill>
            <a:srgbClr val="693145"/>
          </a:solidFill>
          <a:ln/>
        </p:spPr>
        <p:txBody>
          <a:bodyPr/>
          <a:lstStyle/>
          <a:p>
            <a:endParaRPr lang="en-US"/>
          </a:p>
        </p:txBody>
      </p:sp>
      <p:sp>
        <p:nvSpPr>
          <p:cNvPr id="32" name="Text 30"/>
          <p:cNvSpPr/>
          <p:nvPr/>
        </p:nvSpPr>
        <p:spPr>
          <a:xfrm>
            <a:off x="608943" y="9632194"/>
            <a:ext cx="6722246"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Consolas Medium" pitchFamily="34" charset="0"/>
                <a:ea typeface="Consolas Medium" pitchFamily="34" charset="-122"/>
                <a:cs typeface="Consolas Medium" pitchFamily="34" charset="-120"/>
              </a:rPr>
              <a:t>High Risk Alert = IF([Breakdown Rate] &gt; 2.5, "High Risk", "Normal")</a:t>
            </a:r>
            <a:endParaRPr lang="en-US" sz="950" dirty="0"/>
          </a:p>
        </p:txBody>
      </p:sp>
      <p:sp>
        <p:nvSpPr>
          <p:cNvPr id="33" name="Text 31"/>
          <p:cNvSpPr/>
          <p:nvPr/>
        </p:nvSpPr>
        <p:spPr>
          <a:xfrm>
            <a:off x="458969" y="10086362"/>
            <a:ext cx="7022194" cy="195268"/>
          </a:xfrm>
          <a:prstGeom prst="rect">
            <a:avLst/>
          </a:prstGeom>
          <a:noFill/>
          <a:ln/>
        </p:spPr>
        <p:txBody>
          <a:bodyPr wrap="none" lIns="0" tIns="0" rIns="0" bIns="0" rtlCol="0" anchor="t"/>
          <a:lstStyle/>
          <a:p>
            <a:pPr marL="0" indent="0" algn="l">
              <a:lnSpc>
                <a:spcPct val="130000"/>
              </a:lnSpc>
              <a:buNone/>
            </a:pPr>
            <a:r>
              <a:rPr lang="en-US" sz="950" dirty="0">
                <a:solidFill>
                  <a:srgbClr val="F4CAB8"/>
                </a:solidFill>
                <a:latin typeface="Montserrat Medium" pitchFamily="34" charset="0"/>
                <a:ea typeface="Montserrat Medium" pitchFamily="34" charset="-122"/>
                <a:cs typeface="Montserrat Medium" pitchFamily="34" charset="-120"/>
              </a:rPr>
              <a:t>Business Meaning: Flags vehicles or fleet segments as "High Risk" when breakdown rate exceeds 2.5</a:t>
            </a:r>
            <a:endParaRPr lang="en-US" sz="950" dirty="0"/>
          </a:p>
        </p:txBody>
      </p:sp>
      <p:sp>
        <p:nvSpPr>
          <p:cNvPr id="34" name="TextBox 33">
            <a:extLst>
              <a:ext uri="{FF2B5EF4-FFF2-40B4-BE49-F238E27FC236}">
                <a16:creationId xmlns:a16="http://schemas.microsoft.com/office/drawing/2014/main" id="{B0445797-F0F3-896D-3E64-A523222F13E6}"/>
              </a:ext>
            </a:extLst>
          </p:cNvPr>
          <p:cNvSpPr txBox="1"/>
          <p:nvPr/>
        </p:nvSpPr>
        <p:spPr>
          <a:xfrm>
            <a:off x="6997751" y="10131040"/>
            <a:ext cx="528079" cy="369332"/>
          </a:xfrm>
          <a:prstGeom prst="rect">
            <a:avLst/>
          </a:prstGeom>
          <a:noFill/>
        </p:spPr>
        <p:txBody>
          <a:bodyPr wrap="square" rtlCol="0">
            <a:spAutoFit/>
          </a:bodyPr>
          <a:lstStyle/>
          <a:p>
            <a:fld id="{7A3F0445-7A9A-47EA-8E10-CF20EC79157D}" type="slidenum">
              <a:rPr lang="en-US" smtClean="0">
                <a:solidFill>
                  <a:srgbClr val="F4CAB8"/>
                </a:solidFill>
                <a:latin typeface="Brygada 1918" pitchFamily="2" charset="0"/>
                <a:ea typeface="Brygada 1918" pitchFamily="2" charset="0"/>
              </a:rPr>
              <a:t>15</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8969" y="360566"/>
            <a:ext cx="4399710" cy="437061"/>
          </a:xfrm>
          <a:prstGeom prst="rect">
            <a:avLst/>
          </a:prstGeom>
          <a:noFill/>
          <a:ln/>
        </p:spPr>
        <p:txBody>
          <a:bodyPr wrap="none" lIns="0" tIns="0" rIns="0" bIns="0" rtlCol="0" anchor="t"/>
          <a:lstStyle/>
          <a:p>
            <a:pPr marL="0" indent="0" algn="l">
              <a:lnSpc>
                <a:spcPct val="104000"/>
              </a:lnSpc>
              <a:buNone/>
            </a:pPr>
            <a:r>
              <a:rPr lang="en-US" sz="2750" b="1" dirty="0">
                <a:solidFill>
                  <a:srgbClr val="FFB393"/>
                </a:solidFill>
                <a:latin typeface="Brygada 1918 Bold" pitchFamily="34" charset="0"/>
                <a:ea typeface="Brygada 1918 Bold" pitchFamily="34" charset="-122"/>
                <a:cs typeface="Brygada 1918 Bold" pitchFamily="34" charset="-120"/>
              </a:rPr>
              <a:t>Dynamic Labels &amp; Titles</a:t>
            </a:r>
            <a:endParaRPr lang="en-US" sz="2750" dirty="0"/>
          </a:p>
        </p:txBody>
      </p:sp>
      <p:sp>
        <p:nvSpPr>
          <p:cNvPr id="3" name="Text 1"/>
          <p:cNvSpPr/>
          <p:nvPr/>
        </p:nvSpPr>
        <p:spPr>
          <a:xfrm>
            <a:off x="458969" y="1059850"/>
            <a:ext cx="6644089"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These measures are designed to create dynamic text labels and titles for various visuals and page headers, enhancing the interactivity and readability of reports.</a:t>
            </a:r>
            <a:endParaRPr lang="en-US" sz="1000" dirty="0"/>
          </a:p>
        </p:txBody>
      </p:sp>
      <p:sp>
        <p:nvSpPr>
          <p:cNvPr id="4" name="Text 2"/>
          <p:cNvSpPr/>
          <p:nvPr/>
        </p:nvSpPr>
        <p:spPr>
          <a:xfrm>
            <a:off x="458969" y="1676117"/>
            <a:ext cx="3175609" cy="349673"/>
          </a:xfrm>
          <a:prstGeom prst="rect">
            <a:avLst/>
          </a:prstGeom>
          <a:noFill/>
          <a:ln/>
        </p:spPr>
        <p:txBody>
          <a:bodyPr wrap="none" lIns="0" tIns="0" rIns="0" bIns="0" rtlCol="0" anchor="t"/>
          <a:lstStyle/>
          <a:p>
            <a:pPr marL="0" indent="0" algn="l">
              <a:lnSpc>
                <a:spcPct val="104000"/>
              </a:lnSpc>
              <a:buNone/>
            </a:pPr>
            <a:r>
              <a:rPr lang="en-US" sz="2200" b="1" dirty="0">
                <a:solidFill>
                  <a:srgbClr val="FFB393"/>
                </a:solidFill>
                <a:latin typeface="Brygada 1918 Bold" pitchFamily="34" charset="0"/>
                <a:ea typeface="Brygada 1918 Bold" pitchFamily="34" charset="-122"/>
                <a:cs typeface="Brygada 1918 Bold" pitchFamily="34" charset="-120"/>
              </a:rPr>
              <a:t>5.7 Hub Metrics</a:t>
            </a:r>
            <a:endParaRPr lang="en-US" sz="2200" dirty="0"/>
          </a:p>
        </p:txBody>
      </p:sp>
      <p:sp>
        <p:nvSpPr>
          <p:cNvPr id="5" name="Text 3"/>
          <p:cNvSpPr/>
          <p:nvPr/>
        </p:nvSpPr>
        <p:spPr>
          <a:xfrm>
            <a:off x="458969" y="2222473"/>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These measures generate dynamic text labels for hub-related visuals and page headers.</a:t>
            </a:r>
            <a:endParaRPr lang="en-US" sz="1000" dirty="0"/>
          </a:p>
        </p:txBody>
      </p:sp>
      <p:sp>
        <p:nvSpPr>
          <p:cNvPr id="6" name="Text 4"/>
          <p:cNvSpPr/>
          <p:nvPr/>
        </p:nvSpPr>
        <p:spPr>
          <a:xfrm>
            <a:off x="458969" y="2628948"/>
            <a:ext cx="2476202"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No of Hubs</a:t>
            </a:r>
            <a:endParaRPr lang="en-US" sz="1650" dirty="0"/>
          </a:p>
        </p:txBody>
      </p:sp>
      <p:sp>
        <p:nvSpPr>
          <p:cNvPr id="7" name="Shape 5"/>
          <p:cNvSpPr/>
          <p:nvPr/>
        </p:nvSpPr>
        <p:spPr>
          <a:xfrm>
            <a:off x="458969" y="3087855"/>
            <a:ext cx="6644089" cy="471954"/>
          </a:xfrm>
          <a:prstGeom prst="roundRect">
            <a:avLst>
              <a:gd name="adj" fmla="val 4168"/>
            </a:avLst>
          </a:prstGeom>
          <a:solidFill>
            <a:srgbClr val="693145"/>
          </a:solidFill>
          <a:ln/>
        </p:spPr>
        <p:txBody>
          <a:bodyPr/>
          <a:lstStyle/>
          <a:p>
            <a:endParaRPr lang="en-US"/>
          </a:p>
        </p:txBody>
      </p:sp>
      <p:sp>
        <p:nvSpPr>
          <p:cNvPr id="8" name="Shape 6"/>
          <p:cNvSpPr/>
          <p:nvPr/>
        </p:nvSpPr>
        <p:spPr>
          <a:xfrm>
            <a:off x="452445" y="3087855"/>
            <a:ext cx="6657136" cy="471954"/>
          </a:xfrm>
          <a:prstGeom prst="roundRect">
            <a:avLst>
              <a:gd name="adj" fmla="val 4168"/>
            </a:avLst>
          </a:prstGeom>
          <a:solidFill>
            <a:srgbClr val="693145"/>
          </a:solidFill>
          <a:ln/>
        </p:spPr>
        <p:txBody>
          <a:bodyPr/>
          <a:lstStyle/>
          <a:p>
            <a:endParaRPr lang="en-US"/>
          </a:p>
        </p:txBody>
      </p:sp>
      <p:sp>
        <p:nvSpPr>
          <p:cNvPr id="9" name="Text 7"/>
          <p:cNvSpPr/>
          <p:nvPr/>
        </p:nvSpPr>
        <p:spPr>
          <a:xfrm>
            <a:off x="616327" y="3218937"/>
            <a:ext cx="6707476"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No of Hubs = "No of Hubs: " &amp; COUNT(Hubs[Hub ID])</a:t>
            </a:r>
            <a:endParaRPr lang="en-US" sz="1000" dirty="0"/>
          </a:p>
        </p:txBody>
      </p:sp>
      <p:sp>
        <p:nvSpPr>
          <p:cNvPr id="10" name="Text 8"/>
          <p:cNvSpPr/>
          <p:nvPr/>
        </p:nvSpPr>
        <p:spPr>
          <a:xfrm>
            <a:off x="458969" y="3707322"/>
            <a:ext cx="6644089"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Creates a dynamic text string displaying the hub count (e.g., 'No of Hubs: 6') for summary cards.</a:t>
            </a:r>
            <a:endParaRPr lang="en-US" sz="1000" dirty="0"/>
          </a:p>
        </p:txBody>
      </p:sp>
      <p:sp>
        <p:nvSpPr>
          <p:cNvPr id="11" name="Text 9"/>
          <p:cNvSpPr/>
          <p:nvPr/>
        </p:nvSpPr>
        <p:spPr>
          <a:xfrm>
            <a:off x="458969" y="4323588"/>
            <a:ext cx="2476202"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Hub Title</a:t>
            </a:r>
            <a:endParaRPr lang="en-US" sz="1650" dirty="0"/>
          </a:p>
        </p:txBody>
      </p:sp>
      <p:sp>
        <p:nvSpPr>
          <p:cNvPr id="12" name="Shape 10"/>
          <p:cNvSpPr/>
          <p:nvPr/>
        </p:nvSpPr>
        <p:spPr>
          <a:xfrm>
            <a:off x="458969" y="4782496"/>
            <a:ext cx="6644089" cy="471954"/>
          </a:xfrm>
          <a:prstGeom prst="roundRect">
            <a:avLst>
              <a:gd name="adj" fmla="val 4168"/>
            </a:avLst>
          </a:prstGeom>
          <a:solidFill>
            <a:srgbClr val="693145"/>
          </a:solidFill>
          <a:ln/>
        </p:spPr>
        <p:txBody>
          <a:bodyPr/>
          <a:lstStyle/>
          <a:p>
            <a:endParaRPr lang="en-US"/>
          </a:p>
        </p:txBody>
      </p:sp>
      <p:sp>
        <p:nvSpPr>
          <p:cNvPr id="13" name="Shape 11"/>
          <p:cNvSpPr/>
          <p:nvPr/>
        </p:nvSpPr>
        <p:spPr>
          <a:xfrm>
            <a:off x="452445" y="4782496"/>
            <a:ext cx="6657136" cy="471954"/>
          </a:xfrm>
          <a:prstGeom prst="roundRect">
            <a:avLst>
              <a:gd name="adj" fmla="val 4168"/>
            </a:avLst>
          </a:prstGeom>
          <a:solidFill>
            <a:srgbClr val="693145"/>
          </a:solidFill>
          <a:ln/>
        </p:spPr>
        <p:txBody>
          <a:bodyPr/>
          <a:lstStyle/>
          <a:p>
            <a:endParaRPr lang="en-US"/>
          </a:p>
        </p:txBody>
      </p:sp>
      <p:sp>
        <p:nvSpPr>
          <p:cNvPr id="14" name="Text 12"/>
          <p:cNvSpPr/>
          <p:nvPr/>
        </p:nvSpPr>
        <p:spPr>
          <a:xfrm>
            <a:off x="616327" y="4913577"/>
            <a:ext cx="6707476" cy="209792"/>
          </a:xfrm>
          <a:prstGeom prst="rect">
            <a:avLst/>
          </a:prstGeom>
          <a:noFill/>
          <a:ln/>
        </p:spPr>
        <p:txBody>
          <a:bodyPr wrap="none" lIns="0" tIns="0" rIns="0" bIns="0" rtlCol="0" anchor="t"/>
          <a:lstStyle/>
          <a:p>
            <a:pPr marL="0" indent="0" algn="l">
              <a:lnSpc>
                <a:spcPct val="133000"/>
              </a:lnSpc>
              <a:buNone/>
            </a:pPr>
            <a:r>
              <a:rPr lang="en-US" sz="1000" dirty="0">
                <a:solidFill>
                  <a:srgbClr val="FF7B72"/>
                </a:solidFill>
                <a:highlight>
                  <a:srgbClr val="693145"/>
                </a:highlight>
                <a:latin typeface="Consolas Medium" pitchFamily="34" charset="0"/>
                <a:ea typeface="Consolas Medium" pitchFamily="34" charset="-122"/>
                <a:cs typeface="Consolas Medium" pitchFamily="34" charset="-120"/>
              </a:rPr>
              <a:t>Hub Title = "How many hours does it take Hubs to Process Orders?"</a:t>
            </a:r>
            <a:endParaRPr lang="en-US" sz="1000" dirty="0"/>
          </a:p>
        </p:txBody>
      </p:sp>
      <p:sp>
        <p:nvSpPr>
          <p:cNvPr id="15" name="Text 13"/>
          <p:cNvSpPr/>
          <p:nvPr/>
        </p:nvSpPr>
        <p:spPr>
          <a:xfrm>
            <a:off x="458969" y="5401962"/>
            <a:ext cx="6644089"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Static text measure used as the dynamic title for the hub processing time matrix.</a:t>
            </a:r>
            <a:endParaRPr lang="en-US" sz="1000" dirty="0"/>
          </a:p>
        </p:txBody>
      </p:sp>
      <p:sp>
        <p:nvSpPr>
          <p:cNvPr id="16" name="Text 14"/>
          <p:cNvSpPr/>
          <p:nvPr/>
        </p:nvSpPr>
        <p:spPr>
          <a:xfrm>
            <a:off x="458969" y="6018229"/>
            <a:ext cx="3175609" cy="349673"/>
          </a:xfrm>
          <a:prstGeom prst="rect">
            <a:avLst/>
          </a:prstGeom>
          <a:noFill/>
          <a:ln/>
        </p:spPr>
        <p:txBody>
          <a:bodyPr wrap="none" lIns="0" tIns="0" rIns="0" bIns="0" rtlCol="0" anchor="t"/>
          <a:lstStyle/>
          <a:p>
            <a:pPr marL="0" indent="0" algn="l">
              <a:lnSpc>
                <a:spcPct val="104000"/>
              </a:lnSpc>
              <a:buNone/>
            </a:pPr>
            <a:endParaRPr lang="en-US" sz="2200" dirty="0"/>
          </a:p>
        </p:txBody>
      </p:sp>
      <p:sp>
        <p:nvSpPr>
          <p:cNvPr id="17" name="TextBox 16">
            <a:extLst>
              <a:ext uri="{FF2B5EF4-FFF2-40B4-BE49-F238E27FC236}">
                <a16:creationId xmlns:a16="http://schemas.microsoft.com/office/drawing/2014/main" id="{C87D972E-0CBC-82FC-D61E-E8CECA23888C}"/>
              </a:ext>
            </a:extLst>
          </p:cNvPr>
          <p:cNvSpPr txBox="1"/>
          <p:nvPr/>
        </p:nvSpPr>
        <p:spPr>
          <a:xfrm>
            <a:off x="7103058" y="10141552"/>
            <a:ext cx="550276" cy="369332"/>
          </a:xfrm>
          <a:prstGeom prst="rect">
            <a:avLst/>
          </a:prstGeom>
          <a:noFill/>
        </p:spPr>
        <p:txBody>
          <a:bodyPr wrap="square" rtlCol="0">
            <a:spAutoFit/>
          </a:bodyPr>
          <a:lstStyle/>
          <a:p>
            <a:fld id="{CB7CD181-CCF2-4C23-9ABB-963434AFABE1}" type="slidenum">
              <a:rPr lang="en-US" smtClean="0">
                <a:solidFill>
                  <a:srgbClr val="F4CAB8"/>
                </a:solidFill>
                <a:latin typeface="Brygada 1918" pitchFamily="2" charset="0"/>
                <a:ea typeface="Brygada 1918" pitchFamily="2" charset="0"/>
              </a:rPr>
              <a:t>16</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8969" y="360566"/>
            <a:ext cx="3175609" cy="349673"/>
          </a:xfrm>
          <a:prstGeom prst="rect">
            <a:avLst/>
          </a:prstGeom>
          <a:noFill/>
          <a:ln/>
        </p:spPr>
        <p:txBody>
          <a:bodyPr wrap="none" lIns="0" tIns="0" rIns="0" bIns="0" rtlCol="0" anchor="t"/>
          <a:lstStyle/>
          <a:p>
            <a:pPr marL="0" indent="0" algn="l">
              <a:lnSpc>
                <a:spcPct val="104000"/>
              </a:lnSpc>
              <a:buNone/>
            </a:pPr>
            <a:r>
              <a:rPr lang="en-US" sz="2200" b="1" dirty="0">
                <a:solidFill>
                  <a:srgbClr val="FFB393"/>
                </a:solidFill>
                <a:latin typeface="Brygada 1918 Bold" pitchFamily="34" charset="0"/>
                <a:ea typeface="Brygada 1918 Bold" pitchFamily="34" charset="-122"/>
                <a:cs typeface="Brygada 1918 Bold" pitchFamily="34" charset="-120"/>
              </a:rPr>
              <a:t>5.8 Driver Metrics</a:t>
            </a:r>
            <a:endParaRPr lang="en-US" sz="2200" dirty="0"/>
          </a:p>
        </p:txBody>
      </p:sp>
      <p:sp>
        <p:nvSpPr>
          <p:cNvPr id="3" name="Text 1"/>
          <p:cNvSpPr/>
          <p:nvPr/>
        </p:nvSpPr>
        <p:spPr>
          <a:xfrm>
            <a:off x="458969" y="972463"/>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These measures generate dynamic text labels for driver-related visuals and page headers.</a:t>
            </a:r>
            <a:endParaRPr lang="en-US" sz="1000" dirty="0"/>
          </a:p>
        </p:txBody>
      </p:sp>
      <p:sp>
        <p:nvSpPr>
          <p:cNvPr id="4" name="Text 2"/>
          <p:cNvSpPr/>
          <p:nvPr/>
        </p:nvSpPr>
        <p:spPr>
          <a:xfrm>
            <a:off x="458969" y="1460848"/>
            <a:ext cx="2379953"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Star Rating</a:t>
            </a:r>
            <a:endParaRPr lang="en-US" sz="1650" dirty="0"/>
          </a:p>
        </p:txBody>
      </p:sp>
      <p:sp>
        <p:nvSpPr>
          <p:cNvPr id="5" name="Shape 3"/>
          <p:cNvSpPr/>
          <p:nvPr/>
        </p:nvSpPr>
        <p:spPr>
          <a:xfrm>
            <a:off x="458969" y="1870585"/>
            <a:ext cx="2001849" cy="1730703"/>
          </a:xfrm>
          <a:prstGeom prst="roundRect">
            <a:avLst>
              <a:gd name="adj" fmla="val 1137"/>
            </a:avLst>
          </a:prstGeom>
          <a:solidFill>
            <a:srgbClr val="693145"/>
          </a:solidFill>
          <a:ln/>
        </p:spPr>
        <p:txBody>
          <a:bodyPr/>
          <a:lstStyle/>
          <a:p>
            <a:endParaRPr lang="en-US"/>
          </a:p>
        </p:txBody>
      </p:sp>
      <p:sp>
        <p:nvSpPr>
          <p:cNvPr id="6" name="Shape 4"/>
          <p:cNvSpPr/>
          <p:nvPr/>
        </p:nvSpPr>
        <p:spPr>
          <a:xfrm>
            <a:off x="452445" y="1870585"/>
            <a:ext cx="2014895" cy="1730703"/>
          </a:xfrm>
          <a:prstGeom prst="roundRect">
            <a:avLst>
              <a:gd name="adj" fmla="val 1137"/>
            </a:avLst>
          </a:prstGeom>
          <a:solidFill>
            <a:srgbClr val="693145"/>
          </a:solidFill>
          <a:ln/>
        </p:spPr>
        <p:txBody>
          <a:bodyPr/>
          <a:lstStyle/>
          <a:p>
            <a:endParaRPr lang="en-US"/>
          </a:p>
        </p:txBody>
      </p:sp>
      <p:sp>
        <p:nvSpPr>
          <p:cNvPr id="7" name="Text 5"/>
          <p:cNvSpPr/>
          <p:nvPr/>
        </p:nvSpPr>
        <p:spPr>
          <a:xfrm>
            <a:off x="616327" y="2001666"/>
            <a:ext cx="1687131" cy="1468541"/>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Star Rating = REPT(UNICHAR(9733), AVERAGE(Drivers[Performance Rating])) &amp; REPT(UNICHAR(9734), 5 - AVERAGE(Drivers[Performance Rating]))</a:t>
            </a:r>
            <a:endParaRPr lang="en-US" sz="1000" dirty="0"/>
          </a:p>
        </p:txBody>
      </p:sp>
      <p:sp>
        <p:nvSpPr>
          <p:cNvPr id="8" name="Text 6"/>
          <p:cNvSpPr/>
          <p:nvPr/>
        </p:nvSpPr>
        <p:spPr>
          <a:xfrm>
            <a:off x="458969" y="3748800"/>
            <a:ext cx="2001849" cy="839166"/>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Displays average driver performance rating as filled and empty stars (e.g., ★★★★☆).</a:t>
            </a:r>
            <a:endParaRPr lang="en-US" sz="1000" dirty="0"/>
          </a:p>
        </p:txBody>
      </p:sp>
      <p:sp>
        <p:nvSpPr>
          <p:cNvPr id="9" name="Text 7"/>
          <p:cNvSpPr/>
          <p:nvPr/>
        </p:nvSpPr>
        <p:spPr>
          <a:xfrm>
            <a:off x="2784643" y="1460848"/>
            <a:ext cx="2379276"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No of Drivers</a:t>
            </a:r>
            <a:endParaRPr lang="en-US" sz="1650" dirty="0"/>
          </a:p>
        </p:txBody>
      </p:sp>
      <p:sp>
        <p:nvSpPr>
          <p:cNvPr id="10" name="Shape 8"/>
          <p:cNvSpPr/>
          <p:nvPr/>
        </p:nvSpPr>
        <p:spPr>
          <a:xfrm>
            <a:off x="2784643" y="1870585"/>
            <a:ext cx="2001172" cy="891537"/>
          </a:xfrm>
          <a:prstGeom prst="roundRect">
            <a:avLst>
              <a:gd name="adj" fmla="val 2206"/>
            </a:avLst>
          </a:prstGeom>
          <a:solidFill>
            <a:srgbClr val="693145"/>
          </a:solidFill>
          <a:ln/>
        </p:spPr>
        <p:txBody>
          <a:bodyPr/>
          <a:lstStyle/>
          <a:p>
            <a:endParaRPr lang="en-US"/>
          </a:p>
        </p:txBody>
      </p:sp>
      <p:sp>
        <p:nvSpPr>
          <p:cNvPr id="11" name="Shape 9"/>
          <p:cNvSpPr/>
          <p:nvPr/>
        </p:nvSpPr>
        <p:spPr>
          <a:xfrm>
            <a:off x="2778120" y="1870585"/>
            <a:ext cx="2014218" cy="891537"/>
          </a:xfrm>
          <a:prstGeom prst="roundRect">
            <a:avLst>
              <a:gd name="adj" fmla="val 2206"/>
            </a:avLst>
          </a:prstGeom>
          <a:solidFill>
            <a:srgbClr val="693145"/>
          </a:solidFill>
          <a:ln/>
        </p:spPr>
        <p:txBody>
          <a:bodyPr/>
          <a:lstStyle/>
          <a:p>
            <a:endParaRPr lang="en-US"/>
          </a:p>
        </p:txBody>
      </p:sp>
      <p:sp>
        <p:nvSpPr>
          <p:cNvPr id="12" name="Text 10"/>
          <p:cNvSpPr/>
          <p:nvPr/>
        </p:nvSpPr>
        <p:spPr>
          <a:xfrm>
            <a:off x="2942002" y="2001666"/>
            <a:ext cx="1686454" cy="62937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No of Drivers = "No of Drivers: " &amp; COUNT(Drivers[DriverID])</a:t>
            </a:r>
            <a:endParaRPr lang="en-US" sz="1000" dirty="0"/>
          </a:p>
        </p:txBody>
      </p:sp>
      <p:sp>
        <p:nvSpPr>
          <p:cNvPr id="13" name="Text 11"/>
          <p:cNvSpPr/>
          <p:nvPr/>
        </p:nvSpPr>
        <p:spPr>
          <a:xfrm>
            <a:off x="2784643" y="2909634"/>
            <a:ext cx="2001172" cy="1048958"/>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Creates a dynamic text string displaying the driver count (e.g., 'No of Drivers: 55') for summary cards.</a:t>
            </a:r>
            <a:endParaRPr lang="en-US" sz="1000" dirty="0"/>
          </a:p>
        </p:txBody>
      </p:sp>
      <p:sp>
        <p:nvSpPr>
          <p:cNvPr id="14" name="Text 12"/>
          <p:cNvSpPr/>
          <p:nvPr/>
        </p:nvSpPr>
        <p:spPr>
          <a:xfrm>
            <a:off x="5109640" y="1460848"/>
            <a:ext cx="2379276"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Driver Title</a:t>
            </a:r>
            <a:endParaRPr lang="en-US" sz="1650" dirty="0"/>
          </a:p>
        </p:txBody>
      </p:sp>
      <p:sp>
        <p:nvSpPr>
          <p:cNvPr id="15" name="Shape 13"/>
          <p:cNvSpPr/>
          <p:nvPr/>
        </p:nvSpPr>
        <p:spPr>
          <a:xfrm>
            <a:off x="5109640" y="1870585"/>
            <a:ext cx="2001172" cy="2150286"/>
          </a:xfrm>
          <a:prstGeom prst="roundRect">
            <a:avLst>
              <a:gd name="adj" fmla="val 983"/>
            </a:avLst>
          </a:prstGeom>
          <a:solidFill>
            <a:srgbClr val="693145"/>
          </a:solidFill>
          <a:ln/>
        </p:spPr>
        <p:txBody>
          <a:bodyPr/>
          <a:lstStyle/>
          <a:p>
            <a:endParaRPr lang="en-US"/>
          </a:p>
        </p:txBody>
      </p:sp>
      <p:sp>
        <p:nvSpPr>
          <p:cNvPr id="16" name="Shape 14"/>
          <p:cNvSpPr/>
          <p:nvPr/>
        </p:nvSpPr>
        <p:spPr>
          <a:xfrm>
            <a:off x="5103117" y="1870585"/>
            <a:ext cx="2014218" cy="2150286"/>
          </a:xfrm>
          <a:prstGeom prst="roundRect">
            <a:avLst>
              <a:gd name="adj" fmla="val 977"/>
            </a:avLst>
          </a:prstGeom>
          <a:solidFill>
            <a:srgbClr val="693145"/>
          </a:solidFill>
          <a:ln/>
        </p:spPr>
        <p:txBody>
          <a:bodyPr/>
          <a:lstStyle/>
          <a:p>
            <a:endParaRPr lang="en-US"/>
          </a:p>
        </p:txBody>
      </p:sp>
      <p:sp>
        <p:nvSpPr>
          <p:cNvPr id="17" name="Text 15"/>
          <p:cNvSpPr/>
          <p:nvPr/>
        </p:nvSpPr>
        <p:spPr>
          <a:xfrm>
            <a:off x="5266999" y="2001666"/>
            <a:ext cx="1686454" cy="188812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Driver Title = SELECTEDVALUE(Drivers[DriverName]) &amp; " made " &amp; [Total Orders] &amp; " Deliveries in " &amp; SELECTEDVALUE('Date Table'[Month]) &amp; " " &amp; SELECTEDVALUE('Date Table'[Year])</a:t>
            </a:r>
            <a:endParaRPr lang="en-US" sz="1000" dirty="0"/>
          </a:p>
        </p:txBody>
      </p:sp>
      <p:sp>
        <p:nvSpPr>
          <p:cNvPr id="18" name="Text 16"/>
          <p:cNvSpPr/>
          <p:nvPr/>
        </p:nvSpPr>
        <p:spPr>
          <a:xfrm>
            <a:off x="5109640" y="4168383"/>
            <a:ext cx="2001172" cy="1048958"/>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Dynamic title for driver overview showing selected driver's name, order count, and month/year.</a:t>
            </a:r>
            <a:endParaRPr lang="en-US" sz="1000" dirty="0"/>
          </a:p>
        </p:txBody>
      </p:sp>
      <p:sp>
        <p:nvSpPr>
          <p:cNvPr id="19" name="Text 17"/>
          <p:cNvSpPr/>
          <p:nvPr/>
        </p:nvSpPr>
        <p:spPr>
          <a:xfrm>
            <a:off x="458969" y="5531997"/>
            <a:ext cx="2946187"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YOE (Years of Experience)</a:t>
            </a:r>
            <a:endParaRPr lang="en-US" sz="1650" dirty="0"/>
          </a:p>
        </p:txBody>
      </p:sp>
      <p:sp>
        <p:nvSpPr>
          <p:cNvPr id="20" name="Shape 18"/>
          <p:cNvSpPr/>
          <p:nvPr/>
        </p:nvSpPr>
        <p:spPr>
          <a:xfrm>
            <a:off x="458969" y="5990905"/>
            <a:ext cx="6644089" cy="471954"/>
          </a:xfrm>
          <a:prstGeom prst="roundRect">
            <a:avLst>
              <a:gd name="adj" fmla="val 4168"/>
            </a:avLst>
          </a:prstGeom>
          <a:solidFill>
            <a:srgbClr val="693145"/>
          </a:solidFill>
          <a:ln/>
        </p:spPr>
        <p:txBody>
          <a:bodyPr/>
          <a:lstStyle/>
          <a:p>
            <a:endParaRPr lang="en-US"/>
          </a:p>
        </p:txBody>
      </p:sp>
      <p:sp>
        <p:nvSpPr>
          <p:cNvPr id="21" name="Shape 19"/>
          <p:cNvSpPr/>
          <p:nvPr/>
        </p:nvSpPr>
        <p:spPr>
          <a:xfrm>
            <a:off x="452445" y="5990905"/>
            <a:ext cx="6657136" cy="471954"/>
          </a:xfrm>
          <a:prstGeom prst="roundRect">
            <a:avLst>
              <a:gd name="adj" fmla="val 4168"/>
            </a:avLst>
          </a:prstGeom>
          <a:solidFill>
            <a:srgbClr val="693145"/>
          </a:solidFill>
          <a:ln/>
        </p:spPr>
        <p:txBody>
          <a:bodyPr/>
          <a:lstStyle/>
          <a:p>
            <a:endParaRPr lang="en-US"/>
          </a:p>
        </p:txBody>
      </p:sp>
      <p:sp>
        <p:nvSpPr>
          <p:cNvPr id="22" name="Text 20"/>
          <p:cNvSpPr/>
          <p:nvPr/>
        </p:nvSpPr>
        <p:spPr>
          <a:xfrm>
            <a:off x="616327" y="6121986"/>
            <a:ext cx="6707476"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YOE = "YOE: " &amp; SELECTEDVALUE(Drivers[Experience Years]) &amp; " years"</a:t>
            </a:r>
            <a:endParaRPr lang="en-US" sz="1000" dirty="0"/>
          </a:p>
        </p:txBody>
      </p:sp>
      <p:sp>
        <p:nvSpPr>
          <p:cNvPr id="23" name="Text 21"/>
          <p:cNvSpPr/>
          <p:nvPr/>
        </p:nvSpPr>
        <p:spPr>
          <a:xfrm>
            <a:off x="458969" y="6610371"/>
            <a:ext cx="6644089"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Dynamic text label showing selected driver's years of experience in readable format.</a:t>
            </a:r>
            <a:endParaRPr lang="en-US" sz="1000" dirty="0"/>
          </a:p>
        </p:txBody>
      </p:sp>
      <p:sp>
        <p:nvSpPr>
          <p:cNvPr id="24" name="Text 22"/>
          <p:cNvSpPr/>
          <p:nvPr/>
        </p:nvSpPr>
        <p:spPr>
          <a:xfrm>
            <a:off x="458969" y="7308548"/>
            <a:ext cx="2476202"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Hire Date Title</a:t>
            </a:r>
            <a:endParaRPr lang="en-US" sz="1650" dirty="0"/>
          </a:p>
        </p:txBody>
      </p:sp>
      <p:sp>
        <p:nvSpPr>
          <p:cNvPr id="25" name="Shape 23"/>
          <p:cNvSpPr/>
          <p:nvPr/>
        </p:nvSpPr>
        <p:spPr>
          <a:xfrm>
            <a:off x="458969" y="7718284"/>
            <a:ext cx="3162070" cy="681745"/>
          </a:xfrm>
          <a:prstGeom prst="roundRect">
            <a:avLst>
              <a:gd name="adj" fmla="val 2885"/>
            </a:avLst>
          </a:prstGeom>
          <a:solidFill>
            <a:srgbClr val="693145"/>
          </a:solidFill>
          <a:ln/>
        </p:spPr>
        <p:txBody>
          <a:bodyPr/>
          <a:lstStyle/>
          <a:p>
            <a:endParaRPr lang="en-US"/>
          </a:p>
        </p:txBody>
      </p:sp>
      <p:sp>
        <p:nvSpPr>
          <p:cNvPr id="26" name="Shape 24"/>
          <p:cNvSpPr/>
          <p:nvPr/>
        </p:nvSpPr>
        <p:spPr>
          <a:xfrm>
            <a:off x="452445" y="7718284"/>
            <a:ext cx="3175117" cy="681745"/>
          </a:xfrm>
          <a:prstGeom prst="roundRect">
            <a:avLst>
              <a:gd name="adj" fmla="val 2885"/>
            </a:avLst>
          </a:prstGeom>
          <a:solidFill>
            <a:srgbClr val="693145"/>
          </a:solidFill>
          <a:ln/>
        </p:spPr>
        <p:txBody>
          <a:bodyPr/>
          <a:lstStyle/>
          <a:p>
            <a:endParaRPr lang="en-US"/>
          </a:p>
        </p:txBody>
      </p:sp>
      <p:sp>
        <p:nvSpPr>
          <p:cNvPr id="27" name="Text 25"/>
          <p:cNvSpPr/>
          <p:nvPr/>
        </p:nvSpPr>
        <p:spPr>
          <a:xfrm>
            <a:off x="616327" y="7849366"/>
            <a:ext cx="2847353"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2A8FF"/>
                </a:solidFill>
                <a:highlight>
                  <a:srgbClr val="693145"/>
                </a:highlight>
                <a:latin typeface="Consolas Medium" pitchFamily="34" charset="0"/>
                <a:ea typeface="Consolas Medium" pitchFamily="34" charset="-122"/>
                <a:cs typeface="Consolas Medium" pitchFamily="34" charset="-120"/>
              </a:rPr>
              <a:t>Hire Date Title = "Hire date: " &amp; SELECTEDVALUE(Drivers[Hire Date])</a:t>
            </a:r>
            <a:endParaRPr lang="en-US" sz="1000" dirty="0"/>
          </a:p>
        </p:txBody>
      </p:sp>
      <p:sp>
        <p:nvSpPr>
          <p:cNvPr id="28" name="Text 26"/>
          <p:cNvSpPr/>
          <p:nvPr/>
        </p:nvSpPr>
        <p:spPr>
          <a:xfrm>
            <a:off x="458969" y="8547543"/>
            <a:ext cx="3162070" cy="62937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Dynamic text label displaying the selected driver's hire date in user-friendly format.</a:t>
            </a:r>
            <a:endParaRPr lang="en-US" sz="1000" dirty="0"/>
          </a:p>
        </p:txBody>
      </p:sp>
      <p:sp>
        <p:nvSpPr>
          <p:cNvPr id="29" name="Text 27"/>
          <p:cNvSpPr/>
          <p:nvPr/>
        </p:nvSpPr>
        <p:spPr>
          <a:xfrm>
            <a:off x="3944865" y="7308548"/>
            <a:ext cx="2476202" cy="262224"/>
          </a:xfrm>
          <a:prstGeom prst="rect">
            <a:avLst/>
          </a:prstGeom>
          <a:noFill/>
          <a:ln/>
        </p:spPr>
        <p:txBody>
          <a:bodyPr wrap="none" lIns="0" tIns="0" rIns="0" bIns="0" rtlCol="0" anchor="t"/>
          <a:lstStyle/>
          <a:p>
            <a:pPr marL="0" indent="0" algn="l">
              <a:lnSpc>
                <a:spcPct val="104000"/>
              </a:lnSpc>
              <a:buNone/>
            </a:pPr>
            <a:r>
              <a:rPr lang="en-US" sz="1650" b="1" dirty="0">
                <a:solidFill>
                  <a:srgbClr val="FFB393"/>
                </a:solidFill>
                <a:latin typeface="Brygada 1918 Bold" pitchFamily="34" charset="0"/>
                <a:ea typeface="Brygada 1918 Bold" pitchFamily="34" charset="-122"/>
                <a:cs typeface="Brygada 1918 Bold" pitchFamily="34" charset="-120"/>
              </a:rPr>
              <a:t>Driver Name Title</a:t>
            </a:r>
            <a:endParaRPr lang="en-US" sz="1650" dirty="0"/>
          </a:p>
        </p:txBody>
      </p:sp>
      <p:sp>
        <p:nvSpPr>
          <p:cNvPr id="30" name="Shape 28"/>
          <p:cNvSpPr/>
          <p:nvPr/>
        </p:nvSpPr>
        <p:spPr>
          <a:xfrm>
            <a:off x="3944865" y="7718284"/>
            <a:ext cx="3162070" cy="681745"/>
          </a:xfrm>
          <a:prstGeom prst="roundRect">
            <a:avLst>
              <a:gd name="adj" fmla="val 2885"/>
            </a:avLst>
          </a:prstGeom>
          <a:solidFill>
            <a:srgbClr val="693145"/>
          </a:solidFill>
          <a:ln/>
        </p:spPr>
        <p:txBody>
          <a:bodyPr/>
          <a:lstStyle/>
          <a:p>
            <a:endParaRPr lang="en-US"/>
          </a:p>
        </p:txBody>
      </p:sp>
      <p:sp>
        <p:nvSpPr>
          <p:cNvPr id="31" name="Shape 29"/>
          <p:cNvSpPr/>
          <p:nvPr/>
        </p:nvSpPr>
        <p:spPr>
          <a:xfrm>
            <a:off x="3938341" y="7718284"/>
            <a:ext cx="3175117" cy="681745"/>
          </a:xfrm>
          <a:prstGeom prst="roundRect">
            <a:avLst>
              <a:gd name="adj" fmla="val 2885"/>
            </a:avLst>
          </a:prstGeom>
          <a:solidFill>
            <a:srgbClr val="693145"/>
          </a:solidFill>
          <a:ln/>
        </p:spPr>
        <p:txBody>
          <a:bodyPr/>
          <a:lstStyle/>
          <a:p>
            <a:endParaRPr lang="en-US"/>
          </a:p>
        </p:txBody>
      </p:sp>
      <p:sp>
        <p:nvSpPr>
          <p:cNvPr id="32" name="Text 30"/>
          <p:cNvSpPr/>
          <p:nvPr/>
        </p:nvSpPr>
        <p:spPr>
          <a:xfrm>
            <a:off x="4102224" y="7849366"/>
            <a:ext cx="2847353"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Consolas Medium" pitchFamily="34" charset="0"/>
                <a:ea typeface="Consolas Medium" pitchFamily="34" charset="-122"/>
                <a:cs typeface="Consolas Medium" pitchFamily="34" charset="-120"/>
              </a:rPr>
              <a:t>Driver Name Title = "Driver name: " &amp; SELECTEDVALUE(Drivers[DriverName])</a:t>
            </a:r>
            <a:endParaRPr lang="en-US" sz="1000" dirty="0"/>
          </a:p>
        </p:txBody>
      </p:sp>
      <p:sp>
        <p:nvSpPr>
          <p:cNvPr id="33" name="Text 31"/>
          <p:cNvSpPr/>
          <p:nvPr/>
        </p:nvSpPr>
        <p:spPr>
          <a:xfrm>
            <a:off x="3944865" y="8547543"/>
            <a:ext cx="3162070" cy="62937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Business Meaning: Dynamic text label displaying the selected driver's name in user-friendly format.</a:t>
            </a:r>
            <a:endParaRPr lang="en-US" sz="1000" dirty="0"/>
          </a:p>
        </p:txBody>
      </p:sp>
      <p:sp>
        <p:nvSpPr>
          <p:cNvPr id="34" name="TextBox 33">
            <a:extLst>
              <a:ext uri="{FF2B5EF4-FFF2-40B4-BE49-F238E27FC236}">
                <a16:creationId xmlns:a16="http://schemas.microsoft.com/office/drawing/2014/main" id="{7ED53A20-23F2-A7E0-4D52-CAA57F3866D6}"/>
              </a:ext>
            </a:extLst>
          </p:cNvPr>
          <p:cNvSpPr txBox="1"/>
          <p:nvPr/>
        </p:nvSpPr>
        <p:spPr>
          <a:xfrm>
            <a:off x="7101045" y="10099597"/>
            <a:ext cx="445515" cy="369332"/>
          </a:xfrm>
          <a:prstGeom prst="rect">
            <a:avLst/>
          </a:prstGeom>
          <a:noFill/>
        </p:spPr>
        <p:txBody>
          <a:bodyPr wrap="square" rtlCol="0">
            <a:spAutoFit/>
          </a:bodyPr>
          <a:lstStyle/>
          <a:p>
            <a:fld id="{914132F7-87EF-4540-B95D-6E227E299100}" type="slidenum">
              <a:rPr lang="en-US" smtClean="0">
                <a:solidFill>
                  <a:srgbClr val="F4CAB8"/>
                </a:solidFill>
                <a:latin typeface="Brygada 1918" pitchFamily="2" charset="0"/>
                <a:ea typeface="Brygada 1918" pitchFamily="2" charset="0"/>
              </a:rPr>
              <a:t>17</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8969" y="360566"/>
            <a:ext cx="4389617" cy="409737"/>
          </a:xfrm>
          <a:prstGeom prst="rect">
            <a:avLst/>
          </a:prstGeom>
          <a:noFill/>
          <a:ln/>
        </p:spPr>
        <p:txBody>
          <a:bodyPr wrap="none" lIns="0" tIns="0" rIns="0" bIns="0" rtlCol="0" anchor="t"/>
          <a:lstStyle/>
          <a:p>
            <a:pPr marL="0" indent="0" algn="l">
              <a:lnSpc>
                <a:spcPct val="104000"/>
              </a:lnSpc>
              <a:buNone/>
            </a:pPr>
            <a:r>
              <a:rPr lang="en-US" sz="2550" b="1" dirty="0">
                <a:solidFill>
                  <a:srgbClr val="FFB393"/>
                </a:solidFill>
                <a:latin typeface="Brygada 1918 Bold" pitchFamily="34" charset="0"/>
                <a:ea typeface="Brygada 1918 Bold" pitchFamily="34" charset="-122"/>
                <a:cs typeface="Brygada 1918 Bold" pitchFamily="34" charset="-120"/>
              </a:rPr>
              <a:t>Summary of Key Findings</a:t>
            </a:r>
            <a:endParaRPr lang="en-US" sz="25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8969" y="943169"/>
            <a:ext cx="6644089" cy="1573098"/>
          </a:xfrm>
          <a:prstGeom prst="rect">
            <a:avLst/>
          </a:prstGeom>
        </p:spPr>
      </p:pic>
      <p:sp>
        <p:nvSpPr>
          <p:cNvPr id="4" name="Text 1"/>
          <p:cNvSpPr/>
          <p:nvPr/>
        </p:nvSpPr>
        <p:spPr>
          <a:xfrm>
            <a:off x="628389" y="1614453"/>
            <a:ext cx="184375" cy="230469"/>
          </a:xfrm>
          <a:prstGeom prst="rect">
            <a:avLst/>
          </a:prstGeom>
          <a:noFill/>
          <a:ln/>
        </p:spPr>
        <p:txBody>
          <a:bodyPr wrap="none" lIns="0" tIns="0" rIns="0" bIns="0" rtlCol="0" anchor="ctr"/>
          <a:lstStyle/>
          <a:p>
            <a:pPr marL="0" indent="0" algn="ctr">
              <a:lnSpc>
                <a:spcPct val="100000"/>
              </a:lnSpc>
              <a:buNone/>
            </a:pPr>
            <a:r>
              <a:rPr lang="en-US" sz="1450" b="1" dirty="0">
                <a:solidFill>
                  <a:srgbClr val="F4CAB8"/>
                </a:solidFill>
                <a:latin typeface="Brygada 1918 Bold" pitchFamily="34" charset="0"/>
                <a:ea typeface="Brygada 1918 Bold" pitchFamily="34" charset="-122"/>
                <a:cs typeface="Brygada 1918 Bold" pitchFamily="34" charset="-120"/>
              </a:rPr>
              <a:t>1</a:t>
            </a:r>
            <a:endParaRPr lang="en-US" sz="1450" dirty="0"/>
          </a:p>
        </p:txBody>
      </p:sp>
      <p:sp>
        <p:nvSpPr>
          <p:cNvPr id="5" name="Text 2"/>
          <p:cNvSpPr/>
          <p:nvPr/>
        </p:nvSpPr>
        <p:spPr>
          <a:xfrm>
            <a:off x="1081635" y="1081820"/>
            <a:ext cx="2271273" cy="204930"/>
          </a:xfrm>
          <a:prstGeom prst="rect">
            <a:avLst/>
          </a:prstGeom>
          <a:noFill/>
          <a:ln/>
        </p:spPr>
        <p:txBody>
          <a:bodyPr wrap="none" lIns="0" tIns="0" rIns="0" bIns="0" rtlCol="0" anchor="t"/>
          <a:lstStyle/>
          <a:p>
            <a:pPr marL="0" indent="0" algn="l">
              <a:lnSpc>
                <a:spcPct val="104000"/>
              </a:lnSpc>
              <a:buNone/>
            </a:pPr>
            <a:r>
              <a:rPr lang="en-US" sz="1250" b="1" dirty="0">
                <a:solidFill>
                  <a:srgbClr val="F4CAB8"/>
                </a:solidFill>
                <a:latin typeface="Brygada 1918 Bold" pitchFamily="34" charset="0"/>
                <a:ea typeface="Brygada 1918 Bold" pitchFamily="34" charset="-122"/>
                <a:cs typeface="Brygada 1918 Bold" pitchFamily="34" charset="-120"/>
              </a:rPr>
              <a:t>One in Five Orders is Delayed</a:t>
            </a:r>
            <a:endParaRPr lang="en-US" sz="1250" dirty="0"/>
          </a:p>
        </p:txBody>
      </p:sp>
      <p:sp>
        <p:nvSpPr>
          <p:cNvPr id="6" name="Text 3"/>
          <p:cNvSpPr/>
          <p:nvPr/>
        </p:nvSpPr>
        <p:spPr>
          <a:xfrm>
            <a:off x="1081635" y="1355860"/>
            <a:ext cx="5882773" cy="1021757"/>
          </a:xfrm>
          <a:prstGeom prst="rect">
            <a:avLst/>
          </a:prstGeom>
          <a:noFill/>
          <a:ln/>
        </p:spPr>
        <p:txBody>
          <a:bodyPr wrap="square" lIns="0" tIns="0" rIns="0" bIns="0" rtlCol="0" anchor="t">
            <a:normAutofit/>
          </a:bodyPr>
          <a:lstStyle/>
          <a:p>
            <a:pPr marL="0" indent="0" algn="l">
              <a:lnSpc>
                <a:spcPct val="129000"/>
              </a:lnSpc>
              <a:spcAft>
                <a:spcPts val="500"/>
              </a:spcAft>
              <a:buNone/>
            </a:pPr>
            <a:r>
              <a:rPr lang="en-US" sz="950" dirty="0">
                <a:solidFill>
                  <a:srgbClr val="F4CAB8"/>
                </a:solidFill>
                <a:latin typeface="Montserrat Medium" pitchFamily="34" charset="0"/>
                <a:ea typeface="Montserrat Medium" pitchFamily="34" charset="-122"/>
                <a:cs typeface="Montserrat Medium" pitchFamily="34" charset="-120"/>
              </a:rPr>
              <a:t>The network delay rate is 20.4%, meaning 5,219 out of 25,852 orders were delivered late during the two-year period. The two most frequent delay causes Road Construction and Vehicle Breakdown</a:t>
            </a:r>
            <a:endParaRPr lang="en-US" sz="950" dirty="0"/>
          </a:p>
          <a:p>
            <a:pPr marL="0" indent="0" algn="l">
              <a:lnSpc>
                <a:spcPct val="129000"/>
              </a:lnSpc>
              <a:buNone/>
            </a:pPr>
            <a:r>
              <a:rPr lang="en-US" sz="950" dirty="0">
                <a:solidFill>
                  <a:srgbClr val="F4CAB8"/>
                </a:solidFill>
                <a:latin typeface="Montserrat Medium" pitchFamily="34" charset="0"/>
                <a:ea typeface="Montserrat Medium" pitchFamily="34" charset="-122"/>
                <a:cs typeface="Montserrat Medium" pitchFamily="34" charset="-120"/>
              </a:rPr>
              <a:t>However, Road Construction is an external factor while Vehicle Breakdown is entirely within the company's control through preventive maintenance and fleet renewal.</a:t>
            </a:r>
            <a:endParaRPr lang="en-US" sz="95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8969" y="2631471"/>
            <a:ext cx="6644089" cy="1503988"/>
          </a:xfrm>
          <a:prstGeom prst="rect">
            <a:avLst/>
          </a:prstGeom>
        </p:spPr>
      </p:pic>
      <p:sp>
        <p:nvSpPr>
          <p:cNvPr id="8" name="Text 4"/>
          <p:cNvSpPr/>
          <p:nvPr/>
        </p:nvSpPr>
        <p:spPr>
          <a:xfrm>
            <a:off x="628389" y="3268231"/>
            <a:ext cx="184375" cy="230469"/>
          </a:xfrm>
          <a:prstGeom prst="rect">
            <a:avLst/>
          </a:prstGeom>
          <a:noFill/>
          <a:ln/>
        </p:spPr>
        <p:txBody>
          <a:bodyPr wrap="none" lIns="0" tIns="0" rIns="0" bIns="0" rtlCol="0" anchor="ctr"/>
          <a:lstStyle/>
          <a:p>
            <a:pPr marL="0" indent="0" algn="ctr">
              <a:lnSpc>
                <a:spcPct val="100000"/>
              </a:lnSpc>
              <a:buNone/>
            </a:pPr>
            <a:r>
              <a:rPr lang="en-US" sz="1450" b="1" dirty="0">
                <a:solidFill>
                  <a:srgbClr val="F4CAB8"/>
                </a:solidFill>
                <a:latin typeface="Brygada 1918 Bold" pitchFamily="34" charset="0"/>
                <a:ea typeface="Brygada 1918 Bold" pitchFamily="34" charset="-122"/>
                <a:cs typeface="Brygada 1918 Bold" pitchFamily="34" charset="-120"/>
              </a:rPr>
              <a:t>2</a:t>
            </a:r>
            <a:endParaRPr lang="en-US" sz="1450" dirty="0"/>
          </a:p>
        </p:txBody>
      </p:sp>
      <p:sp>
        <p:nvSpPr>
          <p:cNvPr id="9" name="Text 5"/>
          <p:cNvSpPr/>
          <p:nvPr/>
        </p:nvSpPr>
        <p:spPr>
          <a:xfrm>
            <a:off x="1081635" y="2770122"/>
            <a:ext cx="4971851" cy="204930"/>
          </a:xfrm>
          <a:prstGeom prst="rect">
            <a:avLst/>
          </a:prstGeom>
          <a:noFill/>
          <a:ln/>
        </p:spPr>
        <p:txBody>
          <a:bodyPr wrap="none" lIns="0" tIns="0" rIns="0" bIns="0" rtlCol="0" anchor="t"/>
          <a:lstStyle/>
          <a:p>
            <a:pPr marL="0" indent="0" algn="l">
              <a:lnSpc>
                <a:spcPct val="104000"/>
              </a:lnSpc>
              <a:buNone/>
            </a:pPr>
            <a:r>
              <a:rPr lang="en-US" sz="1250" b="1" dirty="0">
                <a:solidFill>
                  <a:srgbClr val="F4CAB8"/>
                </a:solidFill>
                <a:latin typeface="Brygada 1918 Bold" pitchFamily="34" charset="0"/>
                <a:ea typeface="Brygada 1918 Bold" pitchFamily="34" charset="-122"/>
                <a:cs typeface="Brygada 1918 Bold" pitchFamily="34" charset="-120"/>
              </a:rPr>
              <a:t>Customer Satisfaction is Strong but Sensitive to Delivery Speed</a:t>
            </a:r>
            <a:endParaRPr lang="en-US" sz="1250" dirty="0"/>
          </a:p>
        </p:txBody>
      </p:sp>
      <p:sp>
        <p:nvSpPr>
          <p:cNvPr id="10" name="Text 6"/>
          <p:cNvSpPr/>
          <p:nvPr/>
        </p:nvSpPr>
        <p:spPr>
          <a:xfrm>
            <a:off x="1081635" y="3044162"/>
            <a:ext cx="5882773" cy="952647"/>
          </a:xfrm>
          <a:prstGeom prst="rect">
            <a:avLst/>
          </a:prstGeom>
          <a:noFill/>
          <a:ln/>
        </p:spPr>
        <p:txBody>
          <a:bodyPr wrap="square" lIns="0" tIns="0" rIns="0" bIns="0" rtlCol="0" anchor="t">
            <a:normAutofit/>
          </a:bodyPr>
          <a:lstStyle/>
          <a:p>
            <a:pPr marL="0" indent="0" algn="l">
              <a:lnSpc>
                <a:spcPct val="129000"/>
              </a:lnSpc>
              <a:buNone/>
            </a:pPr>
            <a:r>
              <a:rPr lang="en-US" sz="950" dirty="0">
                <a:solidFill>
                  <a:srgbClr val="F4CAB8"/>
                </a:solidFill>
                <a:latin typeface="Montserrat Medium" pitchFamily="34" charset="0"/>
                <a:ea typeface="Montserrat Medium" pitchFamily="34" charset="-122"/>
                <a:cs typeface="Montserrat Medium" pitchFamily="34" charset="-120"/>
              </a:rPr>
              <a:t>The network maintains a healthy overall customer satisfaction rate of 84.4%. However, there is a drop in satisfaction when orders are delayed. While on-time deliveries consistently earn high scores—averaging approximately 4.5 out of 5 across drivers—delayed orders see those scores plummet to roughly 3.0 out of 5. This significant drop confirms that meeting delivery expectations is directly tied to maintaining a positive customer experience.</a:t>
            </a:r>
            <a:endParaRPr lang="en-US" sz="950" dirty="0"/>
          </a:p>
        </p:txBody>
      </p:sp>
      <p:pic>
        <p:nvPicPr>
          <p:cNvPr id="11"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8969" y="4250663"/>
            <a:ext cx="6644089" cy="1503988"/>
          </a:xfrm>
          <a:prstGeom prst="rect">
            <a:avLst/>
          </a:prstGeom>
        </p:spPr>
      </p:pic>
      <p:sp>
        <p:nvSpPr>
          <p:cNvPr id="12" name="Text 7"/>
          <p:cNvSpPr/>
          <p:nvPr/>
        </p:nvSpPr>
        <p:spPr>
          <a:xfrm>
            <a:off x="628389" y="4887422"/>
            <a:ext cx="184375" cy="230469"/>
          </a:xfrm>
          <a:prstGeom prst="rect">
            <a:avLst/>
          </a:prstGeom>
          <a:noFill/>
          <a:ln/>
        </p:spPr>
        <p:txBody>
          <a:bodyPr wrap="none" lIns="0" tIns="0" rIns="0" bIns="0" rtlCol="0" anchor="ctr"/>
          <a:lstStyle/>
          <a:p>
            <a:pPr marL="0" indent="0" algn="ctr">
              <a:lnSpc>
                <a:spcPct val="100000"/>
              </a:lnSpc>
              <a:buNone/>
            </a:pPr>
            <a:r>
              <a:rPr lang="en-US" sz="1450" b="1" dirty="0">
                <a:solidFill>
                  <a:srgbClr val="F4CAB8"/>
                </a:solidFill>
                <a:latin typeface="Brygada 1918 Bold" pitchFamily="34" charset="0"/>
                <a:ea typeface="Brygada 1918 Bold" pitchFamily="34" charset="-122"/>
                <a:cs typeface="Brygada 1918 Bold" pitchFamily="34" charset="-120"/>
              </a:rPr>
              <a:t>3</a:t>
            </a:r>
            <a:endParaRPr lang="en-US" sz="1450" dirty="0"/>
          </a:p>
        </p:txBody>
      </p:sp>
      <p:sp>
        <p:nvSpPr>
          <p:cNvPr id="13" name="Text 8"/>
          <p:cNvSpPr/>
          <p:nvPr/>
        </p:nvSpPr>
        <p:spPr>
          <a:xfrm>
            <a:off x="1081635" y="4389314"/>
            <a:ext cx="2971541" cy="204930"/>
          </a:xfrm>
          <a:prstGeom prst="rect">
            <a:avLst/>
          </a:prstGeom>
          <a:noFill/>
          <a:ln/>
        </p:spPr>
        <p:txBody>
          <a:bodyPr wrap="none" lIns="0" tIns="0" rIns="0" bIns="0" rtlCol="0" anchor="t"/>
          <a:lstStyle/>
          <a:p>
            <a:pPr marL="0" indent="0" algn="l">
              <a:lnSpc>
                <a:spcPct val="104000"/>
              </a:lnSpc>
              <a:buNone/>
            </a:pPr>
            <a:r>
              <a:rPr lang="en-US" sz="1250" b="1" dirty="0">
                <a:solidFill>
                  <a:srgbClr val="F4CAB8"/>
                </a:solidFill>
                <a:latin typeface="Brygada 1918 Bold" pitchFamily="34" charset="0"/>
                <a:ea typeface="Brygada 1918 Bold" pitchFamily="34" charset="-122"/>
                <a:cs typeface="Brygada 1918 Bold" pitchFamily="34" charset="-120"/>
              </a:rPr>
              <a:t>Hub Workload is Significantly Uneven</a:t>
            </a:r>
            <a:endParaRPr lang="en-US" sz="1250" dirty="0"/>
          </a:p>
        </p:txBody>
      </p:sp>
      <p:sp>
        <p:nvSpPr>
          <p:cNvPr id="14" name="Text 9"/>
          <p:cNvSpPr/>
          <p:nvPr/>
        </p:nvSpPr>
        <p:spPr>
          <a:xfrm>
            <a:off x="1081635" y="4663353"/>
            <a:ext cx="5882773" cy="952647"/>
          </a:xfrm>
          <a:prstGeom prst="rect">
            <a:avLst/>
          </a:prstGeom>
          <a:noFill/>
          <a:ln/>
        </p:spPr>
        <p:txBody>
          <a:bodyPr wrap="square" lIns="0" tIns="0" rIns="0" bIns="0" rtlCol="0" anchor="t">
            <a:normAutofit/>
          </a:bodyPr>
          <a:lstStyle/>
          <a:p>
            <a:pPr marL="0" indent="0" algn="l">
              <a:lnSpc>
                <a:spcPct val="129000"/>
              </a:lnSpc>
              <a:buNone/>
            </a:pPr>
            <a:r>
              <a:rPr lang="en-US" sz="950" dirty="0">
                <a:solidFill>
                  <a:srgbClr val="F4CAB8"/>
                </a:solidFill>
                <a:latin typeface="Montserrat Medium" pitchFamily="34" charset="0"/>
                <a:ea typeface="Montserrat Medium" pitchFamily="34" charset="-122"/>
                <a:cs typeface="Montserrat Medium" pitchFamily="34" charset="-120"/>
              </a:rPr>
              <a:t>Dallas Main Hub processes 6,451 of all network orders — the highest volume of any hub — despite not holding the largest capacity in the network. El Paso Hub handles the fewest orders (2,718) and achieves the best OTD rate (81.2%), reinforcing the hypothesis that order pressure affects delivery performance. Rebalancing workload from high-pressure hubs to under-utilized ones could improve network-wide OTD rates.</a:t>
            </a:r>
            <a:endParaRPr lang="en-US" sz="950" dirty="0"/>
          </a:p>
        </p:txBody>
      </p:sp>
      <p:pic>
        <p:nvPicPr>
          <p:cNvPr id="15"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8969" y="5869854"/>
            <a:ext cx="6644089" cy="1981296"/>
          </a:xfrm>
          <a:prstGeom prst="rect">
            <a:avLst/>
          </a:prstGeom>
        </p:spPr>
      </p:pic>
      <p:sp>
        <p:nvSpPr>
          <p:cNvPr id="16" name="Text 10"/>
          <p:cNvSpPr/>
          <p:nvPr/>
        </p:nvSpPr>
        <p:spPr>
          <a:xfrm>
            <a:off x="628389" y="6745268"/>
            <a:ext cx="184375" cy="230469"/>
          </a:xfrm>
          <a:prstGeom prst="rect">
            <a:avLst/>
          </a:prstGeom>
          <a:noFill/>
          <a:ln/>
        </p:spPr>
        <p:txBody>
          <a:bodyPr wrap="none" lIns="0" tIns="0" rIns="0" bIns="0" rtlCol="0" anchor="ctr"/>
          <a:lstStyle/>
          <a:p>
            <a:pPr marL="0" indent="0" algn="ctr">
              <a:lnSpc>
                <a:spcPct val="100000"/>
              </a:lnSpc>
              <a:buNone/>
            </a:pPr>
            <a:r>
              <a:rPr lang="en-US" sz="1450" b="1" dirty="0">
                <a:solidFill>
                  <a:srgbClr val="F4CAB8"/>
                </a:solidFill>
                <a:latin typeface="Brygada 1918 Bold" pitchFamily="34" charset="0"/>
                <a:ea typeface="Brygada 1918 Bold" pitchFamily="34" charset="-122"/>
                <a:cs typeface="Brygada 1918 Bold" pitchFamily="34" charset="-120"/>
              </a:rPr>
              <a:t>4</a:t>
            </a:r>
            <a:endParaRPr lang="en-US" sz="1450" dirty="0"/>
          </a:p>
        </p:txBody>
      </p:sp>
      <p:sp>
        <p:nvSpPr>
          <p:cNvPr id="17" name="Text 11"/>
          <p:cNvSpPr/>
          <p:nvPr/>
        </p:nvSpPr>
        <p:spPr>
          <a:xfrm>
            <a:off x="1081635" y="6008505"/>
            <a:ext cx="5882773" cy="491708"/>
          </a:xfrm>
          <a:prstGeom prst="rect">
            <a:avLst/>
          </a:prstGeom>
          <a:noFill/>
          <a:ln/>
        </p:spPr>
        <p:txBody>
          <a:bodyPr wrap="square" lIns="0" tIns="0" rIns="0" bIns="0" rtlCol="0" anchor="t">
            <a:normAutofit/>
          </a:bodyPr>
          <a:lstStyle/>
          <a:p>
            <a:pPr marL="0" indent="0" algn="l">
              <a:lnSpc>
                <a:spcPct val="104000"/>
              </a:lnSpc>
              <a:buNone/>
            </a:pPr>
            <a:r>
              <a:rPr lang="en-US" sz="1500" b="1" dirty="0">
                <a:solidFill>
                  <a:srgbClr val="F4CAB8"/>
                </a:solidFill>
                <a:latin typeface="Brygada 1918 Bold" pitchFamily="34" charset="0"/>
                <a:ea typeface="Brygada 1918 Bold" pitchFamily="34" charset="-122"/>
                <a:cs typeface="Brygada 1918 Bold" pitchFamily="34" charset="-120"/>
              </a:rPr>
              <a:t>Driver Performance and Customer Satisfaction are Highly Consistent</a:t>
            </a:r>
            <a:endParaRPr lang="en-US" sz="1500" dirty="0"/>
          </a:p>
        </p:txBody>
      </p:sp>
      <p:sp>
        <p:nvSpPr>
          <p:cNvPr id="18" name="Text 12"/>
          <p:cNvSpPr/>
          <p:nvPr/>
        </p:nvSpPr>
        <p:spPr>
          <a:xfrm>
            <a:off x="1081635" y="6569324"/>
            <a:ext cx="5882773" cy="1143176"/>
          </a:xfrm>
          <a:prstGeom prst="rect">
            <a:avLst/>
          </a:prstGeom>
          <a:noFill/>
          <a:ln/>
        </p:spPr>
        <p:txBody>
          <a:bodyPr wrap="square" lIns="0" tIns="0" rIns="0" bIns="0" rtlCol="0" anchor="t">
            <a:normAutofit/>
          </a:bodyPr>
          <a:lstStyle/>
          <a:p>
            <a:pPr marL="0" indent="0" algn="l">
              <a:lnSpc>
                <a:spcPct val="129000"/>
              </a:lnSpc>
              <a:buNone/>
            </a:pPr>
            <a:r>
              <a:rPr lang="en-US" sz="950" dirty="0">
                <a:solidFill>
                  <a:srgbClr val="F4CAB8"/>
                </a:solidFill>
                <a:latin typeface="Montserrat Medium" pitchFamily="34" charset="0"/>
                <a:ea typeface="Montserrat Medium" pitchFamily="34" charset="-122"/>
                <a:cs typeface="Montserrat Medium" pitchFamily="34" charset="-120"/>
              </a:rPr>
              <a:t>The dashboard tracks both CSAT scores and Years of Experience (YOE) across the driver pool, the data reveals that performance outcomes are remarkably uniform regardless of the individual driver. Across the sampled drivers, customer satisfaction results are nearly identical. This indicates that individual driver profiles or experience levels do not significantly alter customer satisfaction; rather, the timeliness of the delivery itself is the universal deciding factor.</a:t>
            </a:r>
            <a:endParaRPr lang="en-US" sz="950" dirty="0"/>
          </a:p>
        </p:txBody>
      </p:sp>
      <p:pic>
        <p:nvPicPr>
          <p:cNvPr id="19"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8969" y="7966354"/>
            <a:ext cx="6644089" cy="1503988"/>
          </a:xfrm>
          <a:prstGeom prst="rect">
            <a:avLst/>
          </a:prstGeom>
        </p:spPr>
      </p:pic>
      <p:sp>
        <p:nvSpPr>
          <p:cNvPr id="20" name="Text 13"/>
          <p:cNvSpPr/>
          <p:nvPr/>
        </p:nvSpPr>
        <p:spPr>
          <a:xfrm>
            <a:off x="628389" y="8603114"/>
            <a:ext cx="184375" cy="230469"/>
          </a:xfrm>
          <a:prstGeom prst="rect">
            <a:avLst/>
          </a:prstGeom>
          <a:noFill/>
          <a:ln/>
        </p:spPr>
        <p:txBody>
          <a:bodyPr wrap="none" lIns="0" tIns="0" rIns="0" bIns="0" rtlCol="0" anchor="ctr"/>
          <a:lstStyle/>
          <a:p>
            <a:pPr marL="0" indent="0" algn="ctr">
              <a:lnSpc>
                <a:spcPct val="100000"/>
              </a:lnSpc>
              <a:buNone/>
            </a:pPr>
            <a:r>
              <a:rPr lang="en-US" sz="1450" b="1" dirty="0">
                <a:solidFill>
                  <a:srgbClr val="F4CAB8"/>
                </a:solidFill>
                <a:latin typeface="Brygada 1918 Bold" pitchFamily="34" charset="0"/>
                <a:ea typeface="Brygada 1918 Bold" pitchFamily="34" charset="-122"/>
                <a:cs typeface="Brygada 1918 Bold" pitchFamily="34" charset="-120"/>
              </a:rPr>
              <a:t>5</a:t>
            </a:r>
            <a:endParaRPr lang="en-US" sz="1450" dirty="0"/>
          </a:p>
        </p:txBody>
      </p:sp>
      <p:sp>
        <p:nvSpPr>
          <p:cNvPr id="21" name="Text 14"/>
          <p:cNvSpPr/>
          <p:nvPr/>
        </p:nvSpPr>
        <p:spPr>
          <a:xfrm>
            <a:off x="1081635" y="8105005"/>
            <a:ext cx="3246996" cy="204930"/>
          </a:xfrm>
          <a:prstGeom prst="rect">
            <a:avLst/>
          </a:prstGeom>
          <a:noFill/>
          <a:ln/>
        </p:spPr>
        <p:txBody>
          <a:bodyPr wrap="none" lIns="0" tIns="0" rIns="0" bIns="0" rtlCol="0" anchor="t"/>
          <a:lstStyle/>
          <a:p>
            <a:pPr marL="0" indent="0" algn="l">
              <a:lnSpc>
                <a:spcPct val="104000"/>
              </a:lnSpc>
              <a:buNone/>
            </a:pPr>
            <a:r>
              <a:rPr lang="en-US" sz="1250" b="1" dirty="0">
                <a:solidFill>
                  <a:srgbClr val="F4CAB8"/>
                </a:solidFill>
                <a:latin typeface="Brygada 1918 Bold" pitchFamily="34" charset="0"/>
                <a:ea typeface="Brygada 1918 Bold" pitchFamily="34" charset="-122"/>
                <a:cs typeface="Brygada 1918 Bold" pitchFamily="34" charset="-120"/>
              </a:rPr>
              <a:t>Fleet Health is a Critical Operational Risk</a:t>
            </a:r>
            <a:endParaRPr lang="en-US" sz="1250" dirty="0"/>
          </a:p>
        </p:txBody>
      </p:sp>
      <p:sp>
        <p:nvSpPr>
          <p:cNvPr id="22" name="Text 15"/>
          <p:cNvSpPr/>
          <p:nvPr/>
        </p:nvSpPr>
        <p:spPr>
          <a:xfrm>
            <a:off x="1081635" y="8379045"/>
            <a:ext cx="5882773" cy="952647"/>
          </a:xfrm>
          <a:prstGeom prst="rect">
            <a:avLst/>
          </a:prstGeom>
          <a:noFill/>
          <a:ln/>
        </p:spPr>
        <p:txBody>
          <a:bodyPr wrap="square" lIns="0" tIns="0" rIns="0" bIns="0" rtlCol="0" anchor="t">
            <a:normAutofit/>
          </a:bodyPr>
          <a:lstStyle/>
          <a:p>
            <a:pPr marL="0" indent="0" algn="l">
              <a:lnSpc>
                <a:spcPct val="129000"/>
              </a:lnSpc>
              <a:buNone/>
            </a:pPr>
            <a:r>
              <a:rPr lang="en-US" sz="950" dirty="0">
                <a:solidFill>
                  <a:srgbClr val="F4CAB8"/>
                </a:solidFill>
                <a:latin typeface="Montserrat Medium" pitchFamily="34" charset="0"/>
                <a:ea typeface="Montserrat Medium" pitchFamily="34" charset="-122"/>
                <a:cs typeface="Montserrat Medium" pitchFamily="34" charset="-120"/>
              </a:rPr>
              <a:t>26.67% of the fleet — 12 out of 45 vehicles — is unavailable for dispatch at any given time. The average breakdown count across the fleet is 11.93 per vehicle, and vehicle age is a meaningful predictor of breakdown frequency. Freightliner M2 vehicles average 17.0 breakdowns each, while the oldest vehicles in the fleet are 8 years old. This level of fleet unreliability directly contributes to Vehicle Breakdown being one of the top two delay causes.</a:t>
            </a:r>
            <a:endParaRPr lang="en-US" sz="950" dirty="0"/>
          </a:p>
        </p:txBody>
      </p:sp>
      <p:sp>
        <p:nvSpPr>
          <p:cNvPr id="23" name="Text 16"/>
          <p:cNvSpPr/>
          <p:nvPr/>
        </p:nvSpPr>
        <p:spPr>
          <a:xfrm>
            <a:off x="458969" y="9599946"/>
            <a:ext cx="6644089" cy="381059"/>
          </a:xfrm>
          <a:prstGeom prst="rect">
            <a:avLst/>
          </a:prstGeom>
          <a:noFill/>
          <a:ln/>
        </p:spPr>
        <p:txBody>
          <a:bodyPr wrap="square" lIns="0" tIns="0" rIns="0" bIns="0" rtlCol="0" anchor="t">
            <a:normAutofit/>
          </a:bodyPr>
          <a:lstStyle/>
          <a:p>
            <a:pPr marL="0" indent="0" algn="l">
              <a:lnSpc>
                <a:spcPct val="129000"/>
              </a:lnSpc>
              <a:buNone/>
            </a:pPr>
            <a:r>
              <a:rPr lang="en-US" sz="950" dirty="0">
                <a:solidFill>
                  <a:srgbClr val="F4CAB8"/>
                </a:solidFill>
                <a:latin typeface="Montserrat Medium" pitchFamily="34" charset="0"/>
                <a:ea typeface="Montserrat Medium" pitchFamily="34" charset="-122"/>
                <a:cs typeface="Montserrat Medium" pitchFamily="34" charset="-120"/>
              </a:rPr>
              <a:t>        </a:t>
            </a:r>
            <a:endParaRPr lang="en-US" sz="950" dirty="0"/>
          </a:p>
        </p:txBody>
      </p:sp>
      <p:sp>
        <p:nvSpPr>
          <p:cNvPr id="24" name="TextBox 23">
            <a:extLst>
              <a:ext uri="{FF2B5EF4-FFF2-40B4-BE49-F238E27FC236}">
                <a16:creationId xmlns:a16="http://schemas.microsoft.com/office/drawing/2014/main" id="{43A177F3-FD78-22EA-BAF4-6CCF4B99CF4C}"/>
              </a:ext>
            </a:extLst>
          </p:cNvPr>
          <p:cNvSpPr txBox="1"/>
          <p:nvPr/>
        </p:nvSpPr>
        <p:spPr>
          <a:xfrm>
            <a:off x="7103058" y="10053400"/>
            <a:ext cx="459792" cy="381059"/>
          </a:xfrm>
          <a:prstGeom prst="rect">
            <a:avLst/>
          </a:prstGeom>
          <a:noFill/>
        </p:spPr>
        <p:txBody>
          <a:bodyPr wrap="square" rtlCol="0">
            <a:spAutoFit/>
          </a:bodyPr>
          <a:lstStyle/>
          <a:p>
            <a:fld id="{D933F7C5-BCB3-4A5A-9830-FBF470D7CA81}" type="slidenum">
              <a:rPr lang="en-US" smtClean="0">
                <a:solidFill>
                  <a:srgbClr val="F4CAB8"/>
                </a:solidFill>
                <a:latin typeface="Brygada 1918" pitchFamily="2" charset="0"/>
                <a:ea typeface="Brygada 1918" pitchFamily="2" charset="0"/>
              </a:rPr>
              <a:t>18</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8969" y="360566"/>
            <a:ext cx="5187058" cy="437061"/>
          </a:xfrm>
          <a:prstGeom prst="rect">
            <a:avLst/>
          </a:prstGeom>
          <a:noFill/>
          <a:ln/>
        </p:spPr>
        <p:txBody>
          <a:bodyPr wrap="none" lIns="0" tIns="0" rIns="0" bIns="0" rtlCol="0" anchor="t"/>
          <a:lstStyle/>
          <a:p>
            <a:pPr marL="0" indent="0" algn="l">
              <a:lnSpc>
                <a:spcPct val="104000"/>
              </a:lnSpc>
              <a:buNone/>
            </a:pPr>
            <a:r>
              <a:rPr lang="en-US" sz="2750" b="1" dirty="0">
                <a:solidFill>
                  <a:srgbClr val="FFB393"/>
                </a:solidFill>
                <a:latin typeface="Brygada 1918 Bold" pitchFamily="34" charset="0"/>
                <a:ea typeface="Brygada 1918 Bold" pitchFamily="34" charset="-122"/>
                <a:cs typeface="Brygada 1918 Bold" pitchFamily="34" charset="-120"/>
              </a:rPr>
              <a:t>Strategic Recommendations</a:t>
            </a:r>
            <a:endParaRPr lang="en-US" sz="2750" dirty="0"/>
          </a:p>
        </p:txBody>
      </p:sp>
      <p:sp>
        <p:nvSpPr>
          <p:cNvPr id="3" name="Shape 1"/>
          <p:cNvSpPr/>
          <p:nvPr/>
        </p:nvSpPr>
        <p:spPr>
          <a:xfrm>
            <a:off x="590111" y="1256534"/>
            <a:ext cx="131081" cy="991971"/>
          </a:xfrm>
          <a:prstGeom prst="roundRect">
            <a:avLst>
              <a:gd name="adj" fmla="val 15006"/>
            </a:avLst>
          </a:prstGeom>
          <a:solidFill>
            <a:srgbClr val="4D1529"/>
          </a:solidFill>
          <a:ln/>
        </p:spPr>
        <p:txBody>
          <a:bodyPr/>
          <a:lstStyle/>
          <a:p>
            <a:endParaRPr lang="en-US"/>
          </a:p>
        </p:txBody>
      </p:sp>
      <p:sp>
        <p:nvSpPr>
          <p:cNvPr id="4" name="Shape 2"/>
          <p:cNvSpPr/>
          <p:nvPr/>
        </p:nvSpPr>
        <p:spPr>
          <a:xfrm>
            <a:off x="458969" y="1170438"/>
            <a:ext cx="393366" cy="393367"/>
          </a:xfrm>
          <a:prstGeom prst="ellipse">
            <a:avLst/>
          </a:prstGeom>
          <a:solidFill>
            <a:srgbClr val="4D1529"/>
          </a:solidFill>
          <a:ln/>
        </p:spPr>
        <p:txBody>
          <a:bodyPr/>
          <a:lstStyle/>
          <a:p>
            <a:endParaRPr lang="en-US"/>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7310" y="1268780"/>
            <a:ext cx="196683" cy="196683"/>
          </a:xfrm>
          <a:prstGeom prst="rect">
            <a:avLst/>
          </a:prstGeom>
        </p:spPr>
      </p:pic>
      <p:sp>
        <p:nvSpPr>
          <p:cNvPr id="6" name="Text 3"/>
          <p:cNvSpPr/>
          <p:nvPr/>
        </p:nvSpPr>
        <p:spPr>
          <a:xfrm>
            <a:off x="983416" y="1190931"/>
            <a:ext cx="2361922" cy="218530"/>
          </a:xfrm>
          <a:prstGeom prst="rect">
            <a:avLst/>
          </a:prstGeom>
          <a:noFill/>
          <a:ln/>
        </p:spPr>
        <p:txBody>
          <a:bodyPr wrap="none" lIns="0" tIns="0" rIns="0" bIns="0" rtlCol="0" anchor="t"/>
          <a:lstStyle/>
          <a:p>
            <a:pPr marL="0" indent="0" algn="l">
              <a:lnSpc>
                <a:spcPct val="104000"/>
              </a:lnSpc>
              <a:buNone/>
            </a:pPr>
            <a:r>
              <a:rPr lang="en-US" sz="1350" b="1" dirty="0">
                <a:solidFill>
                  <a:srgbClr val="F4CAB8"/>
                </a:solidFill>
                <a:latin typeface="Brygada 1918 Bold" pitchFamily="34" charset="0"/>
                <a:ea typeface="Brygada 1918 Bold" pitchFamily="34" charset="-122"/>
                <a:cs typeface="Brygada 1918 Bold" pitchFamily="34" charset="-120"/>
              </a:rPr>
              <a:t>Plan Ahead for Peak Months</a:t>
            </a:r>
            <a:endParaRPr lang="en-US" sz="1350" dirty="0"/>
          </a:p>
        </p:txBody>
      </p:sp>
      <p:sp>
        <p:nvSpPr>
          <p:cNvPr id="7" name="Text 4"/>
          <p:cNvSpPr/>
          <p:nvPr/>
        </p:nvSpPr>
        <p:spPr>
          <a:xfrm>
            <a:off x="983416" y="1488110"/>
            <a:ext cx="6119642" cy="62937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May and October are highest-volume months every year. Hire additional contract drivers in advance and clear maintenance backlogs before volume surges to protect OTD rates and CSAT scores.</a:t>
            </a:r>
            <a:endParaRPr lang="en-US" sz="1000" dirty="0"/>
          </a:p>
        </p:txBody>
      </p:sp>
      <p:sp>
        <p:nvSpPr>
          <p:cNvPr id="8" name="Shape 5"/>
          <p:cNvSpPr/>
          <p:nvPr/>
        </p:nvSpPr>
        <p:spPr>
          <a:xfrm>
            <a:off x="786794" y="2576331"/>
            <a:ext cx="131081" cy="991971"/>
          </a:xfrm>
          <a:prstGeom prst="roundRect">
            <a:avLst>
              <a:gd name="adj" fmla="val 15006"/>
            </a:avLst>
          </a:prstGeom>
          <a:solidFill>
            <a:srgbClr val="4D1529"/>
          </a:solidFill>
          <a:ln/>
        </p:spPr>
        <p:txBody>
          <a:bodyPr/>
          <a:lstStyle/>
          <a:p>
            <a:endParaRPr lang="en-US"/>
          </a:p>
        </p:txBody>
      </p:sp>
      <p:sp>
        <p:nvSpPr>
          <p:cNvPr id="9" name="Shape 6"/>
          <p:cNvSpPr/>
          <p:nvPr/>
        </p:nvSpPr>
        <p:spPr>
          <a:xfrm>
            <a:off x="655652" y="2490236"/>
            <a:ext cx="393366" cy="393367"/>
          </a:xfrm>
          <a:prstGeom prst="ellipse">
            <a:avLst/>
          </a:prstGeom>
          <a:solidFill>
            <a:srgbClr val="4D1529"/>
          </a:solidFill>
          <a:ln/>
        </p:spPr>
        <p:txBody>
          <a:bodyPr/>
          <a:lstStyle/>
          <a:p>
            <a:endParaRPr lang="en-US"/>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3993" y="2588577"/>
            <a:ext cx="196683" cy="196683"/>
          </a:xfrm>
          <a:prstGeom prst="rect">
            <a:avLst/>
          </a:prstGeom>
        </p:spPr>
      </p:pic>
      <p:sp>
        <p:nvSpPr>
          <p:cNvPr id="11" name="Text 7"/>
          <p:cNvSpPr/>
          <p:nvPr/>
        </p:nvSpPr>
        <p:spPr>
          <a:xfrm>
            <a:off x="1180099" y="2510729"/>
            <a:ext cx="4201981" cy="218530"/>
          </a:xfrm>
          <a:prstGeom prst="rect">
            <a:avLst/>
          </a:prstGeom>
          <a:noFill/>
          <a:ln/>
        </p:spPr>
        <p:txBody>
          <a:bodyPr wrap="none" lIns="0" tIns="0" rIns="0" bIns="0" rtlCol="0" anchor="t"/>
          <a:lstStyle/>
          <a:p>
            <a:pPr marL="0" indent="0" algn="l">
              <a:lnSpc>
                <a:spcPct val="104000"/>
              </a:lnSpc>
              <a:buNone/>
            </a:pPr>
            <a:r>
              <a:rPr lang="en-US" sz="1350" b="1" dirty="0">
                <a:solidFill>
                  <a:srgbClr val="F4CAB8"/>
                </a:solidFill>
                <a:latin typeface="Brygada 1918 Bold" pitchFamily="34" charset="0"/>
                <a:ea typeface="Brygada 1918 Bold" pitchFamily="34" charset="-122"/>
                <a:cs typeface="Brygada 1918 Bold" pitchFamily="34" charset="-120"/>
              </a:rPr>
              <a:t>Shift Driver Evaluation to Outcome-Based Metrics</a:t>
            </a:r>
            <a:endParaRPr lang="en-US" sz="1350" dirty="0"/>
          </a:p>
        </p:txBody>
      </p:sp>
      <p:sp>
        <p:nvSpPr>
          <p:cNvPr id="12" name="Text 8"/>
          <p:cNvSpPr/>
          <p:nvPr/>
        </p:nvSpPr>
        <p:spPr>
          <a:xfrm>
            <a:off x="1180099" y="2807908"/>
            <a:ext cx="5922959" cy="62937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Experience years do not predict performance (correlation: 0.006). Evaluate drivers on actual OTD rate, delay count, and CSAT score over rolling six-month period instead of experience.</a:t>
            </a:r>
            <a:endParaRPr lang="en-US" sz="1000" dirty="0"/>
          </a:p>
        </p:txBody>
      </p:sp>
      <p:sp>
        <p:nvSpPr>
          <p:cNvPr id="13" name="Shape 9"/>
          <p:cNvSpPr/>
          <p:nvPr/>
        </p:nvSpPr>
        <p:spPr>
          <a:xfrm>
            <a:off x="983478" y="3896128"/>
            <a:ext cx="131081" cy="991971"/>
          </a:xfrm>
          <a:prstGeom prst="roundRect">
            <a:avLst>
              <a:gd name="adj" fmla="val 15006"/>
            </a:avLst>
          </a:prstGeom>
          <a:solidFill>
            <a:srgbClr val="4D1529"/>
          </a:solidFill>
          <a:ln/>
        </p:spPr>
        <p:txBody>
          <a:bodyPr/>
          <a:lstStyle/>
          <a:p>
            <a:endParaRPr lang="en-US"/>
          </a:p>
        </p:txBody>
      </p:sp>
      <p:sp>
        <p:nvSpPr>
          <p:cNvPr id="14" name="Shape 10"/>
          <p:cNvSpPr/>
          <p:nvPr/>
        </p:nvSpPr>
        <p:spPr>
          <a:xfrm>
            <a:off x="852335" y="3810033"/>
            <a:ext cx="393366" cy="393367"/>
          </a:xfrm>
          <a:prstGeom prst="ellipse">
            <a:avLst/>
          </a:prstGeom>
          <a:solidFill>
            <a:srgbClr val="4D1529"/>
          </a:solidFill>
          <a:ln/>
        </p:spPr>
        <p:txBody>
          <a:bodyPr/>
          <a:lstStyle/>
          <a:p>
            <a:endParaRPr lang="en-US"/>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0677" y="3908375"/>
            <a:ext cx="196683" cy="196683"/>
          </a:xfrm>
          <a:prstGeom prst="rect">
            <a:avLst/>
          </a:prstGeom>
        </p:spPr>
      </p:pic>
      <p:sp>
        <p:nvSpPr>
          <p:cNvPr id="16" name="Text 11"/>
          <p:cNvSpPr/>
          <p:nvPr/>
        </p:nvSpPr>
        <p:spPr>
          <a:xfrm>
            <a:off x="1376782" y="3830526"/>
            <a:ext cx="3134808" cy="218530"/>
          </a:xfrm>
          <a:prstGeom prst="rect">
            <a:avLst/>
          </a:prstGeom>
          <a:noFill/>
          <a:ln/>
        </p:spPr>
        <p:txBody>
          <a:bodyPr wrap="none" lIns="0" tIns="0" rIns="0" bIns="0" rtlCol="0" anchor="t"/>
          <a:lstStyle/>
          <a:p>
            <a:pPr marL="0" indent="0" algn="l">
              <a:lnSpc>
                <a:spcPct val="104000"/>
              </a:lnSpc>
              <a:buNone/>
            </a:pPr>
            <a:r>
              <a:rPr lang="en-US" sz="1350" b="1" dirty="0">
                <a:solidFill>
                  <a:srgbClr val="F4CAB8"/>
                </a:solidFill>
                <a:latin typeface="Brygada 1918 Bold" pitchFamily="34" charset="0"/>
                <a:ea typeface="Brygada 1918 Bold" pitchFamily="34" charset="-122"/>
                <a:cs typeface="Brygada 1918 Bold" pitchFamily="34" charset="-120"/>
              </a:rPr>
              <a:t>Implement Vehicle Retirement Policy</a:t>
            </a:r>
            <a:endParaRPr lang="en-US" sz="1350" dirty="0"/>
          </a:p>
        </p:txBody>
      </p:sp>
      <p:sp>
        <p:nvSpPr>
          <p:cNvPr id="17" name="Text 12"/>
          <p:cNvSpPr/>
          <p:nvPr/>
        </p:nvSpPr>
        <p:spPr>
          <a:xfrm>
            <a:off x="1376782" y="4127705"/>
            <a:ext cx="5726275" cy="62937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Place vehicles 7+ years old with 20+ breakdowns on immediate retirement schedule. Set preventive maintenance milestones at breakdown count thresholds rather than calendar intervals.</a:t>
            </a:r>
            <a:endParaRPr lang="en-US" sz="1000" dirty="0"/>
          </a:p>
        </p:txBody>
      </p:sp>
      <p:sp>
        <p:nvSpPr>
          <p:cNvPr id="18" name="Shape 13"/>
          <p:cNvSpPr/>
          <p:nvPr/>
        </p:nvSpPr>
        <p:spPr>
          <a:xfrm>
            <a:off x="1180161" y="5215925"/>
            <a:ext cx="131081" cy="991971"/>
          </a:xfrm>
          <a:prstGeom prst="roundRect">
            <a:avLst>
              <a:gd name="adj" fmla="val 15006"/>
            </a:avLst>
          </a:prstGeom>
          <a:solidFill>
            <a:srgbClr val="4D1529"/>
          </a:solidFill>
          <a:ln/>
        </p:spPr>
        <p:txBody>
          <a:bodyPr/>
          <a:lstStyle/>
          <a:p>
            <a:endParaRPr lang="en-US"/>
          </a:p>
        </p:txBody>
      </p:sp>
      <p:sp>
        <p:nvSpPr>
          <p:cNvPr id="19" name="Shape 14"/>
          <p:cNvSpPr/>
          <p:nvPr/>
        </p:nvSpPr>
        <p:spPr>
          <a:xfrm>
            <a:off x="1049018" y="5129830"/>
            <a:ext cx="393366" cy="393367"/>
          </a:xfrm>
          <a:prstGeom prst="ellipse">
            <a:avLst/>
          </a:prstGeom>
          <a:solidFill>
            <a:srgbClr val="4D1529"/>
          </a:solidFill>
          <a:ln/>
        </p:spPr>
        <p:txBody>
          <a:bodyPr/>
          <a:lstStyle/>
          <a:p>
            <a:endParaRPr lang="en-US"/>
          </a:p>
        </p:txBody>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47360" y="5228172"/>
            <a:ext cx="196683" cy="196683"/>
          </a:xfrm>
          <a:prstGeom prst="rect">
            <a:avLst/>
          </a:prstGeom>
        </p:spPr>
      </p:pic>
      <p:sp>
        <p:nvSpPr>
          <p:cNvPr id="21" name="Text 15"/>
          <p:cNvSpPr/>
          <p:nvPr/>
        </p:nvSpPr>
        <p:spPr>
          <a:xfrm>
            <a:off x="1573466" y="5150323"/>
            <a:ext cx="2129114" cy="218530"/>
          </a:xfrm>
          <a:prstGeom prst="rect">
            <a:avLst/>
          </a:prstGeom>
          <a:noFill/>
          <a:ln/>
        </p:spPr>
        <p:txBody>
          <a:bodyPr wrap="none" lIns="0" tIns="0" rIns="0" bIns="0" rtlCol="0" anchor="t"/>
          <a:lstStyle/>
          <a:p>
            <a:pPr marL="0" indent="0" algn="l">
              <a:lnSpc>
                <a:spcPct val="104000"/>
              </a:lnSpc>
              <a:buNone/>
            </a:pPr>
            <a:r>
              <a:rPr lang="en-US" sz="1350" b="1" dirty="0">
                <a:solidFill>
                  <a:srgbClr val="F4CAB8"/>
                </a:solidFill>
                <a:latin typeface="Brygada 1918 Bold" pitchFamily="34" charset="0"/>
                <a:ea typeface="Brygada 1918 Bold" pitchFamily="34" charset="-122"/>
                <a:cs typeface="Brygada 1918 Bold" pitchFamily="34" charset="-120"/>
              </a:rPr>
              <a:t>Rebalance Hub Workload</a:t>
            </a:r>
            <a:endParaRPr lang="en-US" sz="1350" dirty="0"/>
          </a:p>
        </p:txBody>
      </p:sp>
      <p:sp>
        <p:nvSpPr>
          <p:cNvPr id="22" name="Text 16"/>
          <p:cNvSpPr/>
          <p:nvPr/>
        </p:nvSpPr>
        <p:spPr>
          <a:xfrm>
            <a:off x="1573466" y="5447502"/>
            <a:ext cx="5529592" cy="62937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Route portion of Dallas Main Hub's volume to underutilized hubs — particularly Fort Worth and El Paso. El Paso's superior OTD rate at lower volumes suggests room to absorb additional orders.</a:t>
            </a:r>
            <a:endParaRPr lang="en-US" sz="1000" dirty="0"/>
          </a:p>
        </p:txBody>
      </p:sp>
      <p:sp>
        <p:nvSpPr>
          <p:cNvPr id="23" name="Shape 17"/>
          <p:cNvSpPr/>
          <p:nvPr/>
        </p:nvSpPr>
        <p:spPr>
          <a:xfrm>
            <a:off x="983478" y="6535723"/>
            <a:ext cx="131081" cy="991971"/>
          </a:xfrm>
          <a:prstGeom prst="roundRect">
            <a:avLst>
              <a:gd name="adj" fmla="val 15006"/>
            </a:avLst>
          </a:prstGeom>
          <a:solidFill>
            <a:srgbClr val="4D1529"/>
          </a:solidFill>
          <a:ln/>
        </p:spPr>
        <p:txBody>
          <a:bodyPr/>
          <a:lstStyle/>
          <a:p>
            <a:endParaRPr lang="en-US"/>
          </a:p>
        </p:txBody>
      </p:sp>
      <p:sp>
        <p:nvSpPr>
          <p:cNvPr id="24" name="Shape 18"/>
          <p:cNvSpPr/>
          <p:nvPr/>
        </p:nvSpPr>
        <p:spPr>
          <a:xfrm>
            <a:off x="852335" y="6449627"/>
            <a:ext cx="393366" cy="393367"/>
          </a:xfrm>
          <a:prstGeom prst="ellipse">
            <a:avLst/>
          </a:prstGeom>
          <a:solidFill>
            <a:srgbClr val="4D1529"/>
          </a:solidFill>
          <a:ln/>
        </p:spPr>
        <p:txBody>
          <a:bodyPr/>
          <a:lstStyle/>
          <a:p>
            <a:endParaRPr lang="en-US"/>
          </a:p>
        </p:txBody>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50677" y="6547969"/>
            <a:ext cx="196683" cy="196683"/>
          </a:xfrm>
          <a:prstGeom prst="rect">
            <a:avLst/>
          </a:prstGeom>
        </p:spPr>
      </p:pic>
      <p:sp>
        <p:nvSpPr>
          <p:cNvPr id="26" name="Text 19"/>
          <p:cNvSpPr/>
          <p:nvPr/>
        </p:nvSpPr>
        <p:spPr>
          <a:xfrm>
            <a:off x="1376782" y="6470120"/>
            <a:ext cx="3371431" cy="218530"/>
          </a:xfrm>
          <a:prstGeom prst="rect">
            <a:avLst/>
          </a:prstGeom>
          <a:noFill/>
          <a:ln/>
        </p:spPr>
        <p:txBody>
          <a:bodyPr wrap="none" lIns="0" tIns="0" rIns="0" bIns="0" rtlCol="0" anchor="t"/>
          <a:lstStyle/>
          <a:p>
            <a:pPr marL="0" indent="0" algn="l">
              <a:lnSpc>
                <a:spcPct val="104000"/>
              </a:lnSpc>
              <a:buNone/>
            </a:pPr>
            <a:r>
              <a:rPr lang="en-US" sz="1350" b="1" dirty="0">
                <a:solidFill>
                  <a:srgbClr val="F4CAB8"/>
                </a:solidFill>
                <a:latin typeface="Brygada 1918 Bold" pitchFamily="34" charset="0"/>
                <a:ea typeface="Brygada 1918 Bold" pitchFamily="34" charset="-122"/>
                <a:cs typeface="Brygada 1918 Bold" pitchFamily="34" charset="-120"/>
              </a:rPr>
              <a:t>Coach Using Cross-Referenced Evidence</a:t>
            </a:r>
            <a:endParaRPr lang="en-US" sz="1350" dirty="0"/>
          </a:p>
        </p:txBody>
      </p:sp>
      <p:sp>
        <p:nvSpPr>
          <p:cNvPr id="27" name="Text 20"/>
          <p:cNvSpPr/>
          <p:nvPr/>
        </p:nvSpPr>
        <p:spPr>
          <a:xfrm>
            <a:off x="1376782" y="6767299"/>
            <a:ext cx="5726275" cy="62937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Before assigning coaching to top 10 highest-delay drivers, cross-reference delay records against vehicle breakdown data. If delays correlate with vehicle history, problem may be fleet-related rather than driver-related.</a:t>
            </a:r>
            <a:endParaRPr lang="en-US" sz="1000" dirty="0"/>
          </a:p>
        </p:txBody>
      </p:sp>
      <p:sp>
        <p:nvSpPr>
          <p:cNvPr id="28" name="Shape 21"/>
          <p:cNvSpPr/>
          <p:nvPr/>
        </p:nvSpPr>
        <p:spPr>
          <a:xfrm>
            <a:off x="458969" y="7708007"/>
            <a:ext cx="6644089" cy="15754"/>
          </a:xfrm>
          <a:prstGeom prst="roundRect">
            <a:avLst>
              <a:gd name="adj" fmla="val 60001"/>
            </a:avLst>
          </a:prstGeom>
          <a:solidFill>
            <a:srgbClr val="F4CAB8">
              <a:alpha val="50000"/>
            </a:srgbClr>
          </a:solidFill>
          <a:ln/>
        </p:spPr>
        <p:txBody>
          <a:bodyPr/>
          <a:lstStyle/>
          <a:p>
            <a:endParaRPr lang="en-US"/>
          </a:p>
        </p:txBody>
      </p:sp>
      <p:sp>
        <p:nvSpPr>
          <p:cNvPr id="29" name="TextBox 28">
            <a:extLst>
              <a:ext uri="{FF2B5EF4-FFF2-40B4-BE49-F238E27FC236}">
                <a16:creationId xmlns:a16="http://schemas.microsoft.com/office/drawing/2014/main" id="{AECC496B-9715-92D7-23C2-805B35A72EEE}"/>
              </a:ext>
            </a:extLst>
          </p:cNvPr>
          <p:cNvSpPr txBox="1"/>
          <p:nvPr/>
        </p:nvSpPr>
        <p:spPr>
          <a:xfrm>
            <a:off x="7099024" y="9908571"/>
            <a:ext cx="463826" cy="369332"/>
          </a:xfrm>
          <a:prstGeom prst="rect">
            <a:avLst/>
          </a:prstGeom>
          <a:noFill/>
        </p:spPr>
        <p:txBody>
          <a:bodyPr wrap="square" rtlCol="0">
            <a:spAutoFit/>
          </a:bodyPr>
          <a:lstStyle/>
          <a:p>
            <a:fld id="{E8C65798-987A-4500-866B-722DA0E518B7}" type="slidenum">
              <a:rPr lang="en-US" smtClean="0">
                <a:solidFill>
                  <a:srgbClr val="F4CAB8"/>
                </a:solidFill>
                <a:latin typeface="Brygada 1918" pitchFamily="2" charset="0"/>
                <a:ea typeface="Brygada 1918" pitchFamily="2" charset="0"/>
              </a:rPr>
              <a:t>19</a:t>
            </a:fld>
            <a:endParaRPr lang="en-US" dirty="0">
              <a:solidFill>
                <a:srgbClr val="F4CAB8"/>
              </a:solidFill>
              <a:latin typeface="Brygada 1918" pitchFamily="2" charset="0"/>
              <a:ea typeface="Brygada 1918" pitchFamily="2"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8969" y="360566"/>
            <a:ext cx="3875016" cy="437061"/>
          </a:xfrm>
          <a:prstGeom prst="rect">
            <a:avLst/>
          </a:prstGeom>
          <a:noFill/>
          <a:ln/>
        </p:spPr>
        <p:txBody>
          <a:bodyPr wrap="none" lIns="0" tIns="0" rIns="0" bIns="0" rtlCol="0" anchor="t"/>
          <a:lstStyle/>
          <a:p>
            <a:pPr marL="0" indent="0" algn="l">
              <a:lnSpc>
                <a:spcPct val="104000"/>
              </a:lnSpc>
              <a:buNone/>
            </a:pPr>
            <a:r>
              <a:rPr lang="en-US" sz="2750" b="1" dirty="0">
                <a:solidFill>
                  <a:srgbClr val="FFB393"/>
                </a:solidFill>
                <a:latin typeface="Brygada 1918 Bold" pitchFamily="34" charset="0"/>
                <a:ea typeface="Brygada 1918 Bold" pitchFamily="34" charset="-122"/>
                <a:cs typeface="Brygada 1918 Bold" pitchFamily="34" charset="-120"/>
              </a:rPr>
              <a:t>Project Team: </a:t>
            </a:r>
            <a:endParaRPr lang="en-US" sz="2750" dirty="0"/>
          </a:p>
        </p:txBody>
      </p:sp>
      <p:sp>
        <p:nvSpPr>
          <p:cNvPr id="3" name="Shape 1"/>
          <p:cNvSpPr/>
          <p:nvPr/>
        </p:nvSpPr>
        <p:spPr>
          <a:xfrm>
            <a:off x="458969" y="1059850"/>
            <a:ext cx="6644089" cy="2685134"/>
          </a:xfrm>
          <a:prstGeom prst="roundRect">
            <a:avLst>
              <a:gd name="adj" fmla="val 733"/>
            </a:avLst>
          </a:prstGeom>
          <a:noFill/>
          <a:ln w="7877">
            <a:solidFill>
              <a:srgbClr val="FFFFFF">
                <a:alpha val="24000"/>
              </a:srgbClr>
            </a:solidFill>
            <a:prstDash val="solid"/>
          </a:ln>
        </p:spPr>
        <p:txBody>
          <a:bodyPr/>
          <a:lstStyle/>
          <a:p>
            <a:endParaRPr lang="en-US"/>
          </a:p>
        </p:txBody>
      </p:sp>
      <p:sp>
        <p:nvSpPr>
          <p:cNvPr id="4" name="Shape 2"/>
          <p:cNvSpPr/>
          <p:nvPr/>
        </p:nvSpPr>
        <p:spPr>
          <a:xfrm>
            <a:off x="466846" y="1067727"/>
            <a:ext cx="6628335" cy="374966"/>
          </a:xfrm>
          <a:prstGeom prst="rect">
            <a:avLst/>
          </a:prstGeom>
          <a:solidFill>
            <a:srgbClr val="FFFFFF">
              <a:alpha val="4000"/>
            </a:srgbClr>
          </a:solidFill>
          <a:ln/>
        </p:spPr>
        <p:txBody>
          <a:bodyPr/>
          <a:lstStyle/>
          <a:p>
            <a:endParaRPr lang="en-US"/>
          </a:p>
        </p:txBody>
      </p:sp>
      <p:sp>
        <p:nvSpPr>
          <p:cNvPr id="5" name="Text 3"/>
          <p:cNvSpPr/>
          <p:nvPr/>
        </p:nvSpPr>
        <p:spPr>
          <a:xfrm>
            <a:off x="597988" y="1150315"/>
            <a:ext cx="3428110" cy="209792"/>
          </a:xfrm>
          <a:prstGeom prst="rect">
            <a:avLst/>
          </a:prstGeom>
          <a:noFill/>
          <a:ln/>
        </p:spPr>
        <p:txBody>
          <a:bodyPr wrap="none" lIns="0" tIns="0" rIns="0" bIns="0" rtlCol="0" anchor="t"/>
          <a:lstStyle/>
          <a:p>
            <a:pPr marL="0" indent="0" algn="l">
              <a:lnSpc>
                <a:spcPct val="133000"/>
              </a:lnSpc>
              <a:buNone/>
            </a:pPr>
            <a:r>
              <a:rPr lang="en-US" sz="1000" b="1" dirty="0">
                <a:solidFill>
                  <a:srgbClr val="F4CAB8"/>
                </a:solidFill>
                <a:latin typeface="Montserrat Bold" pitchFamily="34" charset="0"/>
                <a:ea typeface="Montserrat Bold" pitchFamily="34" charset="-122"/>
                <a:cs typeface="Montserrat Bold" pitchFamily="34" charset="-120"/>
              </a:rPr>
              <a:t>Team Member</a:t>
            </a:r>
            <a:endParaRPr lang="en-US" sz="1000" dirty="0"/>
          </a:p>
        </p:txBody>
      </p:sp>
      <p:sp>
        <p:nvSpPr>
          <p:cNvPr id="6" name="Text 4"/>
          <p:cNvSpPr/>
          <p:nvPr/>
        </p:nvSpPr>
        <p:spPr>
          <a:xfrm>
            <a:off x="3914094" y="1150315"/>
            <a:ext cx="3428110" cy="209792"/>
          </a:xfrm>
          <a:prstGeom prst="rect">
            <a:avLst/>
          </a:prstGeom>
          <a:noFill/>
          <a:ln/>
        </p:spPr>
        <p:txBody>
          <a:bodyPr wrap="none" lIns="0" tIns="0" rIns="0" bIns="0" rtlCol="0" anchor="t"/>
          <a:lstStyle/>
          <a:p>
            <a:pPr marL="0" indent="0" algn="l">
              <a:lnSpc>
                <a:spcPct val="133000"/>
              </a:lnSpc>
              <a:buNone/>
            </a:pPr>
            <a:r>
              <a:rPr lang="en-US" sz="1000" b="1" dirty="0">
                <a:solidFill>
                  <a:srgbClr val="F4CAB8"/>
                </a:solidFill>
                <a:latin typeface="Montserrat Bold" pitchFamily="34" charset="0"/>
                <a:ea typeface="Montserrat Bold" pitchFamily="34" charset="-122"/>
                <a:cs typeface="Montserrat Bold" pitchFamily="34" charset="-120"/>
              </a:rPr>
              <a:t>Contribution</a:t>
            </a:r>
            <a:endParaRPr lang="en-US" sz="1000" dirty="0"/>
          </a:p>
        </p:txBody>
      </p:sp>
      <p:sp>
        <p:nvSpPr>
          <p:cNvPr id="7" name="Shape 5"/>
          <p:cNvSpPr/>
          <p:nvPr/>
        </p:nvSpPr>
        <p:spPr>
          <a:xfrm>
            <a:off x="466846" y="1442694"/>
            <a:ext cx="6628335" cy="584758"/>
          </a:xfrm>
          <a:prstGeom prst="rect">
            <a:avLst/>
          </a:prstGeom>
          <a:solidFill>
            <a:srgbClr val="000000">
              <a:alpha val="4000"/>
            </a:srgbClr>
          </a:solidFill>
          <a:ln/>
        </p:spPr>
        <p:txBody>
          <a:bodyPr/>
          <a:lstStyle/>
          <a:p>
            <a:endParaRPr lang="en-US"/>
          </a:p>
        </p:txBody>
      </p:sp>
      <p:sp>
        <p:nvSpPr>
          <p:cNvPr id="8" name="Text 6"/>
          <p:cNvSpPr/>
          <p:nvPr/>
        </p:nvSpPr>
        <p:spPr>
          <a:xfrm>
            <a:off x="597988" y="1525281"/>
            <a:ext cx="3428110"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Jana El Naggar</a:t>
            </a:r>
            <a:endParaRPr lang="en-US" sz="1000" dirty="0"/>
          </a:p>
        </p:txBody>
      </p:sp>
      <p:sp>
        <p:nvSpPr>
          <p:cNvPr id="9" name="Text 7"/>
          <p:cNvSpPr/>
          <p:nvPr/>
        </p:nvSpPr>
        <p:spPr>
          <a:xfrm>
            <a:off x="3914094" y="1525281"/>
            <a:ext cx="3050005"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Data Cleaning, Vehicles Analysis Dashboard, Insights and Recommendations &amp; Document.</a:t>
            </a:r>
            <a:endParaRPr lang="en-US" sz="1000" dirty="0"/>
          </a:p>
        </p:txBody>
      </p:sp>
      <p:sp>
        <p:nvSpPr>
          <p:cNvPr id="10" name="Shape 8"/>
          <p:cNvSpPr/>
          <p:nvPr/>
        </p:nvSpPr>
        <p:spPr>
          <a:xfrm>
            <a:off x="466846" y="2027451"/>
            <a:ext cx="6628335" cy="584758"/>
          </a:xfrm>
          <a:prstGeom prst="rect">
            <a:avLst/>
          </a:prstGeom>
          <a:solidFill>
            <a:srgbClr val="FFFFFF">
              <a:alpha val="4000"/>
            </a:srgbClr>
          </a:solidFill>
          <a:ln/>
        </p:spPr>
        <p:txBody>
          <a:bodyPr/>
          <a:lstStyle/>
          <a:p>
            <a:endParaRPr lang="en-US"/>
          </a:p>
        </p:txBody>
      </p:sp>
      <p:sp>
        <p:nvSpPr>
          <p:cNvPr id="11" name="Text 9"/>
          <p:cNvSpPr/>
          <p:nvPr/>
        </p:nvSpPr>
        <p:spPr>
          <a:xfrm>
            <a:off x="597988" y="2110039"/>
            <a:ext cx="3428110"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Shimaa Samy</a:t>
            </a:r>
            <a:endParaRPr lang="en-US" sz="1000" dirty="0"/>
          </a:p>
        </p:txBody>
      </p:sp>
      <p:sp>
        <p:nvSpPr>
          <p:cNvPr id="12" name="Text 10"/>
          <p:cNvSpPr/>
          <p:nvPr/>
        </p:nvSpPr>
        <p:spPr>
          <a:xfrm>
            <a:off x="3914094" y="2110039"/>
            <a:ext cx="3050005" cy="4195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Overview Dashboard and Home Page, Presentation &amp; Document.</a:t>
            </a:r>
            <a:endParaRPr lang="en-US" sz="1000" dirty="0"/>
          </a:p>
        </p:txBody>
      </p:sp>
      <p:sp>
        <p:nvSpPr>
          <p:cNvPr id="13" name="Shape 11"/>
          <p:cNvSpPr/>
          <p:nvPr/>
        </p:nvSpPr>
        <p:spPr>
          <a:xfrm>
            <a:off x="466846" y="2612209"/>
            <a:ext cx="6628335" cy="374966"/>
          </a:xfrm>
          <a:prstGeom prst="rect">
            <a:avLst/>
          </a:prstGeom>
          <a:solidFill>
            <a:srgbClr val="000000">
              <a:alpha val="4000"/>
            </a:srgbClr>
          </a:solidFill>
          <a:ln/>
        </p:spPr>
        <p:txBody>
          <a:bodyPr/>
          <a:lstStyle/>
          <a:p>
            <a:endParaRPr lang="en-US"/>
          </a:p>
        </p:txBody>
      </p:sp>
      <p:sp>
        <p:nvSpPr>
          <p:cNvPr id="14" name="Text 12"/>
          <p:cNvSpPr/>
          <p:nvPr/>
        </p:nvSpPr>
        <p:spPr>
          <a:xfrm>
            <a:off x="597988" y="2694796"/>
            <a:ext cx="3428110"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Mariam Hesham</a:t>
            </a:r>
            <a:endParaRPr lang="en-US" sz="1000" dirty="0"/>
          </a:p>
        </p:txBody>
      </p:sp>
      <p:sp>
        <p:nvSpPr>
          <p:cNvPr id="15" name="Text 13"/>
          <p:cNvSpPr/>
          <p:nvPr/>
        </p:nvSpPr>
        <p:spPr>
          <a:xfrm>
            <a:off x="3914094" y="2694796"/>
            <a:ext cx="3428110"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Hubs Analysis Dashboard &amp; Document.</a:t>
            </a:r>
            <a:endParaRPr lang="en-US" sz="1000" dirty="0"/>
          </a:p>
        </p:txBody>
      </p:sp>
      <p:sp>
        <p:nvSpPr>
          <p:cNvPr id="16" name="Shape 14"/>
          <p:cNvSpPr/>
          <p:nvPr/>
        </p:nvSpPr>
        <p:spPr>
          <a:xfrm>
            <a:off x="466846" y="2987175"/>
            <a:ext cx="6628335" cy="374966"/>
          </a:xfrm>
          <a:prstGeom prst="rect">
            <a:avLst/>
          </a:prstGeom>
          <a:solidFill>
            <a:srgbClr val="FFFFFF">
              <a:alpha val="4000"/>
            </a:srgbClr>
          </a:solidFill>
          <a:ln/>
        </p:spPr>
        <p:txBody>
          <a:bodyPr/>
          <a:lstStyle/>
          <a:p>
            <a:endParaRPr lang="en-US"/>
          </a:p>
        </p:txBody>
      </p:sp>
      <p:sp>
        <p:nvSpPr>
          <p:cNvPr id="17" name="Text 15"/>
          <p:cNvSpPr/>
          <p:nvPr/>
        </p:nvSpPr>
        <p:spPr>
          <a:xfrm>
            <a:off x="597988" y="3069762"/>
            <a:ext cx="3428110"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Mariam Mowafy</a:t>
            </a:r>
            <a:endParaRPr lang="en-US" sz="1000" dirty="0"/>
          </a:p>
        </p:txBody>
      </p:sp>
      <p:sp>
        <p:nvSpPr>
          <p:cNvPr id="18" name="Text 16"/>
          <p:cNvSpPr/>
          <p:nvPr/>
        </p:nvSpPr>
        <p:spPr>
          <a:xfrm>
            <a:off x="3914094" y="3069762"/>
            <a:ext cx="3428110"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Drivers Overview Dashboard.</a:t>
            </a:r>
            <a:endParaRPr lang="en-US" sz="1000" dirty="0"/>
          </a:p>
        </p:txBody>
      </p:sp>
      <p:sp>
        <p:nvSpPr>
          <p:cNvPr id="19" name="Shape 17"/>
          <p:cNvSpPr/>
          <p:nvPr/>
        </p:nvSpPr>
        <p:spPr>
          <a:xfrm>
            <a:off x="466846" y="3362141"/>
            <a:ext cx="6628335" cy="374966"/>
          </a:xfrm>
          <a:prstGeom prst="rect">
            <a:avLst/>
          </a:prstGeom>
          <a:solidFill>
            <a:srgbClr val="000000">
              <a:alpha val="4000"/>
            </a:srgbClr>
          </a:solidFill>
          <a:ln/>
        </p:spPr>
        <p:txBody>
          <a:bodyPr/>
          <a:lstStyle/>
          <a:p>
            <a:endParaRPr lang="en-US"/>
          </a:p>
        </p:txBody>
      </p:sp>
      <p:sp>
        <p:nvSpPr>
          <p:cNvPr id="20" name="Text 18"/>
          <p:cNvSpPr/>
          <p:nvPr/>
        </p:nvSpPr>
        <p:spPr>
          <a:xfrm>
            <a:off x="597988" y="3444729"/>
            <a:ext cx="3428110"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Fatma Ez-zahraa</a:t>
            </a:r>
            <a:endParaRPr lang="en-US" sz="1000" dirty="0"/>
          </a:p>
        </p:txBody>
      </p:sp>
      <p:sp>
        <p:nvSpPr>
          <p:cNvPr id="21" name="Text 19"/>
          <p:cNvSpPr/>
          <p:nvPr/>
        </p:nvSpPr>
        <p:spPr>
          <a:xfrm>
            <a:off x="3914094" y="3444729"/>
            <a:ext cx="3428110"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Documentation.</a:t>
            </a:r>
            <a:endParaRPr lang="en-US" sz="1000" dirty="0"/>
          </a:p>
        </p:txBody>
      </p:sp>
      <p:sp>
        <p:nvSpPr>
          <p:cNvPr id="22" name="Text 20"/>
          <p:cNvSpPr/>
          <p:nvPr/>
        </p:nvSpPr>
        <p:spPr>
          <a:xfrm>
            <a:off x="458969" y="3892497"/>
            <a:ext cx="7022194" cy="209792"/>
          </a:xfrm>
          <a:prstGeom prst="rect">
            <a:avLst/>
          </a:prstGeom>
          <a:noFill/>
          <a:ln/>
        </p:spPr>
        <p:txBody>
          <a:bodyPr wrap="none" lIns="0" tIns="0" rIns="0" bIns="0" rtlCol="0" anchor="t"/>
          <a:lstStyle/>
          <a:p>
            <a:pPr marL="0" indent="0" algn="l">
              <a:lnSpc>
                <a:spcPct val="133000"/>
              </a:lnSpc>
              <a:buNone/>
            </a:pPr>
            <a:r>
              <a:rPr lang="en-US" sz="1000" dirty="0">
                <a:solidFill>
                  <a:srgbClr val="F4CAB8"/>
                </a:solidFill>
                <a:latin typeface="Montserrat Medium" pitchFamily="34" charset="0"/>
                <a:ea typeface="Montserrat Medium" pitchFamily="34" charset="-122"/>
                <a:cs typeface="Montserrat Medium" pitchFamily="34" charset="-120"/>
              </a:rPr>
              <a:t>Project Github Link:  </a:t>
            </a:r>
            <a:r>
              <a:rPr lang="en-US" sz="1000" b="1" u="sng" dirty="0">
                <a:solidFill>
                  <a:srgbClr val="FFB393"/>
                </a:solidFill>
                <a:latin typeface="Montserrat Bold" pitchFamily="34" charset="0"/>
                <a:ea typeface="Montserrat Bold" pitchFamily="34" charset="-122"/>
                <a:cs typeface="Montserrat Bold" pitchFamily="34" charset="-120"/>
                <a:hlinkClick r:id="rId3">
                  <a:extLst>
                    <a:ext uri="{A12FA001-AC4F-418D-AE19-62706E023703}">
                      <ahyp:hlinkClr xmlns:ahyp="http://schemas.microsoft.com/office/drawing/2018/hyperlinkcolor" val="tx"/>
                    </a:ext>
                  </a:extLst>
                </a:hlinkClick>
              </a:rPr>
              <a:t>Depi2026/Logistics-Project</a:t>
            </a:r>
            <a:endParaRPr lang="en-US" sz="1000" dirty="0"/>
          </a:p>
        </p:txBody>
      </p:sp>
      <p:sp>
        <p:nvSpPr>
          <p:cNvPr id="23" name="TextBox 22">
            <a:extLst>
              <a:ext uri="{FF2B5EF4-FFF2-40B4-BE49-F238E27FC236}">
                <a16:creationId xmlns:a16="http://schemas.microsoft.com/office/drawing/2014/main" id="{2FA48F42-7E13-2EF6-9FB1-0EEF162F730D}"/>
              </a:ext>
            </a:extLst>
          </p:cNvPr>
          <p:cNvSpPr txBox="1"/>
          <p:nvPr/>
        </p:nvSpPr>
        <p:spPr>
          <a:xfrm>
            <a:off x="6964099" y="9965635"/>
            <a:ext cx="598751" cy="369332"/>
          </a:xfrm>
          <a:prstGeom prst="rect">
            <a:avLst/>
          </a:prstGeom>
          <a:noFill/>
        </p:spPr>
        <p:txBody>
          <a:bodyPr wrap="square" rtlCol="0">
            <a:spAutoFit/>
          </a:bodyPr>
          <a:lstStyle/>
          <a:p>
            <a:fld id="{C2756C7D-8E81-4152-8A62-2F80DA24BA0A}" type="slidenum">
              <a:rPr lang="en-US" smtClean="0">
                <a:solidFill>
                  <a:srgbClr val="F4CAB8"/>
                </a:solidFill>
                <a:latin typeface="Brygada 1918" pitchFamily="2" charset="0"/>
                <a:ea typeface="Brygada 1918" pitchFamily="2" charset="0"/>
              </a:rPr>
              <a:t>20</a:t>
            </a:fld>
            <a:endParaRPr lang="en-US" dirty="0">
              <a:solidFill>
                <a:srgbClr val="F4CAB8"/>
              </a:solidFill>
              <a:latin typeface="Brygada 1918" pitchFamily="2" charset="0"/>
              <a:ea typeface="Brygada 1918" pitchFamily="2"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FB39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3742</Words>
  <Application>Microsoft Office PowerPoint</Application>
  <PresentationFormat>Custom</PresentationFormat>
  <Paragraphs>363</Paragraphs>
  <Slides>20</Slides>
  <Notes>20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20</vt:i4>
      </vt:variant>
    </vt:vector>
  </HeadingPairs>
  <TitlesOfParts>
    <vt:vector size="31" baseType="lpstr">
      <vt:lpstr>Brygada 1918</vt:lpstr>
      <vt:lpstr>Consolas Medium</vt:lpstr>
      <vt:lpstr>Arial</vt:lpstr>
      <vt:lpstr>Aptos Display</vt:lpstr>
      <vt:lpstr>Brygada 1918 Bold</vt:lpstr>
      <vt:lpstr>Montserrat Medium</vt:lpstr>
      <vt:lpstr>Brygada 1918 Light</vt:lpstr>
      <vt:lpstr>Aptos</vt:lpstr>
      <vt:lpstr>Montserrat Bold</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Mariam EL-Beltagy</dc:creator>
  <cp:lastModifiedBy>Mariam Hamed</cp:lastModifiedBy>
  <cp:revision>5</cp:revision>
  <dcterms:created xsi:type="dcterms:W3CDTF">2026-07-02T22:25:06Z</dcterms:created>
  <dcterms:modified xsi:type="dcterms:W3CDTF">2026-07-03T00:25:35Z</dcterms:modified>
</cp:coreProperties>
</file>